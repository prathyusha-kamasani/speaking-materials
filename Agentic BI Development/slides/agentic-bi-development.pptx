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 minutes. Hook first, then concepts, then one brief run four ways. The refrain for the hour: what would you have to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agent will write you a semantic model and a report, and it will look right. The DAX runs. The visuals render. Nothing errors. Looking right and being right are different things, and you cannot tell them apart by looking. So the question for the hour is not 'can AI build this'. It is 'what would you have to check before you trusted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up the lifecycle before talking about agents. Most delivery time is not building the visual: it is requirements, model fixes, testing, rework after feedback, and sign-off. [Add your own example of where the hours really 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six steps quickly. For each, ask who does it today. Flag Test and Govern: they are where trust is earned, and where agents are weakest.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Chat: you ask, it answers, you copy and paste. Agentic: a model, plus tools, plus a loop, plus a human. It acts, looks at what happened, and tries again. That loop is the power and the risk: it can fix its own errors, and it can confidently build on its own mistake.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Green: profiling a model, relationships, measures, building report files, data and render tests, gated deploy. Amber: requirements and layout, the agent drafts and a human decides. Red: interaction testing and sign-off. One honest caveat: it can propose and wire a star schema from imported tables, but creating tables from raw files is not something this tool does. Do not imply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linger: the examples are where these come alive. One slide of definitions, one on the hinge, one with what each looks like in a real repo.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CLAUDE.md or AGENTS.md: standing instructions read every session. Skills: a repeatable recipe loaded when the task matches. Hooks: run whether or not the agent remembers. Loops: iterate until a check passes, not until the agent feels done. Gates: a step that refuses to advance without a pass or a human signature. MCP: live typed access to a tool or data source.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Skills and CLAUDE.md are advisory: the agent can ignore them. Hooks and gates are blocking: it cannot. That is the hinge for everything that follows. Each example sits at a different point on advisory versus blocking, and on blind versus grounded. Reference: a cold Copilot session with all the knowledge files present shipped a bad report and deployed it by the wrong path. The knowledge was opt-in, advisory, tool-specific, runtime-bypassable.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these only as glimpses, 20 to 30 seconds each, from the repo. Check what is on screen before projecting: no client names. Do not open the top of CLAUDE.md in the demo repo, it carries the extract banner; use AGENTS.md.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each example use the same four beats: setup, brief in, what came out, what we had to check. Do not declare a winner until the comparison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ONS data, so nothing confidential. The brief is chosen because it contains the traps worth showing: the colour that cannot flip on refresh, a field-parameter slicer, and a model with no date dimension. Paste it unchanged into Examples 1 to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Paste the brief unchanged. For a single measure this is genuinely the right tool. Name the guessed table and column names out loud. It cannot see your model, you copy and paste, nothing is checked, and tomorrow it will not give the same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Concede loudly: Microsoft's skills are good, and for a prototype, a single measure, or a report you will never rebuild, they are the right answer. What to notice is not quality but that it is advisory and opt-in. Show the version and date of the setup.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Example 1 guessed names, this one looks them up. But it can now write to the real thing with nothing in the way. [Fill in after recording: what it got right, and what nothing stopped.] To decide before rehearsal: which MCP, and what auth it needs on stage.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 to the terminal, tab 1. Demo A: check_phase_order blocks what-we-trade and passes the-balance. Demo C: run_pipeline until gates, five stages green, nine advisories, read R-SURVIVES-REFRESH aloud. Demo B (recorded, optional): the model half, same recipe. Say the cost out 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it row by row, in the order the audience has just seen it. Land the message: each rung adds grounding or control, and only the last adds both. Without the gates you have reports and a feeling. With them you have a number you can defend.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Vertical: does the agent see the real model (grounding). Horizontal: can anything stop it being wrong (control). Chat is blind and unchecked. Fabric skills know the formats but advise only. MCP is grounded but unguarded. Skills plus your own is the only one in the top right corner.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G-05 / BUG-02-001. The field-parameter slicer rendered, accepted a selection, and drove nothing at all. The engine never emitted the binding on the consuming chart, so the chart stayed on one fixed measure. Gates passed, DAX passed, render-match passed. A person clicking the slicer found it. Show the recording. Backup mistake: G-02b, a guessed custom-visual GUID that rendered blank cards; the fix was to capture the real shape, never guess.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Does every measure resolve live. Does the model contain what was actually asked for. Does the report survive a refresh. And does it work when a person drives it. What makes it reliable is not the prompt: it is a spec it can be checked against, a bar set before it starts, and gates it cannot walk past.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Approving the design, approving the model changes, and driving the thing in the Service: the parts where judgement is the work. I would rather have a tool that tells me it shipped with caveats than one that tells me it is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close. Everything in the hour reduces to this: a spec it can be checked against, a bar set before it starts, and gates it cannot walk past. You do not need my engine to start.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tx2"/>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371600"/>
            <a:ext cx="7863840" cy="1371600"/>
          </a:xfrm>
          <a:prstGeom prst="rect">
            <a:avLst/>
          </a:prstGeom>
          <a:noFill/>
          <a:ln/>
        </p:spPr>
        <p:txBody>
          <a:bodyPr wrap="square" rtlCol="0"/>
          <a:lstStyle>
            <a:lvl1pPr algn="l" indent="0" marL="0">
              <a:buNone/>
              <a:defRPr lang="en-US" sz="4000" b="1" dirty="0">
                <a:solidFill>
                  <a:schemeClr val="bg1"/>
                </a:solidFill>
                <a:latin typeface="Arial" pitchFamily="34" charset="0"/>
                <a:ea typeface="Arial" pitchFamily="34" charset="-122"/>
                <a:cs typeface="Arial" pitchFamily="34" charset="-120"/>
              </a:defRPr>
            </a:lvl1pPr>
          </a:lstStyle>
          <a:p>
            <a:pPr algn="l" indent="0" marL="0">
              <a:buNone/>
            </a:pPr>
            <a:endParaRPr lang="en-US" sz="4000" dirty="0"/>
          </a:p>
        </p:txBody>
      </p:sp>
      <p:sp>
        <p:nvSpPr>
          <p:cNvPr id="3" name="Text 0"/>
          <p:cNvSpPr/>
          <p:nvPr>
            <p:ph idx="101" type="body" hasCustomPrompt="1"/>
          </p:nvPr>
        </p:nvSpPr>
        <p:spPr>
          <a:xfrm>
            <a:off x="548640" y="2926080"/>
            <a:ext cx="6949440" cy="914400"/>
          </a:xfrm>
          <a:prstGeom prst="rect">
            <a:avLst/>
          </a:prstGeom>
          <a:noFill/>
          <a:ln/>
        </p:spPr>
        <p:txBody>
          <a:bodyPr wrap="square" rtlCol="0"/>
          <a:lstStyle>
            <a:lvl1pPr algn="l" indent="0" marL="0">
              <a:buNone/>
              <a:defRPr lang="en-US" sz="1800" dirty="0">
                <a:solidFill>
                  <a:srgbClr val="F0EEF8"/>
                </a:solidFill>
                <a:latin typeface="Calibri" pitchFamily="34" charset="0"/>
                <a:ea typeface="Calibri" pitchFamily="34" charset="-122"/>
                <a:cs typeface="Calibri" pitchFamily="34" charset="-120"/>
              </a:defRPr>
            </a:lvl1pPr>
          </a:lstStyle>
          <a:p>
            <a:pPr algn="l" indent="0" marL="0">
              <a:buNone/>
            </a:pPr>
            <a:endParaRPr lang="en-US" sz="18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rtlCol="0"/>
          <a:lstStyle>
            <a:lvl1pPr algn="l" indent="0" marL="0">
              <a:buNone/>
              <a:defRPr lang="en-US" sz="3000" b="1" dirty="0">
                <a:solidFill>
                  <a:schemeClr val="tx2"/>
                </a:solidFill>
                <a:latin typeface="Arial" pitchFamily="34" charset="0"/>
                <a:ea typeface="Arial" pitchFamily="34" charset="-122"/>
                <a:cs typeface="Arial" pitchFamily="34" charset="-120"/>
              </a:defRPr>
            </a:lvl1pPr>
          </a:lstStyle>
          <a:p>
            <a:pPr algn="l" indent="0" marL="0">
              <a:buNone/>
            </a:pPr>
            <a:endParaRPr lang="en-US" sz="3000" dirty="0"/>
          </a:p>
        </p:txBody>
      </p:sp>
      <p:sp>
        <p:nvSpPr>
          <p:cNvPr id="3" name="Text 0"/>
          <p:cNvSpPr/>
          <p:nvPr/>
        </p:nvSpPr>
        <p:spPr>
          <a:xfrm>
            <a:off x="457200" y="4754880"/>
            <a:ext cx="5486400" cy="228600"/>
          </a:xfrm>
          <a:prstGeom prst="rect">
            <a:avLst/>
          </a:prstGeom>
          <a:noFill/>
          <a:ln/>
        </p:spPr>
        <p:txBody>
          <a:bodyPr wrap="square" lIns="0" tIns="0" rIns="0" bIns="0" rtlCol="0" anchor="ctr"/>
          <a:lstStyle/>
          <a:p>
            <a:pPr indent="0" marL="0">
              <a:buNone/>
            </a:pPr>
            <a:r>
              <a:rPr lang="en-US" sz="1000" dirty="0">
                <a:solidFill>
                  <a:srgbClr val="888888"/>
                </a:solidFill>
                <a:latin typeface="Calibri" pitchFamily="34" charset="0"/>
                <a:ea typeface="Calibri" pitchFamily="34" charset="-122"/>
                <a:cs typeface="Calibri" pitchFamily="34" charset="-120"/>
              </a:rPr>
              <a:t>Agentic BI Development  |  Prathy Kamasani, Data Nova</a:t>
            </a:r>
            <a:endParaRPr lang="en-US" sz="10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888888"/>
                </a:solidFill>
                <a:latin typeface="Calibri"/>
                <a:ea typeface="Calibri"/>
                <a:cs typeface="Calibri"/>
              </a:defRPr>
            </a:lvl1pPr>
          </a:lstStyle>
          <a:p>
            <a:pPr algn="l"/>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888888"/>
                </a:solidFill>
                <a:latin typeface="Calibri"/>
                <a:ea typeface="Calibri"/>
                <a:cs typeface="Calibri"/>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822960"/>
            <a:ext cx="5577840" cy="1554480"/>
          </a:xfrm>
          <a:prstGeom prst="rect">
            <a:avLst/>
          </a:prstGeom>
          <a:noFill/>
          <a:ln/>
        </p:spPr>
        <p:txBody>
          <a:bodyPr wrap="square" lIns="0" tIns="0" rIns="0" bIns="0" rtlCol="0" anchor="b"/>
          <a:lstStyle/>
          <a:p>
            <a:pPr indent="0" marL="0">
              <a:buNone/>
            </a:pPr>
            <a:r>
              <a:rPr lang="en-US" sz="4400" b="1" dirty="0">
                <a:solidFill>
                  <a:schemeClr val="bg1"/>
                </a:solidFill>
                <a:latin typeface="Arial" pitchFamily="34" charset="0"/>
                <a:ea typeface="Arial" pitchFamily="34" charset="-122"/>
                <a:cs typeface="Arial" pitchFamily="34" charset="-120"/>
              </a:rPr>
              <a:t>Agentic BI Development</a:t>
            </a:r>
            <a:endParaRPr lang="en-US" sz="4400" dirty="0"/>
          </a:p>
        </p:txBody>
      </p:sp>
      <p:sp>
        <p:nvSpPr>
          <p:cNvPr id="3" name="Text 1"/>
          <p:cNvSpPr txBox="1"/>
          <p:nvPr/>
        </p:nvSpPr>
        <p:spPr>
          <a:xfrm>
            <a:off x="548640" y="2560320"/>
            <a:ext cx="5486400" cy="1097280"/>
          </a:xfrm>
          <a:prstGeom prst="rect">
            <a:avLst/>
          </a:prstGeom>
          <a:noFill/>
          <a:ln/>
        </p:spPr>
        <p:txBody>
          <a:bodyPr wrap="square" lIns="0" tIns="0" rIns="0" bIns="0" rtlCol="0" anchor="t"/>
          <a:lstStyle/>
          <a:p>
            <a:pPr indent="0" marL="0">
              <a:buNone/>
            </a:pPr>
            <a:r>
              <a:rPr lang="en-US" sz="1800" dirty="0">
                <a:solidFill>
                  <a:srgbClr val="F0EEF8"/>
                </a:solidFill>
                <a:latin typeface="Calibri" pitchFamily="34" charset="0"/>
                <a:ea typeface="Calibri" pitchFamily="34" charset="-122"/>
                <a:cs typeface="Calibri" pitchFamily="34" charset="-120"/>
              </a:rPr>
              <a:t>What an agent can build, what you still have to check, and four ways to work with one</a:t>
            </a:r>
            <a:endParaRPr lang="en-US" sz="1800" dirty="0"/>
          </a:p>
        </p:txBody>
      </p:sp>
      <p:sp>
        <p:nvSpPr>
          <p:cNvPr id="4" name="Text 2"/>
          <p:cNvSpPr txBox="1"/>
          <p:nvPr/>
        </p:nvSpPr>
        <p:spPr>
          <a:xfrm>
            <a:off x="548640" y="4160520"/>
            <a:ext cx="5486400" cy="320040"/>
          </a:xfrm>
          <a:prstGeom prst="rect">
            <a:avLst/>
          </a:prstGeom>
          <a:noFill/>
          <a:ln/>
        </p:spPr>
        <p:txBody>
          <a:bodyPr wrap="square" lIns="0" tIns="0" rIns="0" bIns="0" rtlCol="0" anchor="t"/>
          <a:lstStyle/>
          <a:p>
            <a:pPr indent="0" marL="0">
              <a:buNone/>
            </a:pPr>
            <a:r>
              <a:rPr lang="en-US" sz="1600" b="1" dirty="0">
                <a:solidFill>
                  <a:schemeClr val="accent1"/>
                </a:solidFill>
                <a:latin typeface="Calibri" pitchFamily="34" charset="0"/>
                <a:ea typeface="Calibri" pitchFamily="34" charset="-122"/>
                <a:cs typeface="Calibri" pitchFamily="34" charset="-120"/>
              </a:rPr>
              <a:t>Prathy Kamasani  |  Data Nova</a:t>
            </a:r>
            <a:endParaRPr lang="en-US" sz="1600" dirty="0"/>
          </a:p>
        </p:txBody>
      </p:sp>
      <p:sp>
        <p:nvSpPr>
          <p:cNvPr id="5" name="orbit"/>
          <p:cNvSpPr/>
          <p:nvPr/>
        </p:nvSpPr>
        <p:spPr>
          <a:xfrm>
            <a:off x="6400800" y="640080"/>
            <a:ext cx="2377440" cy="2377440"/>
          </a:xfrm>
          <a:prstGeom prst="ellipse">
            <a:avLst/>
          </a:prstGeom>
          <a:solidFill>
            <a:schemeClr val="tx2"/>
          </a:solidFill>
          <a:ln w="31750">
            <a:solidFill>
              <a:schemeClr val="accent2"/>
            </a:solidFill>
            <a:prstDash val="solid"/>
          </a:ln>
        </p:spPr>
      </p:sp>
      <p:sp>
        <p:nvSpPr>
          <p:cNvPr id="6" name="orbit-inner"/>
          <p:cNvSpPr/>
          <p:nvPr/>
        </p:nvSpPr>
        <p:spPr>
          <a:xfrm>
            <a:off x="6995160" y="1234440"/>
            <a:ext cx="1188720" cy="1188720"/>
          </a:xfrm>
          <a:prstGeom prst="ellipse">
            <a:avLst/>
          </a:prstGeom>
          <a:solidFill>
            <a:schemeClr val="tx2"/>
          </a:solidFill>
          <a:ln w="31750">
            <a:solidFill>
              <a:schemeClr val="accent1"/>
            </a:solidFill>
            <a:prstDash val="solid"/>
          </a:ln>
        </p:spPr>
      </p:sp>
      <p:sp>
        <p:nvSpPr>
          <p:cNvPr id="7" name="orbit-core"/>
          <p:cNvSpPr/>
          <p:nvPr/>
        </p:nvSpPr>
        <p:spPr>
          <a:xfrm>
            <a:off x="7452360" y="1691640"/>
            <a:ext cx="274320" cy="274320"/>
          </a:xfrm>
          <a:prstGeom prst="ellipse">
            <a:avLst/>
          </a:prstGeom>
          <a:solidFill>
            <a:schemeClr val="accent1"/>
          </a:solidFill>
          <a:ln w="12700">
            <a:solidFill>
              <a:schemeClr val="accent1"/>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1371600"/>
            <a:ext cx="7863840" cy="1371600"/>
          </a:xfrm>
          <a:prstGeom prst="rect">
            <a:avLst/>
          </a:prstGeom>
          <a:noFill/>
          <a:ln/>
        </p:spPr>
        <p:txBody>
          <a:bodyPr wrap="square" lIns="0" tIns="0" rIns="0" bIns="0" rtlCol="0" anchor="b"/>
          <a:lstStyle/>
          <a:p>
            <a:pPr algn="l" indent="0" marL="0">
              <a:buNone/>
            </a:pPr>
            <a:r>
              <a:rPr lang="en-US" sz="4000" b="1" dirty="0">
                <a:solidFill>
                  <a:schemeClr val="bg1"/>
                </a:solidFill>
                <a:latin typeface="Arial" pitchFamily="34" charset="0"/>
                <a:ea typeface="Arial" pitchFamily="34" charset="-122"/>
                <a:cs typeface="Arial" pitchFamily="34" charset="-120"/>
              </a:rPr>
              <a:t>It looks right.</a:t>
            </a:r>
            <a:endParaRPr lang="en-US" sz="4000" dirty="0"/>
          </a:p>
        </p:txBody>
      </p:sp>
      <p:sp>
        <p:nvSpPr>
          <p:cNvPr id="3" name="Text 0"/>
          <p:cNvSpPr/>
          <p:nvPr>
            <p:ph idx="101" type="body" hasCustomPrompt="1"/>
          </p:nvPr>
        </p:nvSpPr>
        <p:spPr>
          <a:xfrm>
            <a:off x="548640" y="2926080"/>
            <a:ext cx="6949440" cy="914400"/>
          </a:xfrm>
          <a:prstGeom prst="rect">
            <a:avLst/>
          </a:prstGeom>
          <a:noFill/>
          <a:ln/>
        </p:spPr>
        <p:txBody>
          <a:bodyPr wrap="square" lIns="0" tIns="0" rIns="0" bIns="0" rtlCol="0" anchor="t"/>
          <a:lstStyle/>
          <a:p>
            <a:pPr algn="l" indent="0" marL="0">
              <a:buNone/>
            </a:pPr>
            <a:r>
              <a:rPr lang="en-US" sz="1800" dirty="0">
                <a:solidFill>
                  <a:srgbClr val="F0EEF8"/>
                </a:solidFill>
                <a:latin typeface="Calibri" pitchFamily="34" charset="0"/>
                <a:ea typeface="Calibri" pitchFamily="34" charset="-122"/>
                <a:cs typeface="Calibri" pitchFamily="34" charset="-120"/>
              </a:rPr>
              <a:t>Is it right?</a:t>
            </a:r>
            <a:endParaRPr lang="en-US" sz="1800" dirty="0"/>
          </a:p>
        </p:txBody>
      </p:sp>
      <p:sp>
        <p:nvSpPr>
          <p:cNvPr id="5" name="pill"/>
          <p:cNvSpPr/>
          <p:nvPr/>
        </p:nvSpPr>
        <p:spPr>
          <a:xfrm>
            <a:off x="5852160" y="1417320"/>
            <a:ext cx="2651760" cy="274320"/>
          </a:xfrm>
          <a:prstGeom prst="roundRect">
            <a:avLst>
              <a:gd name="adj" fmla="val 50000"/>
            </a:avLst>
          </a:prstGeom>
          <a:solidFill>
            <a:schemeClr val="accent1"/>
          </a:solidFill>
          <a:ln w="12700">
            <a:solidFill>
              <a:schemeClr val="accent1"/>
            </a:solidFill>
            <a:prstDash val="solid"/>
          </a:ln>
        </p:spPr>
      </p:sp>
      <p:sp>
        <p:nvSpPr>
          <p:cNvPr id="6" name="Text 3"/>
          <p:cNvSpPr txBox="1"/>
          <p:nvPr/>
        </p:nvSpPr>
        <p:spPr>
          <a:xfrm>
            <a:off x="5852160" y="1417320"/>
            <a:ext cx="2651760" cy="274320"/>
          </a:xfrm>
          <a:prstGeom prst="rect">
            <a:avLst/>
          </a:prstGeom>
          <a:noFill/>
          <a:ln/>
        </p:spPr>
        <p:txBody>
          <a:bodyPr wrap="square" lIns="0" tIns="0" rIns="0" bIns="0" rtlCol="0" anchor="ctr"/>
          <a:lstStyle/>
          <a:p>
            <a:pPr algn="ctr" indent="0" marL="0">
              <a:buNone/>
            </a:pPr>
            <a:r>
              <a:rPr lang="en-US" sz="1200" b="1" dirty="0">
                <a:solidFill>
                  <a:schemeClr val="tx2"/>
                </a:solidFill>
                <a:latin typeface="Courier New" pitchFamily="34" charset="0"/>
                <a:ea typeface="Courier New" pitchFamily="34" charset="-122"/>
                <a:cs typeface="Courier New" pitchFamily="34" charset="-120"/>
              </a:rPr>
              <a:t>THE DAX RUNS</a:t>
            </a:r>
            <a:endParaRPr lang="en-US" sz="1200" dirty="0"/>
          </a:p>
        </p:txBody>
      </p:sp>
      <p:sp>
        <p:nvSpPr>
          <p:cNvPr id="7" name="pill"/>
          <p:cNvSpPr/>
          <p:nvPr/>
        </p:nvSpPr>
        <p:spPr>
          <a:xfrm>
            <a:off x="5852160" y="1874520"/>
            <a:ext cx="2651760" cy="274320"/>
          </a:xfrm>
          <a:prstGeom prst="roundRect">
            <a:avLst>
              <a:gd name="adj" fmla="val 50000"/>
            </a:avLst>
          </a:prstGeom>
          <a:solidFill>
            <a:schemeClr val="accent1"/>
          </a:solidFill>
          <a:ln w="12700">
            <a:solidFill>
              <a:schemeClr val="accent1"/>
            </a:solidFill>
            <a:prstDash val="solid"/>
          </a:ln>
        </p:spPr>
      </p:sp>
      <p:sp>
        <p:nvSpPr>
          <p:cNvPr id="8" name="Text 5"/>
          <p:cNvSpPr txBox="1"/>
          <p:nvPr/>
        </p:nvSpPr>
        <p:spPr>
          <a:xfrm>
            <a:off x="5852160" y="1874520"/>
            <a:ext cx="2651760" cy="274320"/>
          </a:xfrm>
          <a:prstGeom prst="rect">
            <a:avLst/>
          </a:prstGeom>
          <a:noFill/>
          <a:ln/>
        </p:spPr>
        <p:txBody>
          <a:bodyPr wrap="square" lIns="0" tIns="0" rIns="0" bIns="0" rtlCol="0" anchor="ctr"/>
          <a:lstStyle/>
          <a:p>
            <a:pPr algn="ctr" indent="0" marL="0">
              <a:buNone/>
            </a:pPr>
            <a:r>
              <a:rPr lang="en-US" sz="1200" b="1" dirty="0">
                <a:solidFill>
                  <a:schemeClr val="tx2"/>
                </a:solidFill>
                <a:latin typeface="Courier New" pitchFamily="34" charset="0"/>
                <a:ea typeface="Courier New" pitchFamily="34" charset="-122"/>
                <a:cs typeface="Courier New" pitchFamily="34" charset="-120"/>
              </a:rPr>
              <a:t>THE VISUALS RENDER</a:t>
            </a:r>
            <a:endParaRPr lang="en-US" sz="1200" dirty="0"/>
          </a:p>
        </p:txBody>
      </p:sp>
      <p:sp>
        <p:nvSpPr>
          <p:cNvPr id="9" name="pill"/>
          <p:cNvSpPr/>
          <p:nvPr/>
        </p:nvSpPr>
        <p:spPr>
          <a:xfrm>
            <a:off x="5852160" y="2331720"/>
            <a:ext cx="2651760" cy="274320"/>
          </a:xfrm>
          <a:prstGeom prst="roundRect">
            <a:avLst>
              <a:gd name="adj" fmla="val 50000"/>
            </a:avLst>
          </a:prstGeom>
          <a:solidFill>
            <a:schemeClr val="accent1"/>
          </a:solidFill>
          <a:ln w="12700">
            <a:solidFill>
              <a:schemeClr val="accent1"/>
            </a:solidFill>
            <a:prstDash val="solid"/>
          </a:ln>
        </p:spPr>
      </p:sp>
      <p:sp>
        <p:nvSpPr>
          <p:cNvPr id="10" name="Text 7"/>
          <p:cNvSpPr txBox="1"/>
          <p:nvPr/>
        </p:nvSpPr>
        <p:spPr>
          <a:xfrm>
            <a:off x="5852160" y="2331720"/>
            <a:ext cx="2651760" cy="274320"/>
          </a:xfrm>
          <a:prstGeom prst="rect">
            <a:avLst/>
          </a:prstGeom>
          <a:noFill/>
          <a:ln/>
        </p:spPr>
        <p:txBody>
          <a:bodyPr wrap="square" lIns="0" tIns="0" rIns="0" bIns="0" rtlCol="0" anchor="ctr"/>
          <a:lstStyle/>
          <a:p>
            <a:pPr algn="ctr" indent="0" marL="0">
              <a:buNone/>
            </a:pPr>
            <a:r>
              <a:rPr lang="en-US" sz="1200" b="1" dirty="0">
                <a:solidFill>
                  <a:schemeClr val="tx2"/>
                </a:solidFill>
                <a:latin typeface="Courier New" pitchFamily="34" charset="0"/>
                <a:ea typeface="Courier New" pitchFamily="34" charset="-122"/>
                <a:cs typeface="Courier New" pitchFamily="34" charset="-120"/>
              </a:rPr>
              <a:t>NOTHING ERRORS</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1371600"/>
            <a:ext cx="7863840" cy="1371600"/>
          </a:xfrm>
          <a:prstGeom prst="rect">
            <a:avLst/>
          </a:prstGeom>
          <a:noFill/>
          <a:ln/>
        </p:spPr>
        <p:txBody>
          <a:bodyPr wrap="square" lIns="0" tIns="0" rIns="0" bIns="0" rtlCol="0" anchor="b"/>
          <a:lstStyle/>
          <a:p>
            <a:pPr algn="l" indent="0" marL="0">
              <a:buNone/>
            </a:pPr>
            <a:r>
              <a:rPr lang="en-US" sz="4000" b="1" dirty="0">
                <a:solidFill>
                  <a:schemeClr val="bg1"/>
                </a:solidFill>
                <a:latin typeface="Arial" pitchFamily="34" charset="0"/>
                <a:ea typeface="Arial" pitchFamily="34" charset="-122"/>
                <a:cs typeface="Arial" pitchFamily="34" charset="-120"/>
              </a:rPr>
              <a:t>What is BI development?</a:t>
            </a:r>
            <a:endParaRPr lang="en-US" sz="4000" dirty="0"/>
          </a:p>
        </p:txBody>
      </p:sp>
      <p:sp>
        <p:nvSpPr>
          <p:cNvPr id="3" name="Text 0"/>
          <p:cNvSpPr/>
          <p:nvPr>
            <p:ph idx="101" type="body" hasCustomPrompt="1"/>
          </p:nvPr>
        </p:nvSpPr>
        <p:spPr>
          <a:xfrm>
            <a:off x="548640" y="2926080"/>
            <a:ext cx="6949440" cy="914400"/>
          </a:xfrm>
          <a:prstGeom prst="rect">
            <a:avLst/>
          </a:prstGeom>
          <a:noFill/>
          <a:ln/>
        </p:spPr>
        <p:txBody>
          <a:bodyPr wrap="square" lIns="0" tIns="0" rIns="0" bIns="0" rtlCol="0" anchor="t"/>
          <a:lstStyle/>
          <a:p>
            <a:pPr algn="l" indent="0" marL="0">
              <a:buNone/>
            </a:pPr>
            <a:r>
              <a:rPr lang="en-US" sz="1800" dirty="0">
                <a:solidFill>
                  <a:srgbClr val="F0EEF8"/>
                </a:solidFill>
                <a:latin typeface="Calibri" pitchFamily="34" charset="0"/>
                <a:ea typeface="Calibri" pitchFamily="34" charset="-122"/>
                <a:cs typeface="Calibri" pitchFamily="34" charset="-120"/>
              </a:rPr>
              <a:t>Six steps, and most of the time is not in the visuals</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000" b="1" dirty="0">
                <a:solidFill>
                  <a:schemeClr val="tx2"/>
                </a:solidFill>
                <a:latin typeface="Arial" pitchFamily="34" charset="0"/>
                <a:ea typeface="Arial" pitchFamily="34" charset="-122"/>
                <a:cs typeface="Arial" pitchFamily="34" charset="-120"/>
              </a:rPr>
              <a:t>From a question to a trusted report</a:t>
            </a:r>
            <a:endParaRPr lang="en-US" sz="3000" dirty="0"/>
          </a:p>
        </p:txBody>
      </p:sp>
      <p:sp>
        <p:nvSpPr>
          <p:cNvPr id="4" name="card"/>
          <p:cNvSpPr/>
          <p:nvPr/>
        </p:nvSpPr>
        <p:spPr>
          <a:xfrm>
            <a:off x="457200" y="1234440"/>
            <a:ext cx="2651760" cy="1554480"/>
          </a:xfrm>
          <a:prstGeom prst="roundRect">
            <a:avLst>
              <a:gd name="adj" fmla="val 5882"/>
            </a:avLst>
          </a:prstGeom>
          <a:solidFill>
            <a:schemeClr val="bg1"/>
          </a:solidFill>
          <a:ln w="9525">
            <a:solidFill>
              <a:srgbClr val="E3E0EE"/>
            </a:solidFill>
            <a:prstDash val="solid"/>
          </a:ln>
          <a:effectLst>
            <a:outerShdw sx="100000" sy="100000" kx="0" ky="0" algn="bl" rotWithShape="0" blurRad="76200" dist="25400" dir="5400000">
              <a:srgbClr val="1A1530">
                <a:alpha val="10000"/>
              </a:srgbClr>
            </a:outerShdw>
          </a:effectLst>
        </p:spPr>
      </p:sp>
      <p:sp>
        <p:nvSpPr>
          <p:cNvPr id="5" name="dot"/>
          <p:cNvSpPr/>
          <p:nvPr/>
        </p:nvSpPr>
        <p:spPr>
          <a:xfrm>
            <a:off x="640080" y="1417320"/>
            <a:ext cx="384048" cy="384048"/>
          </a:xfrm>
          <a:prstGeom prst="ellipse">
            <a:avLst/>
          </a:prstGeom>
          <a:solidFill>
            <a:schemeClr val="tx2"/>
          </a:solidFill>
          <a:ln w="12700">
            <a:solidFill>
              <a:schemeClr val="tx2"/>
            </a:solidFill>
            <a:prstDash val="solid"/>
          </a:ln>
        </p:spPr>
      </p:sp>
      <p:sp>
        <p:nvSpPr>
          <p:cNvPr id="6" name="Text 3"/>
          <p:cNvSpPr txBox="1"/>
          <p:nvPr/>
        </p:nvSpPr>
        <p:spPr>
          <a:xfrm>
            <a:off x="640080" y="1417320"/>
            <a:ext cx="384048" cy="384048"/>
          </a:xfrm>
          <a:prstGeom prst="rect">
            <a:avLst/>
          </a:prstGeom>
          <a:noFill/>
          <a:ln/>
        </p:spPr>
        <p:txBody>
          <a:bodyPr wrap="square" lIns="0" tIns="0" rIns="0" bIns="0" rtlCol="0" anchor="ctr"/>
          <a:lstStyle/>
          <a:p>
            <a:pPr algn="ctr" indent="0" marL="0">
              <a:buNone/>
            </a:pPr>
            <a:r>
              <a:rPr lang="en-US" sz="1200" b="1" dirty="0">
                <a:solidFill>
                  <a:schemeClr val="bg1"/>
                </a:solidFill>
                <a:latin typeface="Arial" pitchFamily="34" charset="0"/>
                <a:ea typeface="Arial" pitchFamily="34" charset="-122"/>
                <a:cs typeface="Arial" pitchFamily="34" charset="-120"/>
              </a:rPr>
              <a:t>1</a:t>
            </a:r>
            <a:endParaRPr lang="en-US" sz="1200" dirty="0"/>
          </a:p>
        </p:txBody>
      </p:sp>
      <p:sp>
        <p:nvSpPr>
          <p:cNvPr id="7" name="Text 4"/>
          <p:cNvSpPr txBox="1"/>
          <p:nvPr/>
        </p:nvSpPr>
        <p:spPr>
          <a:xfrm>
            <a:off x="1143000" y="1435608"/>
            <a:ext cx="1828800" cy="365760"/>
          </a:xfrm>
          <a:prstGeom prst="rect">
            <a:avLst/>
          </a:prstGeom>
          <a:noFill/>
          <a:ln/>
        </p:spPr>
        <p:txBody>
          <a:bodyPr wrap="square" lIns="0" tIns="0" rIns="0" bIns="0" rtlCol="0" anchor="ctr"/>
          <a:lstStyle/>
          <a:p>
            <a:pPr indent="0" marL="0">
              <a:buNone/>
            </a:pPr>
            <a:r>
              <a:rPr lang="en-US" sz="2000" b="1" dirty="0">
                <a:solidFill>
                  <a:schemeClr val="tx2"/>
                </a:solidFill>
                <a:latin typeface="Arial" pitchFamily="34" charset="0"/>
                <a:ea typeface="Arial" pitchFamily="34" charset="-122"/>
                <a:cs typeface="Arial" pitchFamily="34" charset="-120"/>
              </a:rPr>
              <a:t>Discover</a:t>
            </a:r>
            <a:endParaRPr lang="en-US" sz="2000" dirty="0"/>
          </a:p>
        </p:txBody>
      </p:sp>
      <p:sp>
        <p:nvSpPr>
          <p:cNvPr id="8" name="Text 5"/>
          <p:cNvSpPr txBox="1"/>
          <p:nvPr/>
        </p:nvSpPr>
        <p:spPr>
          <a:xfrm>
            <a:off x="640080" y="2011680"/>
            <a:ext cx="2286000" cy="64008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Users, questions, acceptance criteria</a:t>
            </a:r>
            <a:endParaRPr lang="en-US" sz="1500" dirty="0"/>
          </a:p>
        </p:txBody>
      </p:sp>
      <p:sp>
        <p:nvSpPr>
          <p:cNvPr id="9" name="card"/>
          <p:cNvSpPr/>
          <p:nvPr/>
        </p:nvSpPr>
        <p:spPr>
          <a:xfrm>
            <a:off x="3246120" y="1234440"/>
            <a:ext cx="2651760" cy="1554480"/>
          </a:xfrm>
          <a:prstGeom prst="roundRect">
            <a:avLst>
              <a:gd name="adj" fmla="val 5882"/>
            </a:avLst>
          </a:prstGeom>
          <a:solidFill>
            <a:schemeClr val="bg1"/>
          </a:solidFill>
          <a:ln w="9525">
            <a:solidFill>
              <a:srgbClr val="E3E0EE"/>
            </a:solidFill>
            <a:prstDash val="solid"/>
          </a:ln>
          <a:effectLst>
            <a:outerShdw sx="100000" sy="100000" kx="0" ky="0" algn="bl" rotWithShape="0" blurRad="76200" dist="25400" dir="5400000">
              <a:srgbClr val="1A1530">
                <a:alpha val="10000"/>
              </a:srgbClr>
            </a:outerShdw>
          </a:effectLst>
        </p:spPr>
      </p:sp>
      <p:sp>
        <p:nvSpPr>
          <p:cNvPr id="10" name="dot"/>
          <p:cNvSpPr/>
          <p:nvPr/>
        </p:nvSpPr>
        <p:spPr>
          <a:xfrm>
            <a:off x="3429000" y="1417320"/>
            <a:ext cx="384048" cy="384048"/>
          </a:xfrm>
          <a:prstGeom prst="ellipse">
            <a:avLst/>
          </a:prstGeom>
          <a:solidFill>
            <a:schemeClr val="accent2"/>
          </a:solidFill>
          <a:ln w="12700">
            <a:solidFill>
              <a:schemeClr val="accent2"/>
            </a:solidFill>
            <a:prstDash val="solid"/>
          </a:ln>
        </p:spPr>
      </p:sp>
      <p:sp>
        <p:nvSpPr>
          <p:cNvPr id="11" name="Text 8"/>
          <p:cNvSpPr txBox="1"/>
          <p:nvPr/>
        </p:nvSpPr>
        <p:spPr>
          <a:xfrm>
            <a:off x="3429000" y="1417320"/>
            <a:ext cx="384048" cy="384048"/>
          </a:xfrm>
          <a:prstGeom prst="rect">
            <a:avLst/>
          </a:prstGeom>
          <a:noFill/>
          <a:ln/>
        </p:spPr>
        <p:txBody>
          <a:bodyPr wrap="square" lIns="0" tIns="0" rIns="0" bIns="0" rtlCol="0" anchor="ctr"/>
          <a:lstStyle/>
          <a:p>
            <a:pPr algn="ctr" indent="0" marL="0">
              <a:buNone/>
            </a:pPr>
            <a:r>
              <a:rPr lang="en-US" sz="1200" b="1" dirty="0">
                <a:solidFill>
                  <a:schemeClr val="bg1"/>
                </a:solidFill>
                <a:latin typeface="Arial" pitchFamily="34" charset="0"/>
                <a:ea typeface="Arial" pitchFamily="34" charset="-122"/>
                <a:cs typeface="Arial" pitchFamily="34" charset="-120"/>
              </a:rPr>
              <a:t>2</a:t>
            </a:r>
            <a:endParaRPr lang="en-US" sz="1200" dirty="0"/>
          </a:p>
        </p:txBody>
      </p:sp>
      <p:sp>
        <p:nvSpPr>
          <p:cNvPr id="12" name="Text 9"/>
          <p:cNvSpPr txBox="1"/>
          <p:nvPr/>
        </p:nvSpPr>
        <p:spPr>
          <a:xfrm>
            <a:off x="3931920" y="1435608"/>
            <a:ext cx="1828800" cy="365760"/>
          </a:xfrm>
          <a:prstGeom prst="rect">
            <a:avLst/>
          </a:prstGeom>
          <a:noFill/>
          <a:ln/>
        </p:spPr>
        <p:txBody>
          <a:bodyPr wrap="square" lIns="0" tIns="0" rIns="0" bIns="0" rtlCol="0" anchor="ctr"/>
          <a:lstStyle/>
          <a:p>
            <a:pPr indent="0" marL="0">
              <a:buNone/>
            </a:pPr>
            <a:r>
              <a:rPr lang="en-US" sz="2000" b="1" dirty="0">
                <a:solidFill>
                  <a:schemeClr val="tx2"/>
                </a:solidFill>
                <a:latin typeface="Arial" pitchFamily="34" charset="0"/>
                <a:ea typeface="Arial" pitchFamily="34" charset="-122"/>
                <a:cs typeface="Arial" pitchFamily="34" charset="-120"/>
              </a:rPr>
              <a:t>Model</a:t>
            </a:r>
            <a:endParaRPr lang="en-US" sz="2000" dirty="0"/>
          </a:p>
        </p:txBody>
      </p:sp>
      <p:sp>
        <p:nvSpPr>
          <p:cNvPr id="13" name="Text 10"/>
          <p:cNvSpPr txBox="1"/>
          <p:nvPr/>
        </p:nvSpPr>
        <p:spPr>
          <a:xfrm>
            <a:off x="3429000" y="2011680"/>
            <a:ext cx="2286000" cy="64008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Tables, relationships, measures</a:t>
            </a:r>
            <a:endParaRPr lang="en-US" sz="1500" dirty="0"/>
          </a:p>
        </p:txBody>
      </p:sp>
      <p:sp>
        <p:nvSpPr>
          <p:cNvPr id="14" name="card"/>
          <p:cNvSpPr/>
          <p:nvPr/>
        </p:nvSpPr>
        <p:spPr>
          <a:xfrm>
            <a:off x="6035040" y="1234440"/>
            <a:ext cx="2651760" cy="1554480"/>
          </a:xfrm>
          <a:prstGeom prst="roundRect">
            <a:avLst>
              <a:gd name="adj" fmla="val 5882"/>
            </a:avLst>
          </a:prstGeom>
          <a:solidFill>
            <a:schemeClr val="bg1"/>
          </a:solidFill>
          <a:ln w="9525">
            <a:solidFill>
              <a:srgbClr val="E3E0EE"/>
            </a:solidFill>
            <a:prstDash val="solid"/>
          </a:ln>
          <a:effectLst>
            <a:outerShdw sx="100000" sy="100000" kx="0" ky="0" algn="bl" rotWithShape="0" blurRad="76200" dist="25400" dir="5400000">
              <a:srgbClr val="1A1530">
                <a:alpha val="10000"/>
              </a:srgbClr>
            </a:outerShdw>
          </a:effectLst>
        </p:spPr>
      </p:sp>
      <p:sp>
        <p:nvSpPr>
          <p:cNvPr id="15" name="dot"/>
          <p:cNvSpPr/>
          <p:nvPr/>
        </p:nvSpPr>
        <p:spPr>
          <a:xfrm>
            <a:off x="6217920" y="1417320"/>
            <a:ext cx="384048" cy="384048"/>
          </a:xfrm>
          <a:prstGeom prst="ellipse">
            <a:avLst/>
          </a:prstGeom>
          <a:solidFill>
            <a:schemeClr val="tx2"/>
          </a:solidFill>
          <a:ln w="12700">
            <a:solidFill>
              <a:schemeClr val="tx2"/>
            </a:solidFill>
            <a:prstDash val="solid"/>
          </a:ln>
        </p:spPr>
      </p:sp>
      <p:sp>
        <p:nvSpPr>
          <p:cNvPr id="16" name="Text 13"/>
          <p:cNvSpPr txBox="1"/>
          <p:nvPr/>
        </p:nvSpPr>
        <p:spPr>
          <a:xfrm>
            <a:off x="6217920" y="1417320"/>
            <a:ext cx="384048" cy="384048"/>
          </a:xfrm>
          <a:prstGeom prst="rect">
            <a:avLst/>
          </a:prstGeom>
          <a:noFill/>
          <a:ln/>
        </p:spPr>
        <p:txBody>
          <a:bodyPr wrap="square" lIns="0" tIns="0" rIns="0" bIns="0" rtlCol="0" anchor="ctr"/>
          <a:lstStyle/>
          <a:p>
            <a:pPr algn="ctr" indent="0" marL="0">
              <a:buNone/>
            </a:pPr>
            <a:r>
              <a:rPr lang="en-US" sz="1200" b="1" dirty="0">
                <a:solidFill>
                  <a:schemeClr val="bg1"/>
                </a:solidFill>
                <a:latin typeface="Arial" pitchFamily="34" charset="0"/>
                <a:ea typeface="Arial" pitchFamily="34" charset="-122"/>
                <a:cs typeface="Arial" pitchFamily="34" charset="-120"/>
              </a:rPr>
              <a:t>3</a:t>
            </a:r>
            <a:endParaRPr lang="en-US" sz="1200" dirty="0"/>
          </a:p>
        </p:txBody>
      </p:sp>
      <p:sp>
        <p:nvSpPr>
          <p:cNvPr id="17" name="Text 14"/>
          <p:cNvSpPr txBox="1"/>
          <p:nvPr/>
        </p:nvSpPr>
        <p:spPr>
          <a:xfrm>
            <a:off x="6720840" y="1435608"/>
            <a:ext cx="1828800" cy="365760"/>
          </a:xfrm>
          <a:prstGeom prst="rect">
            <a:avLst/>
          </a:prstGeom>
          <a:noFill/>
          <a:ln/>
        </p:spPr>
        <p:txBody>
          <a:bodyPr wrap="square" lIns="0" tIns="0" rIns="0" bIns="0" rtlCol="0" anchor="ctr"/>
          <a:lstStyle/>
          <a:p>
            <a:pPr indent="0" marL="0">
              <a:buNone/>
            </a:pPr>
            <a:r>
              <a:rPr lang="en-US" sz="2000" b="1" dirty="0">
                <a:solidFill>
                  <a:schemeClr val="tx2"/>
                </a:solidFill>
                <a:latin typeface="Arial" pitchFamily="34" charset="0"/>
                <a:ea typeface="Arial" pitchFamily="34" charset="-122"/>
                <a:cs typeface="Arial" pitchFamily="34" charset="-120"/>
              </a:rPr>
              <a:t>Build</a:t>
            </a:r>
            <a:endParaRPr lang="en-US" sz="2000" dirty="0"/>
          </a:p>
        </p:txBody>
      </p:sp>
      <p:sp>
        <p:nvSpPr>
          <p:cNvPr id="18" name="Text 15"/>
          <p:cNvSpPr txBox="1"/>
          <p:nvPr/>
        </p:nvSpPr>
        <p:spPr>
          <a:xfrm>
            <a:off x="6217920" y="2011680"/>
            <a:ext cx="2286000" cy="64008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Pages, visuals, theme, layout</a:t>
            </a:r>
            <a:endParaRPr lang="en-US" sz="1500" dirty="0"/>
          </a:p>
        </p:txBody>
      </p:sp>
      <p:sp>
        <p:nvSpPr>
          <p:cNvPr id="19" name="card"/>
          <p:cNvSpPr/>
          <p:nvPr/>
        </p:nvSpPr>
        <p:spPr>
          <a:xfrm>
            <a:off x="457200" y="2926080"/>
            <a:ext cx="2651760" cy="1554480"/>
          </a:xfrm>
          <a:prstGeom prst="roundRect">
            <a:avLst>
              <a:gd name="adj" fmla="val 5882"/>
            </a:avLst>
          </a:prstGeom>
          <a:solidFill>
            <a:schemeClr val="bg1"/>
          </a:solidFill>
          <a:ln w="9525">
            <a:solidFill>
              <a:srgbClr val="E3E0EE"/>
            </a:solidFill>
            <a:prstDash val="solid"/>
          </a:ln>
          <a:effectLst>
            <a:outerShdw sx="100000" sy="100000" kx="0" ky="0" algn="bl" rotWithShape="0" blurRad="76200" dist="25400" dir="5400000">
              <a:srgbClr val="1A1530">
                <a:alpha val="10000"/>
              </a:srgbClr>
            </a:outerShdw>
          </a:effectLst>
        </p:spPr>
      </p:sp>
      <p:sp>
        <p:nvSpPr>
          <p:cNvPr id="20" name="dot"/>
          <p:cNvSpPr/>
          <p:nvPr/>
        </p:nvSpPr>
        <p:spPr>
          <a:xfrm>
            <a:off x="640080" y="3108960"/>
            <a:ext cx="384048" cy="384048"/>
          </a:xfrm>
          <a:prstGeom prst="ellipse">
            <a:avLst/>
          </a:prstGeom>
          <a:solidFill>
            <a:schemeClr val="accent2"/>
          </a:solidFill>
          <a:ln w="12700">
            <a:solidFill>
              <a:schemeClr val="accent2"/>
            </a:solidFill>
            <a:prstDash val="solid"/>
          </a:ln>
        </p:spPr>
      </p:sp>
      <p:sp>
        <p:nvSpPr>
          <p:cNvPr id="21" name="Text 18"/>
          <p:cNvSpPr txBox="1"/>
          <p:nvPr/>
        </p:nvSpPr>
        <p:spPr>
          <a:xfrm>
            <a:off x="640080" y="3108960"/>
            <a:ext cx="384048" cy="384048"/>
          </a:xfrm>
          <a:prstGeom prst="rect">
            <a:avLst/>
          </a:prstGeom>
          <a:noFill/>
          <a:ln/>
        </p:spPr>
        <p:txBody>
          <a:bodyPr wrap="square" lIns="0" tIns="0" rIns="0" bIns="0" rtlCol="0" anchor="ctr"/>
          <a:lstStyle/>
          <a:p>
            <a:pPr algn="ctr" indent="0" marL="0">
              <a:buNone/>
            </a:pPr>
            <a:r>
              <a:rPr lang="en-US" sz="1200" b="1" dirty="0">
                <a:solidFill>
                  <a:schemeClr val="bg1"/>
                </a:solidFill>
                <a:latin typeface="Arial" pitchFamily="34" charset="0"/>
                <a:ea typeface="Arial" pitchFamily="34" charset="-122"/>
                <a:cs typeface="Arial" pitchFamily="34" charset="-120"/>
              </a:rPr>
              <a:t>4</a:t>
            </a:r>
            <a:endParaRPr lang="en-US" sz="1200" dirty="0"/>
          </a:p>
        </p:txBody>
      </p:sp>
      <p:sp>
        <p:nvSpPr>
          <p:cNvPr id="22" name="Text 19"/>
          <p:cNvSpPr txBox="1"/>
          <p:nvPr/>
        </p:nvSpPr>
        <p:spPr>
          <a:xfrm>
            <a:off x="1143000" y="3127248"/>
            <a:ext cx="1828800" cy="365760"/>
          </a:xfrm>
          <a:prstGeom prst="rect">
            <a:avLst/>
          </a:prstGeom>
          <a:noFill/>
          <a:ln/>
        </p:spPr>
        <p:txBody>
          <a:bodyPr wrap="square" lIns="0" tIns="0" rIns="0" bIns="0" rtlCol="0" anchor="ctr"/>
          <a:lstStyle/>
          <a:p>
            <a:pPr indent="0" marL="0">
              <a:buNone/>
            </a:pPr>
            <a:r>
              <a:rPr lang="en-US" sz="2000" b="1" dirty="0">
                <a:solidFill>
                  <a:schemeClr val="tx2"/>
                </a:solidFill>
                <a:latin typeface="Arial" pitchFamily="34" charset="0"/>
                <a:ea typeface="Arial" pitchFamily="34" charset="-122"/>
                <a:cs typeface="Arial" pitchFamily="34" charset="-120"/>
              </a:rPr>
              <a:t>Test</a:t>
            </a:r>
            <a:endParaRPr lang="en-US" sz="2000" dirty="0"/>
          </a:p>
        </p:txBody>
      </p:sp>
      <p:sp>
        <p:nvSpPr>
          <p:cNvPr id="23" name="Text 20"/>
          <p:cNvSpPr txBox="1"/>
          <p:nvPr/>
        </p:nvSpPr>
        <p:spPr>
          <a:xfrm>
            <a:off x="640080" y="3703320"/>
            <a:ext cx="2286000" cy="64008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Numbers, render, interaction</a:t>
            </a:r>
            <a:endParaRPr lang="en-US" sz="1500" dirty="0"/>
          </a:p>
        </p:txBody>
      </p:sp>
      <p:sp>
        <p:nvSpPr>
          <p:cNvPr id="24" name="card"/>
          <p:cNvSpPr/>
          <p:nvPr/>
        </p:nvSpPr>
        <p:spPr>
          <a:xfrm>
            <a:off x="3246120" y="2926080"/>
            <a:ext cx="2651760" cy="1554480"/>
          </a:xfrm>
          <a:prstGeom prst="roundRect">
            <a:avLst>
              <a:gd name="adj" fmla="val 5882"/>
            </a:avLst>
          </a:prstGeom>
          <a:solidFill>
            <a:schemeClr val="bg1"/>
          </a:solidFill>
          <a:ln w="9525">
            <a:solidFill>
              <a:srgbClr val="E3E0EE"/>
            </a:solidFill>
            <a:prstDash val="solid"/>
          </a:ln>
          <a:effectLst>
            <a:outerShdw sx="100000" sy="100000" kx="0" ky="0" algn="bl" rotWithShape="0" blurRad="76200" dist="25400" dir="5400000">
              <a:srgbClr val="1A1530">
                <a:alpha val="10000"/>
              </a:srgbClr>
            </a:outerShdw>
          </a:effectLst>
        </p:spPr>
      </p:sp>
      <p:sp>
        <p:nvSpPr>
          <p:cNvPr id="25" name="dot"/>
          <p:cNvSpPr/>
          <p:nvPr/>
        </p:nvSpPr>
        <p:spPr>
          <a:xfrm>
            <a:off x="3429000" y="3108960"/>
            <a:ext cx="384048" cy="384048"/>
          </a:xfrm>
          <a:prstGeom prst="ellipse">
            <a:avLst/>
          </a:prstGeom>
          <a:solidFill>
            <a:schemeClr val="tx2"/>
          </a:solidFill>
          <a:ln w="12700">
            <a:solidFill>
              <a:schemeClr val="tx2"/>
            </a:solidFill>
            <a:prstDash val="solid"/>
          </a:ln>
        </p:spPr>
      </p:sp>
      <p:sp>
        <p:nvSpPr>
          <p:cNvPr id="26" name="Text 23"/>
          <p:cNvSpPr txBox="1"/>
          <p:nvPr/>
        </p:nvSpPr>
        <p:spPr>
          <a:xfrm>
            <a:off x="3429000" y="3108960"/>
            <a:ext cx="384048" cy="384048"/>
          </a:xfrm>
          <a:prstGeom prst="rect">
            <a:avLst/>
          </a:prstGeom>
          <a:noFill/>
          <a:ln/>
        </p:spPr>
        <p:txBody>
          <a:bodyPr wrap="square" lIns="0" tIns="0" rIns="0" bIns="0" rtlCol="0" anchor="ctr"/>
          <a:lstStyle/>
          <a:p>
            <a:pPr algn="ctr" indent="0" marL="0">
              <a:buNone/>
            </a:pPr>
            <a:r>
              <a:rPr lang="en-US" sz="1200" b="1" dirty="0">
                <a:solidFill>
                  <a:schemeClr val="bg1"/>
                </a:solidFill>
                <a:latin typeface="Arial" pitchFamily="34" charset="0"/>
                <a:ea typeface="Arial" pitchFamily="34" charset="-122"/>
                <a:cs typeface="Arial" pitchFamily="34" charset="-120"/>
              </a:rPr>
              <a:t>5</a:t>
            </a:r>
            <a:endParaRPr lang="en-US" sz="1200" dirty="0"/>
          </a:p>
        </p:txBody>
      </p:sp>
      <p:sp>
        <p:nvSpPr>
          <p:cNvPr id="27" name="Text 24"/>
          <p:cNvSpPr txBox="1"/>
          <p:nvPr/>
        </p:nvSpPr>
        <p:spPr>
          <a:xfrm>
            <a:off x="3931920" y="3127248"/>
            <a:ext cx="1828800" cy="365760"/>
          </a:xfrm>
          <a:prstGeom prst="rect">
            <a:avLst/>
          </a:prstGeom>
          <a:noFill/>
          <a:ln/>
        </p:spPr>
        <p:txBody>
          <a:bodyPr wrap="square" lIns="0" tIns="0" rIns="0" bIns="0" rtlCol="0" anchor="ctr"/>
          <a:lstStyle/>
          <a:p>
            <a:pPr indent="0" marL="0">
              <a:buNone/>
            </a:pPr>
            <a:r>
              <a:rPr lang="en-US" sz="2000" b="1" dirty="0">
                <a:solidFill>
                  <a:schemeClr val="tx2"/>
                </a:solidFill>
                <a:latin typeface="Arial" pitchFamily="34" charset="0"/>
                <a:ea typeface="Arial" pitchFamily="34" charset="-122"/>
                <a:cs typeface="Arial" pitchFamily="34" charset="-120"/>
              </a:rPr>
              <a:t>Deploy</a:t>
            </a:r>
            <a:endParaRPr lang="en-US" sz="2000" dirty="0"/>
          </a:p>
        </p:txBody>
      </p:sp>
      <p:sp>
        <p:nvSpPr>
          <p:cNvPr id="28" name="Text 25"/>
          <p:cNvSpPr txBox="1"/>
          <p:nvPr/>
        </p:nvSpPr>
        <p:spPr>
          <a:xfrm>
            <a:off x="3429000" y="3703320"/>
            <a:ext cx="2286000" cy="64008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Workspace, binding, refresh</a:t>
            </a:r>
            <a:endParaRPr lang="en-US" sz="1500" dirty="0"/>
          </a:p>
        </p:txBody>
      </p:sp>
      <p:sp>
        <p:nvSpPr>
          <p:cNvPr id="29" name="card"/>
          <p:cNvSpPr/>
          <p:nvPr/>
        </p:nvSpPr>
        <p:spPr>
          <a:xfrm>
            <a:off x="6035040" y="2926080"/>
            <a:ext cx="2651760" cy="1554480"/>
          </a:xfrm>
          <a:prstGeom prst="roundRect">
            <a:avLst>
              <a:gd name="adj" fmla="val 5882"/>
            </a:avLst>
          </a:prstGeom>
          <a:solidFill>
            <a:schemeClr val="bg1"/>
          </a:solidFill>
          <a:ln w="9525">
            <a:solidFill>
              <a:srgbClr val="E3E0EE"/>
            </a:solidFill>
            <a:prstDash val="solid"/>
          </a:ln>
          <a:effectLst>
            <a:outerShdw sx="100000" sy="100000" kx="0" ky="0" algn="bl" rotWithShape="0" blurRad="76200" dist="25400" dir="5400000">
              <a:srgbClr val="1A1530">
                <a:alpha val="10000"/>
              </a:srgbClr>
            </a:outerShdw>
          </a:effectLst>
        </p:spPr>
      </p:sp>
      <p:sp>
        <p:nvSpPr>
          <p:cNvPr id="30" name="dot"/>
          <p:cNvSpPr/>
          <p:nvPr/>
        </p:nvSpPr>
        <p:spPr>
          <a:xfrm>
            <a:off x="6217920" y="3108960"/>
            <a:ext cx="384048" cy="384048"/>
          </a:xfrm>
          <a:prstGeom prst="ellipse">
            <a:avLst/>
          </a:prstGeom>
          <a:solidFill>
            <a:schemeClr val="accent2"/>
          </a:solidFill>
          <a:ln w="12700">
            <a:solidFill>
              <a:schemeClr val="accent2"/>
            </a:solidFill>
            <a:prstDash val="solid"/>
          </a:ln>
        </p:spPr>
      </p:sp>
      <p:sp>
        <p:nvSpPr>
          <p:cNvPr id="31" name="Text 28"/>
          <p:cNvSpPr txBox="1"/>
          <p:nvPr/>
        </p:nvSpPr>
        <p:spPr>
          <a:xfrm>
            <a:off x="6217920" y="3108960"/>
            <a:ext cx="384048" cy="384048"/>
          </a:xfrm>
          <a:prstGeom prst="rect">
            <a:avLst/>
          </a:prstGeom>
          <a:noFill/>
          <a:ln/>
        </p:spPr>
        <p:txBody>
          <a:bodyPr wrap="square" lIns="0" tIns="0" rIns="0" bIns="0" rtlCol="0" anchor="ctr"/>
          <a:lstStyle/>
          <a:p>
            <a:pPr algn="ctr" indent="0" marL="0">
              <a:buNone/>
            </a:pPr>
            <a:r>
              <a:rPr lang="en-US" sz="1200" b="1" dirty="0">
                <a:solidFill>
                  <a:schemeClr val="bg1"/>
                </a:solidFill>
                <a:latin typeface="Arial" pitchFamily="34" charset="0"/>
                <a:ea typeface="Arial" pitchFamily="34" charset="-122"/>
                <a:cs typeface="Arial" pitchFamily="34" charset="-120"/>
              </a:rPr>
              <a:t>6</a:t>
            </a:r>
            <a:endParaRPr lang="en-US" sz="1200" dirty="0"/>
          </a:p>
        </p:txBody>
      </p:sp>
      <p:sp>
        <p:nvSpPr>
          <p:cNvPr id="32" name="Text 29"/>
          <p:cNvSpPr txBox="1"/>
          <p:nvPr/>
        </p:nvSpPr>
        <p:spPr>
          <a:xfrm>
            <a:off x="6720840" y="3127248"/>
            <a:ext cx="1828800" cy="365760"/>
          </a:xfrm>
          <a:prstGeom prst="rect">
            <a:avLst/>
          </a:prstGeom>
          <a:noFill/>
          <a:ln/>
        </p:spPr>
        <p:txBody>
          <a:bodyPr wrap="square" lIns="0" tIns="0" rIns="0" bIns="0" rtlCol="0" anchor="ctr"/>
          <a:lstStyle/>
          <a:p>
            <a:pPr indent="0" marL="0">
              <a:buNone/>
            </a:pPr>
            <a:r>
              <a:rPr lang="en-US" sz="2000" b="1" dirty="0">
                <a:solidFill>
                  <a:schemeClr val="tx2"/>
                </a:solidFill>
                <a:latin typeface="Arial" pitchFamily="34" charset="0"/>
                <a:ea typeface="Arial" pitchFamily="34" charset="-122"/>
                <a:cs typeface="Arial" pitchFamily="34" charset="-120"/>
              </a:rPr>
              <a:t>Govern</a:t>
            </a:r>
            <a:endParaRPr lang="en-US" sz="2000" dirty="0"/>
          </a:p>
        </p:txBody>
      </p:sp>
      <p:sp>
        <p:nvSpPr>
          <p:cNvPr id="33" name="Text 30"/>
          <p:cNvSpPr txBox="1"/>
          <p:nvPr/>
        </p:nvSpPr>
        <p:spPr>
          <a:xfrm>
            <a:off x="6217920" y="3703320"/>
            <a:ext cx="2286000" cy="64008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Sign-off, audit trail, changes</a:t>
            </a:r>
            <a:endParaRPr lang="en-US" sz="15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888888"/>
                </a:solidFill>
                <a:latin typeface="Calibri"/>
                <a:ea typeface="Calibri"/>
                <a:cs typeface="Calibri"/>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000" b="1" dirty="0">
                <a:solidFill>
                  <a:schemeClr val="tx2"/>
                </a:solidFill>
                <a:latin typeface="Arial" pitchFamily="34" charset="0"/>
                <a:ea typeface="Arial" pitchFamily="34" charset="-122"/>
                <a:cs typeface="Arial" pitchFamily="34" charset="-120"/>
              </a:rPr>
              <a:t>Chat answers. An agent acts.</a:t>
            </a:r>
            <a:endParaRPr lang="en-US" sz="3000" dirty="0"/>
          </a:p>
        </p:txBody>
      </p:sp>
      <p:sp>
        <p:nvSpPr>
          <p:cNvPr id="4" name="card"/>
          <p:cNvSpPr/>
          <p:nvPr/>
        </p:nvSpPr>
        <p:spPr>
          <a:xfrm>
            <a:off x="457200" y="1188720"/>
            <a:ext cx="3291840" cy="2926080"/>
          </a:xfrm>
          <a:prstGeom prst="roundRect">
            <a:avLst>
              <a:gd name="adj" fmla="val 3125"/>
            </a:avLst>
          </a:prstGeom>
          <a:solidFill>
            <a:schemeClr val="bg1"/>
          </a:solidFill>
          <a:ln w="9525">
            <a:solidFill>
              <a:srgbClr val="E3E0EE"/>
            </a:solidFill>
            <a:prstDash val="solid"/>
          </a:ln>
          <a:effectLst>
            <a:outerShdw sx="100000" sy="100000" kx="0" ky="0" algn="bl" rotWithShape="0" blurRad="76200" dist="25400" dir="5400000">
              <a:srgbClr val="1A1530">
                <a:alpha val="10000"/>
              </a:srgbClr>
            </a:outerShdw>
          </a:effectLst>
        </p:spPr>
      </p:sp>
      <p:sp>
        <p:nvSpPr>
          <p:cNvPr id="5" name="Text 2"/>
          <p:cNvSpPr txBox="1"/>
          <p:nvPr/>
        </p:nvSpPr>
        <p:spPr>
          <a:xfrm>
            <a:off x="685800" y="1371600"/>
            <a:ext cx="2834640" cy="365760"/>
          </a:xfrm>
          <a:prstGeom prst="rect">
            <a:avLst/>
          </a:prstGeom>
          <a:noFill/>
          <a:ln/>
        </p:spPr>
        <p:txBody>
          <a:bodyPr wrap="square" lIns="0" tIns="0" rIns="0" bIns="0" rtlCol="0" anchor="t"/>
          <a:lstStyle/>
          <a:p>
            <a:pPr indent="0" marL="0">
              <a:buNone/>
            </a:pPr>
            <a:r>
              <a:rPr lang="en-US" sz="2200" b="1" dirty="0">
                <a:solidFill>
                  <a:schemeClr val="tx2"/>
                </a:solidFill>
                <a:latin typeface="Arial" pitchFamily="34" charset="0"/>
                <a:ea typeface="Arial" pitchFamily="34" charset="-122"/>
                <a:cs typeface="Arial" pitchFamily="34" charset="-120"/>
              </a:rPr>
              <a:t>Chat</a:t>
            </a:r>
            <a:endParaRPr lang="en-US" sz="2200" dirty="0"/>
          </a:p>
        </p:txBody>
      </p:sp>
      <p:sp>
        <p:nvSpPr>
          <p:cNvPr id="6" name="Text 3"/>
          <p:cNvSpPr txBox="1"/>
          <p:nvPr/>
        </p:nvSpPr>
        <p:spPr>
          <a:xfrm>
            <a:off x="685800" y="1920240"/>
            <a:ext cx="2834640" cy="201168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latin typeface="Calibri" pitchFamily="34" charset="0"/>
                <a:ea typeface="Calibri" pitchFamily="34" charset="-122"/>
                <a:cs typeface="Calibri" pitchFamily="34" charset="-120"/>
              </a:rPr>
              <a:t>You ask</a:t>
            </a:r>
            <a:endParaRPr lang="en-US" sz="1600" dirty="0"/>
          </a:p>
          <a:p>
            <a:pPr marL="342900" indent="-342900">
              <a:spcAft>
                <a:spcPts val="800"/>
              </a:spcAft>
              <a:buSzPct val="100000"/>
              <a:buChar char="•"/>
            </a:pPr>
            <a:r>
              <a:rPr lang="en-US" sz="1600" dirty="0">
                <a:solidFill>
                  <a:schemeClr val="tx1"/>
                </a:solidFill>
                <a:latin typeface="Calibri" pitchFamily="34" charset="0"/>
                <a:ea typeface="Calibri" pitchFamily="34" charset="-122"/>
                <a:cs typeface="Calibri" pitchFamily="34" charset="-120"/>
              </a:rPr>
              <a:t>It answers</a:t>
            </a:r>
            <a:endParaRPr lang="en-US" sz="1600" dirty="0"/>
          </a:p>
          <a:p>
            <a:pPr marL="342900" indent="-342900">
              <a:spcAft>
                <a:spcPts val="800"/>
              </a:spcAft>
              <a:buSzPct val="100000"/>
              <a:buChar char="•"/>
            </a:pPr>
            <a:r>
              <a:rPr lang="en-US" sz="1600" dirty="0">
                <a:solidFill>
                  <a:schemeClr val="tx1"/>
                </a:solidFill>
                <a:latin typeface="Calibri" pitchFamily="34" charset="0"/>
                <a:ea typeface="Calibri" pitchFamily="34" charset="-122"/>
                <a:cs typeface="Calibri" pitchFamily="34" charset="-120"/>
              </a:rPr>
              <a:t>You copy and paste</a:t>
            </a:r>
            <a:endParaRPr lang="en-US" sz="1600" dirty="0"/>
          </a:p>
          <a:p>
            <a:pPr marL="342900" indent="-342900">
              <a:spcAft>
                <a:spcPts val="800"/>
              </a:spcAft>
              <a:buSzPct val="100000"/>
              <a:buChar char="•"/>
            </a:pPr>
            <a:r>
              <a:rPr lang="en-US" sz="1600" dirty="0">
                <a:solidFill>
                  <a:schemeClr val="tx1"/>
                </a:solidFill>
                <a:latin typeface="Calibri" pitchFamily="34" charset="0"/>
                <a:ea typeface="Calibri" pitchFamily="34" charset="-122"/>
                <a:cs typeface="Calibri" pitchFamily="34" charset="-120"/>
              </a:rPr>
              <a:t>Nothing is checked</a:t>
            </a:r>
            <a:endParaRPr lang="en-US" sz="1600" dirty="0"/>
          </a:p>
        </p:txBody>
      </p:sp>
      <p:sp>
        <p:nvSpPr>
          <p:cNvPr id="7" name="card"/>
          <p:cNvSpPr/>
          <p:nvPr/>
        </p:nvSpPr>
        <p:spPr>
          <a:xfrm>
            <a:off x="4023360" y="1188720"/>
            <a:ext cx="4663440" cy="2926080"/>
          </a:xfrm>
          <a:prstGeom prst="roundRect">
            <a:avLst>
              <a:gd name="adj" fmla="val 3125"/>
            </a:avLst>
          </a:prstGeom>
          <a:solidFill>
            <a:schemeClr val="tx2"/>
          </a:solidFill>
          <a:ln w="9525">
            <a:solidFill>
              <a:srgbClr val="1A1530"/>
            </a:solidFill>
            <a:prstDash val="solid"/>
          </a:ln>
          <a:effectLst>
            <a:outerShdw sx="100000" sy="100000" kx="0" ky="0" algn="bl" rotWithShape="0" blurRad="76200" dist="25400" dir="5400000">
              <a:srgbClr val="1A1530">
                <a:alpha val="10000"/>
              </a:srgbClr>
            </a:outerShdw>
          </a:effectLst>
        </p:spPr>
      </p:sp>
      <p:sp>
        <p:nvSpPr>
          <p:cNvPr id="8" name="Text 5"/>
          <p:cNvSpPr txBox="1"/>
          <p:nvPr/>
        </p:nvSpPr>
        <p:spPr>
          <a:xfrm>
            <a:off x="4297680" y="1371600"/>
            <a:ext cx="4114800" cy="365760"/>
          </a:xfrm>
          <a:prstGeom prst="rect">
            <a:avLst/>
          </a:prstGeom>
          <a:noFill/>
          <a:ln/>
        </p:spPr>
        <p:txBody>
          <a:bodyPr wrap="square" lIns="0" tIns="0" rIns="0" bIns="0" rtlCol="0" anchor="t"/>
          <a:lstStyle/>
          <a:p>
            <a:pPr indent="0" marL="0">
              <a:buNone/>
            </a:pPr>
            <a:r>
              <a:rPr lang="en-US" sz="2200" b="1" dirty="0">
                <a:solidFill>
                  <a:schemeClr val="bg1"/>
                </a:solidFill>
                <a:latin typeface="Arial" pitchFamily="34" charset="0"/>
                <a:ea typeface="Arial" pitchFamily="34" charset="-122"/>
                <a:cs typeface="Arial" pitchFamily="34" charset="-120"/>
              </a:rPr>
              <a:t>Agentic</a:t>
            </a:r>
            <a:endParaRPr lang="en-US" sz="2200" dirty="0"/>
          </a:p>
        </p:txBody>
      </p:sp>
      <p:sp>
        <p:nvSpPr>
          <p:cNvPr id="9" name="dot"/>
          <p:cNvSpPr/>
          <p:nvPr/>
        </p:nvSpPr>
        <p:spPr>
          <a:xfrm>
            <a:off x="4297680" y="1965960"/>
            <a:ext cx="329184" cy="329184"/>
          </a:xfrm>
          <a:prstGeom prst="ellipse">
            <a:avLst/>
          </a:prstGeom>
          <a:solidFill>
            <a:schemeClr val="accent1"/>
          </a:solidFill>
          <a:ln w="12700">
            <a:solidFill>
              <a:schemeClr val="accent1"/>
            </a:solidFill>
            <a:prstDash val="solid"/>
          </a:ln>
        </p:spPr>
      </p:sp>
      <p:sp>
        <p:nvSpPr>
          <p:cNvPr id="10" name="Text 7"/>
          <p:cNvSpPr txBox="1"/>
          <p:nvPr/>
        </p:nvSpPr>
        <p:spPr>
          <a:xfrm>
            <a:off x="4297680" y="1965960"/>
            <a:ext cx="329184" cy="329184"/>
          </a:xfrm>
          <a:prstGeom prst="rect">
            <a:avLst/>
          </a:prstGeom>
          <a:noFill/>
          <a:ln/>
        </p:spPr>
        <p:txBody>
          <a:bodyPr wrap="square" lIns="0" tIns="0" rIns="0" bIns="0" rtlCol="0" anchor="ctr"/>
          <a:lstStyle/>
          <a:p>
            <a:pPr algn="ctr" indent="0" marL="0">
              <a:buNone/>
            </a:pPr>
            <a:r>
              <a:rPr lang="en-US" sz="1000" b="1" dirty="0">
                <a:solidFill>
                  <a:schemeClr val="tx2"/>
                </a:solidFill>
                <a:latin typeface="Arial" pitchFamily="34" charset="0"/>
                <a:ea typeface="Arial" pitchFamily="34" charset="-122"/>
                <a:cs typeface="Arial" pitchFamily="34" charset="-120"/>
              </a:rPr>
              <a:t>1</a:t>
            </a:r>
            <a:endParaRPr lang="en-US" sz="1000" dirty="0"/>
          </a:p>
        </p:txBody>
      </p:sp>
      <p:sp>
        <p:nvSpPr>
          <p:cNvPr id="11" name="Text 8"/>
          <p:cNvSpPr txBox="1"/>
          <p:nvPr/>
        </p:nvSpPr>
        <p:spPr>
          <a:xfrm>
            <a:off x="4754880" y="1965960"/>
            <a:ext cx="2743200" cy="329184"/>
          </a:xfrm>
          <a:prstGeom prst="rect">
            <a:avLst/>
          </a:prstGeom>
          <a:noFill/>
          <a:ln/>
        </p:spPr>
        <p:txBody>
          <a:bodyPr wrap="square" lIns="0" tIns="0" rIns="0" bIns="0" rtlCol="0" anchor="ctr"/>
          <a:lstStyle/>
          <a:p>
            <a:pPr indent="0" marL="0">
              <a:buNone/>
            </a:pPr>
            <a:r>
              <a:rPr lang="en-US" sz="1600" dirty="0">
                <a:solidFill>
                  <a:schemeClr val="bg1"/>
                </a:solidFill>
                <a:latin typeface="Calibri" pitchFamily="34" charset="0"/>
                <a:ea typeface="Calibri" pitchFamily="34" charset="-122"/>
                <a:cs typeface="Calibri" pitchFamily="34" charset="-120"/>
              </a:rPr>
              <a:t>Plan</a:t>
            </a:r>
            <a:endParaRPr lang="en-US" sz="1600" dirty="0"/>
          </a:p>
        </p:txBody>
      </p:sp>
      <p:sp>
        <p:nvSpPr>
          <p:cNvPr id="12" name="dot"/>
          <p:cNvSpPr/>
          <p:nvPr/>
        </p:nvSpPr>
        <p:spPr>
          <a:xfrm>
            <a:off x="4297680" y="2441448"/>
            <a:ext cx="329184" cy="329184"/>
          </a:xfrm>
          <a:prstGeom prst="ellipse">
            <a:avLst/>
          </a:prstGeom>
          <a:solidFill>
            <a:schemeClr val="accent1"/>
          </a:solidFill>
          <a:ln w="12700">
            <a:solidFill>
              <a:schemeClr val="accent1"/>
            </a:solidFill>
            <a:prstDash val="solid"/>
          </a:ln>
        </p:spPr>
      </p:sp>
      <p:sp>
        <p:nvSpPr>
          <p:cNvPr id="13" name="Text 10"/>
          <p:cNvSpPr txBox="1"/>
          <p:nvPr/>
        </p:nvSpPr>
        <p:spPr>
          <a:xfrm>
            <a:off x="4297680" y="2441448"/>
            <a:ext cx="329184" cy="329184"/>
          </a:xfrm>
          <a:prstGeom prst="rect">
            <a:avLst/>
          </a:prstGeom>
          <a:noFill/>
          <a:ln/>
        </p:spPr>
        <p:txBody>
          <a:bodyPr wrap="square" lIns="0" tIns="0" rIns="0" bIns="0" rtlCol="0" anchor="ctr"/>
          <a:lstStyle/>
          <a:p>
            <a:pPr algn="ctr" indent="0" marL="0">
              <a:buNone/>
            </a:pPr>
            <a:r>
              <a:rPr lang="en-US" sz="1000" b="1" dirty="0">
                <a:solidFill>
                  <a:schemeClr val="tx2"/>
                </a:solidFill>
                <a:latin typeface="Arial" pitchFamily="34" charset="0"/>
                <a:ea typeface="Arial" pitchFamily="34" charset="-122"/>
                <a:cs typeface="Arial" pitchFamily="34" charset="-120"/>
              </a:rPr>
              <a:t>2</a:t>
            </a:r>
            <a:endParaRPr lang="en-US" sz="1000" dirty="0"/>
          </a:p>
        </p:txBody>
      </p:sp>
      <p:sp>
        <p:nvSpPr>
          <p:cNvPr id="14" name="Text 11"/>
          <p:cNvSpPr txBox="1"/>
          <p:nvPr/>
        </p:nvSpPr>
        <p:spPr>
          <a:xfrm>
            <a:off x="4754880" y="2441448"/>
            <a:ext cx="2743200" cy="329184"/>
          </a:xfrm>
          <a:prstGeom prst="rect">
            <a:avLst/>
          </a:prstGeom>
          <a:noFill/>
          <a:ln/>
        </p:spPr>
        <p:txBody>
          <a:bodyPr wrap="square" lIns="0" tIns="0" rIns="0" bIns="0" rtlCol="0" anchor="ctr"/>
          <a:lstStyle/>
          <a:p>
            <a:pPr indent="0" marL="0">
              <a:buNone/>
            </a:pPr>
            <a:r>
              <a:rPr lang="en-US" sz="1600" dirty="0">
                <a:solidFill>
                  <a:schemeClr val="bg1"/>
                </a:solidFill>
                <a:latin typeface="Calibri" pitchFamily="34" charset="0"/>
                <a:ea typeface="Calibri" pitchFamily="34" charset="-122"/>
                <a:cs typeface="Calibri" pitchFamily="34" charset="-120"/>
              </a:rPr>
              <a:t>Act with tools</a:t>
            </a:r>
            <a:endParaRPr lang="en-US" sz="1600" dirty="0"/>
          </a:p>
        </p:txBody>
      </p:sp>
      <p:sp>
        <p:nvSpPr>
          <p:cNvPr id="15" name="dot"/>
          <p:cNvSpPr/>
          <p:nvPr/>
        </p:nvSpPr>
        <p:spPr>
          <a:xfrm>
            <a:off x="4297680" y="2916936"/>
            <a:ext cx="329184" cy="329184"/>
          </a:xfrm>
          <a:prstGeom prst="ellipse">
            <a:avLst/>
          </a:prstGeom>
          <a:solidFill>
            <a:schemeClr val="accent1"/>
          </a:solidFill>
          <a:ln w="12700">
            <a:solidFill>
              <a:schemeClr val="accent1"/>
            </a:solidFill>
            <a:prstDash val="solid"/>
          </a:ln>
        </p:spPr>
      </p:sp>
      <p:sp>
        <p:nvSpPr>
          <p:cNvPr id="16" name="Text 13"/>
          <p:cNvSpPr txBox="1"/>
          <p:nvPr/>
        </p:nvSpPr>
        <p:spPr>
          <a:xfrm>
            <a:off x="4297680" y="2916936"/>
            <a:ext cx="329184" cy="329184"/>
          </a:xfrm>
          <a:prstGeom prst="rect">
            <a:avLst/>
          </a:prstGeom>
          <a:noFill/>
          <a:ln/>
        </p:spPr>
        <p:txBody>
          <a:bodyPr wrap="square" lIns="0" tIns="0" rIns="0" bIns="0" rtlCol="0" anchor="ctr"/>
          <a:lstStyle/>
          <a:p>
            <a:pPr algn="ctr" indent="0" marL="0">
              <a:buNone/>
            </a:pPr>
            <a:r>
              <a:rPr lang="en-US" sz="1000" b="1" dirty="0">
                <a:solidFill>
                  <a:schemeClr val="tx2"/>
                </a:solidFill>
                <a:latin typeface="Arial" pitchFamily="34" charset="0"/>
                <a:ea typeface="Arial" pitchFamily="34" charset="-122"/>
                <a:cs typeface="Arial" pitchFamily="34" charset="-120"/>
              </a:rPr>
              <a:t>3</a:t>
            </a:r>
            <a:endParaRPr lang="en-US" sz="1000" dirty="0"/>
          </a:p>
        </p:txBody>
      </p:sp>
      <p:sp>
        <p:nvSpPr>
          <p:cNvPr id="17" name="Text 14"/>
          <p:cNvSpPr txBox="1"/>
          <p:nvPr/>
        </p:nvSpPr>
        <p:spPr>
          <a:xfrm>
            <a:off x="4754880" y="2916936"/>
            <a:ext cx="2743200" cy="329184"/>
          </a:xfrm>
          <a:prstGeom prst="rect">
            <a:avLst/>
          </a:prstGeom>
          <a:noFill/>
          <a:ln/>
        </p:spPr>
        <p:txBody>
          <a:bodyPr wrap="square" lIns="0" tIns="0" rIns="0" bIns="0" rtlCol="0" anchor="ctr"/>
          <a:lstStyle/>
          <a:p>
            <a:pPr indent="0" marL="0">
              <a:buNone/>
            </a:pPr>
            <a:r>
              <a:rPr lang="en-US" sz="1600" dirty="0">
                <a:solidFill>
                  <a:schemeClr val="bg1"/>
                </a:solidFill>
                <a:latin typeface="Calibri" pitchFamily="34" charset="0"/>
                <a:ea typeface="Calibri" pitchFamily="34" charset="-122"/>
                <a:cs typeface="Calibri" pitchFamily="34" charset="-120"/>
              </a:rPr>
              <a:t>Observe the result</a:t>
            </a:r>
            <a:endParaRPr lang="en-US" sz="1600" dirty="0"/>
          </a:p>
        </p:txBody>
      </p:sp>
      <p:sp>
        <p:nvSpPr>
          <p:cNvPr id="18" name="dot"/>
          <p:cNvSpPr/>
          <p:nvPr/>
        </p:nvSpPr>
        <p:spPr>
          <a:xfrm>
            <a:off x="4297680" y="3392424"/>
            <a:ext cx="329184" cy="329184"/>
          </a:xfrm>
          <a:prstGeom prst="ellipse">
            <a:avLst/>
          </a:prstGeom>
          <a:solidFill>
            <a:schemeClr val="accent1"/>
          </a:solidFill>
          <a:ln w="12700">
            <a:solidFill>
              <a:schemeClr val="accent1"/>
            </a:solidFill>
            <a:prstDash val="solid"/>
          </a:ln>
        </p:spPr>
      </p:sp>
      <p:sp>
        <p:nvSpPr>
          <p:cNvPr id="19" name="Text 16"/>
          <p:cNvSpPr txBox="1"/>
          <p:nvPr/>
        </p:nvSpPr>
        <p:spPr>
          <a:xfrm>
            <a:off x="4297680" y="3392424"/>
            <a:ext cx="329184" cy="329184"/>
          </a:xfrm>
          <a:prstGeom prst="rect">
            <a:avLst/>
          </a:prstGeom>
          <a:noFill/>
          <a:ln/>
        </p:spPr>
        <p:txBody>
          <a:bodyPr wrap="square" lIns="0" tIns="0" rIns="0" bIns="0" rtlCol="0" anchor="ctr"/>
          <a:lstStyle/>
          <a:p>
            <a:pPr algn="ctr" indent="0" marL="0">
              <a:buNone/>
            </a:pPr>
            <a:r>
              <a:rPr lang="en-US" sz="1000" b="1" dirty="0">
                <a:solidFill>
                  <a:schemeClr val="tx2"/>
                </a:solidFill>
                <a:latin typeface="Arial" pitchFamily="34" charset="0"/>
                <a:ea typeface="Arial" pitchFamily="34" charset="-122"/>
                <a:cs typeface="Arial" pitchFamily="34" charset="-120"/>
              </a:rPr>
              <a:t>4</a:t>
            </a:r>
            <a:endParaRPr lang="en-US" sz="1000" dirty="0"/>
          </a:p>
        </p:txBody>
      </p:sp>
      <p:sp>
        <p:nvSpPr>
          <p:cNvPr id="20" name="Text 17"/>
          <p:cNvSpPr txBox="1"/>
          <p:nvPr/>
        </p:nvSpPr>
        <p:spPr>
          <a:xfrm>
            <a:off x="4754880" y="3392424"/>
            <a:ext cx="2743200" cy="329184"/>
          </a:xfrm>
          <a:prstGeom prst="rect">
            <a:avLst/>
          </a:prstGeom>
          <a:noFill/>
          <a:ln/>
        </p:spPr>
        <p:txBody>
          <a:bodyPr wrap="square" lIns="0" tIns="0" rIns="0" bIns="0" rtlCol="0" anchor="ctr"/>
          <a:lstStyle/>
          <a:p>
            <a:pPr indent="0" marL="0">
              <a:buNone/>
            </a:pPr>
            <a:r>
              <a:rPr lang="en-US" sz="1600" dirty="0">
                <a:solidFill>
                  <a:schemeClr val="bg1"/>
                </a:solidFill>
                <a:latin typeface="Calibri" pitchFamily="34" charset="0"/>
                <a:ea typeface="Calibri" pitchFamily="34" charset="-122"/>
                <a:cs typeface="Calibri" pitchFamily="34" charset="-120"/>
              </a:rPr>
              <a:t>Try again, or stop</a:t>
            </a:r>
            <a:endParaRPr lang="en-US" sz="1600" dirty="0"/>
          </a:p>
        </p:txBody>
      </p:sp>
      <p:sp>
        <p:nvSpPr>
          <p:cNvPr id="21" name="pill"/>
          <p:cNvSpPr/>
          <p:nvPr/>
        </p:nvSpPr>
        <p:spPr>
          <a:xfrm>
            <a:off x="6903720" y="2011680"/>
            <a:ext cx="1508760" cy="274320"/>
          </a:xfrm>
          <a:prstGeom prst="roundRect">
            <a:avLst>
              <a:gd name="adj" fmla="val 50000"/>
            </a:avLst>
          </a:prstGeom>
          <a:solidFill>
            <a:schemeClr val="accent2"/>
          </a:solidFill>
          <a:ln w="12700">
            <a:solidFill>
              <a:schemeClr val="accent2"/>
            </a:solidFill>
            <a:prstDash val="solid"/>
          </a:ln>
        </p:spPr>
      </p:sp>
      <p:sp>
        <p:nvSpPr>
          <p:cNvPr id="22" name="Text 19"/>
          <p:cNvSpPr txBox="1"/>
          <p:nvPr/>
        </p:nvSpPr>
        <p:spPr>
          <a:xfrm>
            <a:off x="6903720" y="2011680"/>
            <a:ext cx="1508760" cy="274320"/>
          </a:xfrm>
          <a:prstGeom prst="rect">
            <a:avLst/>
          </a:prstGeom>
          <a:noFill/>
          <a:ln/>
        </p:spPr>
        <p:txBody>
          <a:bodyPr wrap="square" lIns="0" tIns="0" rIns="0" bIns="0" rtlCol="0" anchor="ctr"/>
          <a:lstStyle/>
          <a:p>
            <a:pPr algn="ctr" indent="0" marL="0">
              <a:buNone/>
            </a:pPr>
            <a:r>
              <a:rPr lang="en-US" sz="1200" b="1" dirty="0">
                <a:solidFill>
                  <a:schemeClr val="bg1"/>
                </a:solidFill>
                <a:latin typeface="Courier New" pitchFamily="34" charset="0"/>
                <a:ea typeface="Courier New" pitchFamily="34" charset="-122"/>
                <a:cs typeface="Courier New" pitchFamily="34" charset="-120"/>
              </a:rPr>
              <a:t>A HUMAN</a:t>
            </a:r>
            <a:endParaRPr lang="en-US" sz="1200" dirty="0"/>
          </a:p>
        </p:txBody>
      </p:sp>
      <p:sp>
        <p:nvSpPr>
          <p:cNvPr id="23" name="Text 20"/>
          <p:cNvSpPr txBox="1"/>
          <p:nvPr/>
        </p:nvSpPr>
        <p:spPr>
          <a:xfrm>
            <a:off x="6903720" y="2331720"/>
            <a:ext cx="1600200" cy="548640"/>
          </a:xfrm>
          <a:prstGeom prst="rect">
            <a:avLst/>
          </a:prstGeom>
          <a:noFill/>
          <a:ln/>
        </p:spPr>
        <p:txBody>
          <a:bodyPr wrap="square" lIns="0" tIns="0" rIns="0" bIns="0" rtlCol="0" anchor="t"/>
          <a:lstStyle/>
          <a:p>
            <a:pPr indent="0" marL="0">
              <a:buNone/>
            </a:pPr>
            <a:r>
              <a:rPr lang="en-US" sz="1400" dirty="0">
                <a:solidFill>
                  <a:srgbClr val="F0EEF8"/>
                </a:solidFill>
                <a:latin typeface="Calibri" pitchFamily="34" charset="0"/>
                <a:ea typeface="Calibri" pitchFamily="34" charset="-122"/>
                <a:cs typeface="Calibri" pitchFamily="34" charset="-120"/>
              </a:rPr>
              <a:t>approves at the gates</a:t>
            </a:r>
            <a:endParaRPr lang="en-US" sz="1400" dirty="0"/>
          </a:p>
        </p:txBody>
      </p:sp>
      <p:sp>
        <p:nvSpPr>
          <p:cNvPr id="24" name="Text 21"/>
          <p:cNvSpPr txBox="1"/>
          <p:nvPr/>
        </p:nvSpPr>
        <p:spPr>
          <a:xfrm>
            <a:off x="457200" y="4251960"/>
            <a:ext cx="8229600" cy="365760"/>
          </a:xfrm>
          <a:prstGeom prst="rect">
            <a:avLst/>
          </a:prstGeom>
          <a:noFill/>
          <a:ln/>
        </p:spPr>
        <p:txBody>
          <a:bodyPr wrap="square" lIns="0" tIns="0" rIns="0" bIns="0" rtlCol="0" anchor="t"/>
          <a:lstStyle/>
          <a:p>
            <a:pPr indent="0" marL="0">
              <a:buNone/>
            </a:pPr>
            <a:r>
              <a:rPr lang="en-US" sz="1800" b="1" dirty="0">
                <a:solidFill>
                  <a:schemeClr val="accent2"/>
                </a:solidFill>
                <a:latin typeface="Calibri" pitchFamily="34" charset="0"/>
                <a:ea typeface="Calibri" pitchFamily="34" charset="-122"/>
                <a:cs typeface="Calibri" pitchFamily="34" charset="-120"/>
              </a:rPr>
              <a:t>The loop is the power and the risk.</a:t>
            </a:r>
            <a:endParaRPr lang="en-US" sz="18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888888"/>
                </a:solidFill>
                <a:latin typeface="Calibri"/>
                <a:ea typeface="Calibri"/>
                <a:cs typeface="Calibri"/>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000" b="1" dirty="0">
                <a:solidFill>
                  <a:schemeClr val="tx2"/>
                </a:solidFill>
                <a:latin typeface="Arial" pitchFamily="34" charset="0"/>
                <a:ea typeface="Arial" pitchFamily="34" charset="-122"/>
                <a:cs typeface="Arial" pitchFamily="34" charset="-120"/>
              </a:rPr>
              <a:t>Which bits can an agent do?</a:t>
            </a:r>
            <a:endParaRPr lang="en-US" sz="3000" dirty="0"/>
          </a:p>
        </p:txBody>
      </p:sp>
      <p:sp>
        <p:nvSpPr>
          <p:cNvPr id="4" name="card"/>
          <p:cNvSpPr/>
          <p:nvPr/>
        </p:nvSpPr>
        <p:spPr>
          <a:xfrm>
            <a:off x="457200" y="1188720"/>
            <a:ext cx="2651760" cy="3017520"/>
          </a:xfrm>
          <a:prstGeom prst="roundRect">
            <a:avLst>
              <a:gd name="adj" fmla="val 3448"/>
            </a:avLst>
          </a:prstGeom>
          <a:solidFill>
            <a:schemeClr val="bg1"/>
          </a:solidFill>
          <a:ln w="9525">
            <a:solidFill>
              <a:srgbClr val="E3E0EE"/>
            </a:solidFill>
            <a:prstDash val="solid"/>
          </a:ln>
          <a:effectLst>
            <a:outerShdw sx="100000" sy="100000" kx="0" ky="0" algn="bl" rotWithShape="0" blurRad="76200" dist="25400" dir="5400000">
              <a:srgbClr val="1A1530">
                <a:alpha val="10000"/>
              </a:srgbClr>
            </a:outerShdw>
          </a:effectLst>
        </p:spPr>
      </p:sp>
      <p:sp>
        <p:nvSpPr>
          <p:cNvPr id="5" name="dot"/>
          <p:cNvSpPr/>
          <p:nvPr/>
        </p:nvSpPr>
        <p:spPr>
          <a:xfrm>
            <a:off x="640080" y="1371600"/>
            <a:ext cx="274320" cy="274320"/>
          </a:xfrm>
          <a:prstGeom prst="ellipse">
            <a:avLst/>
          </a:prstGeom>
          <a:solidFill>
            <a:schemeClr val="accent4"/>
          </a:solidFill>
          <a:ln w="12700">
            <a:solidFill>
              <a:schemeClr val="accent4"/>
            </a:solidFill>
            <a:prstDash val="solid"/>
          </a:ln>
        </p:spPr>
      </p:sp>
      <p:sp>
        <p:nvSpPr>
          <p:cNvPr id="6" name="Text 3"/>
          <p:cNvSpPr txBox="1"/>
          <p:nvPr/>
        </p:nvSpPr>
        <p:spPr>
          <a:xfrm>
            <a:off x="1024128" y="1353312"/>
            <a:ext cx="1965960" cy="310896"/>
          </a:xfrm>
          <a:prstGeom prst="rect">
            <a:avLst/>
          </a:prstGeom>
          <a:noFill/>
          <a:ln/>
        </p:spPr>
        <p:txBody>
          <a:bodyPr wrap="square" lIns="0" tIns="0" rIns="0" bIns="0" rtlCol="0" anchor="ctr"/>
          <a:lstStyle/>
          <a:p>
            <a:pPr indent="0" marL="0">
              <a:buNone/>
            </a:pPr>
            <a:r>
              <a:rPr lang="en-US" sz="1600" b="1" dirty="0">
                <a:solidFill>
                  <a:schemeClr val="tx2"/>
                </a:solidFill>
                <a:latin typeface="Arial" pitchFamily="34" charset="0"/>
                <a:ea typeface="Arial" pitchFamily="34" charset="-122"/>
                <a:cs typeface="Arial" pitchFamily="34" charset="-120"/>
              </a:rPr>
              <a:t>Agent does it</a:t>
            </a:r>
            <a:endParaRPr lang="en-US" sz="1600" dirty="0"/>
          </a:p>
        </p:txBody>
      </p:sp>
      <p:sp>
        <p:nvSpPr>
          <p:cNvPr id="7" name="Text 4"/>
          <p:cNvSpPr txBox="1"/>
          <p:nvPr/>
        </p:nvSpPr>
        <p:spPr>
          <a:xfrm>
            <a:off x="640080" y="1920240"/>
            <a:ext cx="2286000" cy="219456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latin typeface="Calibri" pitchFamily="34" charset="0"/>
                <a:ea typeface="Calibri" pitchFamily="34" charset="-122"/>
                <a:cs typeface="Calibri" pitchFamily="34" charset="-120"/>
              </a:rPr>
              <a:t>Profile the model</a:t>
            </a:r>
            <a:endParaRPr lang="en-US" sz="1500" dirty="0"/>
          </a:p>
          <a:p>
            <a:pPr marL="342900" indent="-342900">
              <a:spcAft>
                <a:spcPts val="600"/>
              </a:spcAft>
              <a:buSzPct val="100000"/>
              <a:buChar char="•"/>
            </a:pPr>
            <a:r>
              <a:rPr lang="en-US" sz="1500" dirty="0">
                <a:solidFill>
                  <a:schemeClr val="tx1"/>
                </a:solidFill>
                <a:latin typeface="Calibri" pitchFamily="34" charset="0"/>
                <a:ea typeface="Calibri" pitchFamily="34" charset="-122"/>
                <a:cs typeface="Calibri" pitchFamily="34" charset="-120"/>
              </a:rPr>
              <a:t>Relationships, measures</a:t>
            </a:r>
            <a:endParaRPr lang="en-US" sz="1500" dirty="0"/>
          </a:p>
          <a:p>
            <a:pPr marL="342900" indent="-342900">
              <a:spcAft>
                <a:spcPts val="600"/>
              </a:spcAft>
              <a:buSzPct val="100000"/>
              <a:buChar char="•"/>
            </a:pPr>
            <a:r>
              <a:rPr lang="en-US" sz="1500" dirty="0">
                <a:solidFill>
                  <a:schemeClr val="tx1"/>
                </a:solidFill>
                <a:latin typeface="Calibri" pitchFamily="34" charset="0"/>
                <a:ea typeface="Calibri" pitchFamily="34" charset="-122"/>
                <a:cs typeface="Calibri" pitchFamily="34" charset="-120"/>
              </a:rPr>
              <a:t>Build the report files</a:t>
            </a:r>
            <a:endParaRPr lang="en-US" sz="1500" dirty="0"/>
          </a:p>
          <a:p>
            <a:pPr marL="342900" indent="-342900">
              <a:spcAft>
                <a:spcPts val="600"/>
              </a:spcAft>
              <a:buSzPct val="100000"/>
              <a:buChar char="•"/>
            </a:pPr>
            <a:r>
              <a:rPr lang="en-US" sz="1500" dirty="0">
                <a:solidFill>
                  <a:schemeClr val="tx1"/>
                </a:solidFill>
                <a:latin typeface="Calibri" pitchFamily="34" charset="0"/>
                <a:ea typeface="Calibri" pitchFamily="34" charset="-122"/>
                <a:cs typeface="Calibri" pitchFamily="34" charset="-120"/>
              </a:rPr>
              <a:t>Data and render tests</a:t>
            </a:r>
            <a:endParaRPr lang="en-US" sz="1500" dirty="0"/>
          </a:p>
          <a:p>
            <a:pPr marL="342900" indent="-342900">
              <a:spcAft>
                <a:spcPts val="600"/>
              </a:spcAft>
              <a:buSzPct val="100000"/>
              <a:buChar char="•"/>
            </a:pPr>
            <a:r>
              <a:rPr lang="en-US" sz="1500" dirty="0">
                <a:solidFill>
                  <a:schemeClr val="tx1"/>
                </a:solidFill>
                <a:latin typeface="Calibri" pitchFamily="34" charset="0"/>
                <a:ea typeface="Calibri" pitchFamily="34" charset="-122"/>
                <a:cs typeface="Calibri" pitchFamily="34" charset="-120"/>
              </a:rPr>
              <a:t>Gated deploy</a:t>
            </a:r>
            <a:endParaRPr lang="en-US" sz="1500" dirty="0"/>
          </a:p>
        </p:txBody>
      </p:sp>
      <p:sp>
        <p:nvSpPr>
          <p:cNvPr id="8" name="card"/>
          <p:cNvSpPr/>
          <p:nvPr/>
        </p:nvSpPr>
        <p:spPr>
          <a:xfrm>
            <a:off x="3246120" y="1188720"/>
            <a:ext cx="2651760" cy="3017520"/>
          </a:xfrm>
          <a:prstGeom prst="roundRect">
            <a:avLst>
              <a:gd name="adj" fmla="val 3448"/>
            </a:avLst>
          </a:prstGeom>
          <a:solidFill>
            <a:schemeClr val="bg1"/>
          </a:solidFill>
          <a:ln w="9525">
            <a:solidFill>
              <a:srgbClr val="E3E0EE"/>
            </a:solidFill>
            <a:prstDash val="solid"/>
          </a:ln>
          <a:effectLst>
            <a:outerShdw sx="100000" sy="100000" kx="0" ky="0" algn="bl" rotWithShape="0" blurRad="76200" dist="25400" dir="5400000">
              <a:srgbClr val="1A1530">
                <a:alpha val="10000"/>
              </a:srgbClr>
            </a:outerShdw>
          </a:effectLst>
        </p:spPr>
      </p:sp>
      <p:sp>
        <p:nvSpPr>
          <p:cNvPr id="9" name="dot"/>
          <p:cNvSpPr/>
          <p:nvPr/>
        </p:nvSpPr>
        <p:spPr>
          <a:xfrm>
            <a:off x="3429000" y="1371600"/>
            <a:ext cx="274320" cy="274320"/>
          </a:xfrm>
          <a:prstGeom prst="ellipse">
            <a:avLst/>
          </a:prstGeom>
          <a:solidFill>
            <a:schemeClr val="accent3"/>
          </a:solidFill>
          <a:ln w="12700">
            <a:solidFill>
              <a:schemeClr val="accent3"/>
            </a:solidFill>
            <a:prstDash val="solid"/>
          </a:ln>
        </p:spPr>
      </p:sp>
      <p:sp>
        <p:nvSpPr>
          <p:cNvPr id="10" name="Text 7"/>
          <p:cNvSpPr txBox="1"/>
          <p:nvPr/>
        </p:nvSpPr>
        <p:spPr>
          <a:xfrm>
            <a:off x="3813048" y="1353312"/>
            <a:ext cx="1965960" cy="310896"/>
          </a:xfrm>
          <a:prstGeom prst="rect">
            <a:avLst/>
          </a:prstGeom>
          <a:noFill/>
          <a:ln/>
        </p:spPr>
        <p:txBody>
          <a:bodyPr wrap="square" lIns="0" tIns="0" rIns="0" bIns="0" rtlCol="0" anchor="ctr"/>
          <a:lstStyle/>
          <a:p>
            <a:pPr indent="0" marL="0">
              <a:buNone/>
            </a:pPr>
            <a:r>
              <a:rPr lang="en-US" sz="1600" b="1" dirty="0">
                <a:solidFill>
                  <a:schemeClr val="tx2"/>
                </a:solidFill>
                <a:latin typeface="Arial" pitchFamily="34" charset="0"/>
                <a:ea typeface="Arial" pitchFamily="34" charset="-122"/>
                <a:cs typeface="Arial" pitchFamily="34" charset="-120"/>
              </a:rPr>
              <a:t>Agent drafts, you decide</a:t>
            </a:r>
            <a:endParaRPr lang="en-US" sz="1600" dirty="0"/>
          </a:p>
        </p:txBody>
      </p:sp>
      <p:sp>
        <p:nvSpPr>
          <p:cNvPr id="11" name="Text 8"/>
          <p:cNvSpPr txBox="1"/>
          <p:nvPr/>
        </p:nvSpPr>
        <p:spPr>
          <a:xfrm>
            <a:off x="3429000" y="1920240"/>
            <a:ext cx="2286000" cy="219456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latin typeface="Calibri" pitchFamily="34" charset="0"/>
                <a:ea typeface="Calibri" pitchFamily="34" charset="-122"/>
                <a:cs typeface="Calibri" pitchFamily="34" charset="-120"/>
              </a:rPr>
              <a:t>Requirements and discovery</a:t>
            </a:r>
            <a:endParaRPr lang="en-US" sz="1500" dirty="0"/>
          </a:p>
          <a:p>
            <a:pPr marL="342900" indent="-342900">
              <a:spcAft>
                <a:spcPts val="600"/>
              </a:spcAft>
              <a:buSzPct val="100000"/>
              <a:buChar char="•"/>
            </a:pPr>
            <a:r>
              <a:rPr lang="en-US" sz="1500" dirty="0">
                <a:solidFill>
                  <a:schemeClr val="tx1"/>
                </a:solidFill>
                <a:latin typeface="Calibri" pitchFamily="34" charset="0"/>
                <a:ea typeface="Calibri" pitchFamily="34" charset="-122"/>
                <a:cs typeface="Calibri" pitchFamily="34" charset="-120"/>
              </a:rPr>
              <a:t>Page layout and design</a:t>
            </a:r>
            <a:endParaRPr lang="en-US" sz="1500" dirty="0"/>
          </a:p>
          <a:p>
            <a:pPr marL="342900" indent="-342900">
              <a:spcAft>
                <a:spcPts val="600"/>
              </a:spcAft>
              <a:buSzPct val="100000"/>
              <a:buChar char="•"/>
            </a:pPr>
            <a:r>
              <a:rPr lang="en-US" sz="1500" dirty="0">
                <a:solidFill>
                  <a:schemeClr val="tx1"/>
                </a:solidFill>
                <a:latin typeface="Calibri" pitchFamily="34" charset="0"/>
                <a:ea typeface="Calibri" pitchFamily="34" charset="-122"/>
                <a:cs typeface="Calibri" pitchFamily="34" charset="-120"/>
              </a:rPr>
              <a:t>Fixes for what the tests find</a:t>
            </a:r>
            <a:endParaRPr lang="en-US" sz="1500" dirty="0"/>
          </a:p>
        </p:txBody>
      </p:sp>
      <p:sp>
        <p:nvSpPr>
          <p:cNvPr id="12" name="card"/>
          <p:cNvSpPr/>
          <p:nvPr/>
        </p:nvSpPr>
        <p:spPr>
          <a:xfrm>
            <a:off x="6035040" y="1188720"/>
            <a:ext cx="2651760" cy="3017520"/>
          </a:xfrm>
          <a:prstGeom prst="roundRect">
            <a:avLst>
              <a:gd name="adj" fmla="val 3448"/>
            </a:avLst>
          </a:prstGeom>
          <a:solidFill>
            <a:schemeClr val="bg1"/>
          </a:solidFill>
          <a:ln w="9525">
            <a:solidFill>
              <a:srgbClr val="E3E0EE"/>
            </a:solidFill>
            <a:prstDash val="solid"/>
          </a:ln>
          <a:effectLst>
            <a:outerShdw sx="100000" sy="100000" kx="0" ky="0" algn="bl" rotWithShape="0" blurRad="76200" dist="25400" dir="5400000">
              <a:srgbClr val="1A1530">
                <a:alpha val="10000"/>
              </a:srgbClr>
            </a:outerShdw>
          </a:effectLst>
        </p:spPr>
      </p:sp>
      <p:sp>
        <p:nvSpPr>
          <p:cNvPr id="13" name="dot"/>
          <p:cNvSpPr/>
          <p:nvPr/>
        </p:nvSpPr>
        <p:spPr>
          <a:xfrm>
            <a:off x="6217920" y="1371600"/>
            <a:ext cx="274320" cy="274320"/>
          </a:xfrm>
          <a:prstGeom prst="ellipse">
            <a:avLst/>
          </a:prstGeom>
          <a:solidFill>
            <a:schemeClr val="accent5"/>
          </a:solidFill>
          <a:ln w="12700">
            <a:solidFill>
              <a:schemeClr val="accent5"/>
            </a:solidFill>
            <a:prstDash val="solid"/>
          </a:ln>
        </p:spPr>
      </p:sp>
      <p:sp>
        <p:nvSpPr>
          <p:cNvPr id="14" name="Text 11"/>
          <p:cNvSpPr txBox="1"/>
          <p:nvPr/>
        </p:nvSpPr>
        <p:spPr>
          <a:xfrm>
            <a:off x="6601968" y="1353312"/>
            <a:ext cx="1965960" cy="310896"/>
          </a:xfrm>
          <a:prstGeom prst="rect">
            <a:avLst/>
          </a:prstGeom>
          <a:noFill/>
          <a:ln/>
        </p:spPr>
        <p:txBody>
          <a:bodyPr wrap="square" lIns="0" tIns="0" rIns="0" bIns="0" rtlCol="0" anchor="ctr"/>
          <a:lstStyle/>
          <a:p>
            <a:pPr indent="0" marL="0">
              <a:buNone/>
            </a:pPr>
            <a:r>
              <a:rPr lang="en-US" sz="1600" b="1" dirty="0">
                <a:solidFill>
                  <a:schemeClr val="tx2"/>
                </a:solidFill>
                <a:latin typeface="Arial" pitchFamily="34" charset="0"/>
                <a:ea typeface="Arial" pitchFamily="34" charset="-122"/>
                <a:cs typeface="Arial" pitchFamily="34" charset="-120"/>
              </a:rPr>
              <a:t>Stays with a person</a:t>
            </a:r>
            <a:endParaRPr lang="en-US" sz="1600" dirty="0"/>
          </a:p>
        </p:txBody>
      </p:sp>
      <p:sp>
        <p:nvSpPr>
          <p:cNvPr id="15" name="Text 12"/>
          <p:cNvSpPr txBox="1"/>
          <p:nvPr/>
        </p:nvSpPr>
        <p:spPr>
          <a:xfrm>
            <a:off x="6217920" y="1920240"/>
            <a:ext cx="2286000" cy="219456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latin typeface="Calibri" pitchFamily="34" charset="0"/>
                <a:ea typeface="Calibri" pitchFamily="34" charset="-122"/>
                <a:cs typeface="Calibri" pitchFamily="34" charset="-120"/>
              </a:rPr>
              <a:t>Interaction testing</a:t>
            </a:r>
            <a:endParaRPr lang="en-US" sz="1500" dirty="0"/>
          </a:p>
          <a:p>
            <a:pPr marL="342900" indent="-342900">
              <a:spcAft>
                <a:spcPts val="600"/>
              </a:spcAft>
              <a:buSzPct val="100000"/>
              <a:buChar char="•"/>
            </a:pPr>
            <a:r>
              <a:rPr lang="en-US" sz="1500" dirty="0">
                <a:solidFill>
                  <a:schemeClr val="tx1"/>
                </a:solidFill>
                <a:latin typeface="Calibri" pitchFamily="34" charset="0"/>
                <a:ea typeface="Calibri" pitchFamily="34" charset="-122"/>
                <a:cs typeface="Calibri" pitchFamily="34" charset="-120"/>
              </a:rPr>
              <a:t>Sign-off and acceptance</a:t>
            </a:r>
            <a:endParaRPr lang="en-US" sz="1500" dirty="0"/>
          </a:p>
          <a:p>
            <a:pPr marL="342900" indent="-342900">
              <a:spcAft>
                <a:spcPts val="600"/>
              </a:spcAft>
              <a:buSzPct val="100000"/>
              <a:buChar char="•"/>
            </a:pPr>
            <a:r>
              <a:rPr lang="en-US" sz="1500" dirty="0">
                <a:solidFill>
                  <a:schemeClr val="tx1"/>
                </a:solidFill>
                <a:latin typeface="Calibri" pitchFamily="34" charset="0"/>
                <a:ea typeface="Calibri" pitchFamily="34" charset="-122"/>
                <a:cs typeface="Calibri" pitchFamily="34" charset="-120"/>
              </a:rPr>
              <a:t>Deciding what good means</a:t>
            </a:r>
            <a:endParaRPr lang="en-US" sz="1500" dirty="0"/>
          </a:p>
        </p:txBody>
      </p:sp>
      <p:sp>
        <p:nvSpPr>
          <p:cNvPr id="16" name="Text 13"/>
          <p:cNvSpPr txBox="1"/>
          <p:nvPr/>
        </p:nvSpPr>
        <p:spPr>
          <a:xfrm>
            <a:off x="457200" y="4315968"/>
            <a:ext cx="8229600" cy="365760"/>
          </a:xfrm>
          <a:prstGeom prst="rect">
            <a:avLst/>
          </a:prstGeom>
          <a:noFill/>
          <a:ln/>
        </p:spPr>
        <p:txBody>
          <a:bodyPr wrap="square" lIns="0" tIns="0" rIns="0" bIns="0" rtlCol="0" anchor="t"/>
          <a:lstStyle/>
          <a:p>
            <a:pPr indent="0" marL="0">
              <a:buNone/>
            </a:pPr>
            <a:r>
              <a:rPr lang="en-US" sz="1400" dirty="0">
                <a:solidFill>
                  <a:srgbClr val="6B6B6B"/>
                </a:solidFill>
                <a:latin typeface="Calibri" pitchFamily="34" charset="0"/>
                <a:ea typeface="Calibri" pitchFamily="34" charset="-122"/>
                <a:cs typeface="Calibri" pitchFamily="34" charset="-120"/>
              </a:rPr>
              <a:t>Creating tables from raw files is not covered by this tool: it profiles and wires what is already imported.</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888888"/>
                </a:solidFill>
                <a:latin typeface="Calibri"/>
                <a:ea typeface="Calibri"/>
                <a:cs typeface="Calibri"/>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1371600"/>
            <a:ext cx="7863840" cy="1371600"/>
          </a:xfrm>
          <a:prstGeom prst="rect">
            <a:avLst/>
          </a:prstGeom>
          <a:noFill/>
          <a:ln/>
        </p:spPr>
        <p:txBody>
          <a:bodyPr wrap="square" lIns="0" tIns="0" rIns="0" bIns="0" rtlCol="0" anchor="b"/>
          <a:lstStyle/>
          <a:p>
            <a:pPr algn="l" indent="0" marL="0">
              <a:buNone/>
            </a:pPr>
            <a:r>
              <a:rPr lang="en-US" sz="4000" b="1" dirty="0">
                <a:solidFill>
                  <a:schemeClr val="bg1"/>
                </a:solidFill>
                <a:latin typeface="Arial" pitchFamily="34" charset="0"/>
                <a:ea typeface="Arial" pitchFamily="34" charset="-122"/>
                <a:cs typeface="Arial" pitchFamily="34" charset="-120"/>
              </a:rPr>
              <a:t>Six ideas that matter</a:t>
            </a:r>
            <a:endParaRPr lang="en-US" sz="4000" dirty="0"/>
          </a:p>
        </p:txBody>
      </p:sp>
      <p:sp>
        <p:nvSpPr>
          <p:cNvPr id="3" name="Text 0"/>
          <p:cNvSpPr/>
          <p:nvPr>
            <p:ph idx="101" type="body" hasCustomPrompt="1"/>
          </p:nvPr>
        </p:nvSpPr>
        <p:spPr>
          <a:xfrm>
            <a:off x="548640" y="2926080"/>
            <a:ext cx="6949440" cy="914400"/>
          </a:xfrm>
          <a:prstGeom prst="rect">
            <a:avLst/>
          </a:prstGeom>
          <a:noFill/>
          <a:ln/>
        </p:spPr>
        <p:txBody>
          <a:bodyPr wrap="square" lIns="0" tIns="0" rIns="0" bIns="0" rtlCol="0" anchor="t"/>
          <a:lstStyle/>
          <a:p>
            <a:pPr algn="l" indent="0" marL="0">
              <a:buNone/>
            </a:pPr>
            <a:r>
              <a:rPr lang="en-US" sz="1800" dirty="0">
                <a:solidFill>
                  <a:srgbClr val="F0EEF8"/>
                </a:solidFill>
                <a:latin typeface="Calibri" pitchFamily="34" charset="0"/>
                <a:ea typeface="Calibri" pitchFamily="34" charset="-122"/>
                <a:cs typeface="Calibri" pitchFamily="34" charset="-120"/>
              </a:rPr>
              <a:t>Instructions, skills, hooks, loops, gates, MCP</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000" b="1" dirty="0">
                <a:solidFill>
                  <a:schemeClr val="tx2"/>
                </a:solidFill>
                <a:latin typeface="Arial" pitchFamily="34" charset="0"/>
                <a:ea typeface="Arial" pitchFamily="34" charset="-122"/>
                <a:cs typeface="Arial" pitchFamily="34" charset="-120"/>
              </a:rPr>
              <a:t>The vocabulary</a:t>
            </a:r>
            <a:endParaRPr lang="en-US" sz="3000" dirty="0"/>
          </a:p>
        </p:txBody>
      </p:sp>
      <p:sp>
        <p:nvSpPr>
          <p:cNvPr id="4" name="card"/>
          <p:cNvSpPr/>
          <p:nvPr/>
        </p:nvSpPr>
        <p:spPr>
          <a:xfrm>
            <a:off x="457200" y="1188720"/>
            <a:ext cx="2651760" cy="1600200"/>
          </a:xfrm>
          <a:prstGeom prst="roundRect">
            <a:avLst>
              <a:gd name="adj" fmla="val 5714"/>
            </a:avLst>
          </a:prstGeom>
          <a:solidFill>
            <a:schemeClr val="bg1"/>
          </a:solidFill>
          <a:ln w="9525">
            <a:solidFill>
              <a:srgbClr val="E3E0EE"/>
            </a:solidFill>
            <a:prstDash val="solid"/>
          </a:ln>
          <a:effectLst>
            <a:outerShdw sx="100000" sy="100000" kx="0" ky="0" algn="bl" rotWithShape="0" blurRad="76200" dist="25400" dir="5400000">
              <a:srgbClr val="1A1530">
                <a:alpha val="10000"/>
              </a:srgbClr>
            </a:outerShdw>
          </a:effectLst>
        </p:spPr>
      </p:sp>
      <p:sp>
        <p:nvSpPr>
          <p:cNvPr id="5" name="pill"/>
          <p:cNvSpPr/>
          <p:nvPr/>
        </p:nvSpPr>
        <p:spPr>
          <a:xfrm>
            <a:off x="640080" y="1371600"/>
            <a:ext cx="1005840" cy="274320"/>
          </a:xfrm>
          <a:prstGeom prst="roundRect">
            <a:avLst>
              <a:gd name="adj" fmla="val 50000"/>
            </a:avLst>
          </a:prstGeom>
          <a:solidFill>
            <a:schemeClr val="accent2"/>
          </a:solidFill>
          <a:ln w="12700">
            <a:solidFill>
              <a:schemeClr val="accent2"/>
            </a:solidFill>
            <a:prstDash val="solid"/>
          </a:ln>
        </p:spPr>
      </p:sp>
      <p:sp>
        <p:nvSpPr>
          <p:cNvPr id="6" name="Text 3"/>
          <p:cNvSpPr txBox="1"/>
          <p:nvPr/>
        </p:nvSpPr>
        <p:spPr>
          <a:xfrm>
            <a:off x="640080" y="1371600"/>
            <a:ext cx="1005840" cy="274320"/>
          </a:xfrm>
          <a:prstGeom prst="rect">
            <a:avLst/>
          </a:prstGeom>
          <a:noFill/>
          <a:ln/>
        </p:spPr>
        <p:txBody>
          <a:bodyPr wrap="square" lIns="0" tIns="0" rIns="0" bIns="0" rtlCol="0" anchor="ctr"/>
          <a:lstStyle/>
          <a:p>
            <a:pPr algn="ctr" indent="0" marL="0">
              <a:buNone/>
            </a:pPr>
            <a:r>
              <a:rPr lang="en-US" sz="1200" b="1" dirty="0">
                <a:solidFill>
                  <a:schemeClr val="bg1"/>
                </a:solidFill>
                <a:latin typeface="Courier New" pitchFamily="34" charset="0"/>
                <a:ea typeface="Courier New" pitchFamily="34" charset="-122"/>
                <a:cs typeface="Courier New" pitchFamily="34" charset="-120"/>
              </a:rPr>
              <a:t>ADVISORY</a:t>
            </a:r>
            <a:endParaRPr lang="en-US" sz="1200" dirty="0"/>
          </a:p>
        </p:txBody>
      </p:sp>
      <p:sp>
        <p:nvSpPr>
          <p:cNvPr id="7" name="Text 4"/>
          <p:cNvSpPr txBox="1"/>
          <p:nvPr/>
        </p:nvSpPr>
        <p:spPr>
          <a:xfrm>
            <a:off x="640080" y="1737360"/>
            <a:ext cx="2286000" cy="365760"/>
          </a:xfrm>
          <a:prstGeom prst="rect">
            <a:avLst/>
          </a:prstGeom>
          <a:noFill/>
          <a:ln/>
        </p:spPr>
        <p:txBody>
          <a:bodyPr wrap="square" lIns="0" tIns="0" rIns="0" bIns="0" rtlCol="0" anchor="ctr"/>
          <a:lstStyle/>
          <a:p>
            <a:pPr indent="0" marL="0">
              <a:buNone/>
            </a:pPr>
            <a:r>
              <a:rPr lang="en-US" sz="2000" b="1" dirty="0">
                <a:solidFill>
                  <a:schemeClr val="tx2"/>
                </a:solidFill>
                <a:latin typeface="Arial" pitchFamily="34" charset="0"/>
                <a:ea typeface="Arial" pitchFamily="34" charset="-122"/>
                <a:cs typeface="Arial" pitchFamily="34" charset="-120"/>
              </a:rPr>
              <a:t>CLAUDE.md</a:t>
            </a:r>
            <a:endParaRPr lang="en-US" sz="2000" dirty="0"/>
          </a:p>
        </p:txBody>
      </p:sp>
      <p:sp>
        <p:nvSpPr>
          <p:cNvPr id="8" name="Text 5"/>
          <p:cNvSpPr txBox="1"/>
          <p:nvPr/>
        </p:nvSpPr>
        <p:spPr>
          <a:xfrm>
            <a:off x="640080" y="2148840"/>
            <a:ext cx="2286000" cy="54864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Standing instructions, read every session</a:t>
            </a:r>
            <a:endParaRPr lang="en-US" sz="1400" dirty="0"/>
          </a:p>
        </p:txBody>
      </p:sp>
      <p:sp>
        <p:nvSpPr>
          <p:cNvPr id="9" name="card"/>
          <p:cNvSpPr/>
          <p:nvPr/>
        </p:nvSpPr>
        <p:spPr>
          <a:xfrm>
            <a:off x="3246120" y="1188720"/>
            <a:ext cx="2651760" cy="1600200"/>
          </a:xfrm>
          <a:prstGeom prst="roundRect">
            <a:avLst>
              <a:gd name="adj" fmla="val 5714"/>
            </a:avLst>
          </a:prstGeom>
          <a:solidFill>
            <a:schemeClr val="bg1"/>
          </a:solidFill>
          <a:ln w="9525">
            <a:solidFill>
              <a:srgbClr val="E3E0EE"/>
            </a:solidFill>
            <a:prstDash val="solid"/>
          </a:ln>
          <a:effectLst>
            <a:outerShdw sx="100000" sy="100000" kx="0" ky="0" algn="bl" rotWithShape="0" blurRad="76200" dist="25400" dir="5400000">
              <a:srgbClr val="1A1530">
                <a:alpha val="10000"/>
              </a:srgbClr>
            </a:outerShdw>
          </a:effectLst>
        </p:spPr>
      </p:sp>
      <p:sp>
        <p:nvSpPr>
          <p:cNvPr id="10" name="pill"/>
          <p:cNvSpPr/>
          <p:nvPr/>
        </p:nvSpPr>
        <p:spPr>
          <a:xfrm>
            <a:off x="3429000" y="1371600"/>
            <a:ext cx="1005840" cy="274320"/>
          </a:xfrm>
          <a:prstGeom prst="roundRect">
            <a:avLst>
              <a:gd name="adj" fmla="val 50000"/>
            </a:avLst>
          </a:prstGeom>
          <a:solidFill>
            <a:schemeClr val="accent2"/>
          </a:solidFill>
          <a:ln w="12700">
            <a:solidFill>
              <a:schemeClr val="accent2"/>
            </a:solidFill>
            <a:prstDash val="solid"/>
          </a:ln>
        </p:spPr>
      </p:sp>
      <p:sp>
        <p:nvSpPr>
          <p:cNvPr id="11" name="Text 8"/>
          <p:cNvSpPr txBox="1"/>
          <p:nvPr/>
        </p:nvSpPr>
        <p:spPr>
          <a:xfrm>
            <a:off x="3429000" y="1371600"/>
            <a:ext cx="1005840" cy="274320"/>
          </a:xfrm>
          <a:prstGeom prst="rect">
            <a:avLst/>
          </a:prstGeom>
          <a:noFill/>
          <a:ln/>
        </p:spPr>
        <p:txBody>
          <a:bodyPr wrap="square" lIns="0" tIns="0" rIns="0" bIns="0" rtlCol="0" anchor="ctr"/>
          <a:lstStyle/>
          <a:p>
            <a:pPr algn="ctr" indent="0" marL="0">
              <a:buNone/>
            </a:pPr>
            <a:r>
              <a:rPr lang="en-US" sz="1200" b="1" dirty="0">
                <a:solidFill>
                  <a:schemeClr val="bg1"/>
                </a:solidFill>
                <a:latin typeface="Courier New" pitchFamily="34" charset="0"/>
                <a:ea typeface="Courier New" pitchFamily="34" charset="-122"/>
                <a:cs typeface="Courier New" pitchFamily="34" charset="-120"/>
              </a:rPr>
              <a:t>ADVISORY</a:t>
            </a:r>
            <a:endParaRPr lang="en-US" sz="1200" dirty="0"/>
          </a:p>
        </p:txBody>
      </p:sp>
      <p:sp>
        <p:nvSpPr>
          <p:cNvPr id="12" name="Text 9"/>
          <p:cNvSpPr txBox="1"/>
          <p:nvPr/>
        </p:nvSpPr>
        <p:spPr>
          <a:xfrm>
            <a:off x="3429000" y="1737360"/>
            <a:ext cx="2286000" cy="365760"/>
          </a:xfrm>
          <a:prstGeom prst="rect">
            <a:avLst/>
          </a:prstGeom>
          <a:noFill/>
          <a:ln/>
        </p:spPr>
        <p:txBody>
          <a:bodyPr wrap="square" lIns="0" tIns="0" rIns="0" bIns="0" rtlCol="0" anchor="ctr"/>
          <a:lstStyle/>
          <a:p>
            <a:pPr indent="0" marL="0">
              <a:buNone/>
            </a:pPr>
            <a:r>
              <a:rPr lang="en-US" sz="2000" b="1" dirty="0">
                <a:solidFill>
                  <a:schemeClr val="tx2"/>
                </a:solidFill>
                <a:latin typeface="Arial" pitchFamily="34" charset="0"/>
                <a:ea typeface="Arial" pitchFamily="34" charset="-122"/>
                <a:cs typeface="Arial" pitchFamily="34" charset="-120"/>
              </a:rPr>
              <a:t>Skills</a:t>
            </a:r>
            <a:endParaRPr lang="en-US" sz="2000" dirty="0"/>
          </a:p>
        </p:txBody>
      </p:sp>
      <p:sp>
        <p:nvSpPr>
          <p:cNvPr id="13" name="Text 10"/>
          <p:cNvSpPr txBox="1"/>
          <p:nvPr/>
        </p:nvSpPr>
        <p:spPr>
          <a:xfrm>
            <a:off x="3429000" y="2148840"/>
            <a:ext cx="2286000" cy="54864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A repeatable recipe for one kind of job</a:t>
            </a:r>
            <a:endParaRPr lang="en-US" sz="1400" dirty="0"/>
          </a:p>
        </p:txBody>
      </p:sp>
      <p:sp>
        <p:nvSpPr>
          <p:cNvPr id="14" name="card"/>
          <p:cNvSpPr/>
          <p:nvPr/>
        </p:nvSpPr>
        <p:spPr>
          <a:xfrm>
            <a:off x="6035040" y="1188720"/>
            <a:ext cx="2651760" cy="1600200"/>
          </a:xfrm>
          <a:prstGeom prst="roundRect">
            <a:avLst>
              <a:gd name="adj" fmla="val 5714"/>
            </a:avLst>
          </a:prstGeom>
          <a:solidFill>
            <a:schemeClr val="bg1"/>
          </a:solidFill>
          <a:ln w="9525">
            <a:solidFill>
              <a:srgbClr val="E3E0EE"/>
            </a:solidFill>
            <a:prstDash val="solid"/>
          </a:ln>
          <a:effectLst>
            <a:outerShdw sx="100000" sy="100000" kx="0" ky="0" algn="bl" rotWithShape="0" blurRad="76200" dist="25400" dir="5400000">
              <a:srgbClr val="1A1530">
                <a:alpha val="10000"/>
              </a:srgbClr>
            </a:outerShdw>
          </a:effectLst>
        </p:spPr>
      </p:sp>
      <p:sp>
        <p:nvSpPr>
          <p:cNvPr id="15" name="pill"/>
          <p:cNvSpPr/>
          <p:nvPr/>
        </p:nvSpPr>
        <p:spPr>
          <a:xfrm>
            <a:off x="6217920" y="1371600"/>
            <a:ext cx="1005840" cy="274320"/>
          </a:xfrm>
          <a:prstGeom prst="roundRect">
            <a:avLst>
              <a:gd name="adj" fmla="val 50000"/>
            </a:avLst>
          </a:prstGeom>
          <a:solidFill>
            <a:schemeClr val="tx2"/>
          </a:solidFill>
          <a:ln w="12700">
            <a:solidFill>
              <a:schemeClr val="tx2"/>
            </a:solidFill>
            <a:prstDash val="solid"/>
          </a:ln>
        </p:spPr>
      </p:sp>
      <p:sp>
        <p:nvSpPr>
          <p:cNvPr id="16" name="Text 13"/>
          <p:cNvSpPr txBox="1"/>
          <p:nvPr/>
        </p:nvSpPr>
        <p:spPr>
          <a:xfrm>
            <a:off x="6217920" y="1371600"/>
            <a:ext cx="1005840" cy="274320"/>
          </a:xfrm>
          <a:prstGeom prst="rect">
            <a:avLst/>
          </a:prstGeom>
          <a:noFill/>
          <a:ln/>
        </p:spPr>
        <p:txBody>
          <a:bodyPr wrap="square" lIns="0" tIns="0" rIns="0" bIns="0" rtlCol="0" anchor="ctr"/>
          <a:lstStyle/>
          <a:p>
            <a:pPr algn="ctr" indent="0" marL="0">
              <a:buNone/>
            </a:pPr>
            <a:r>
              <a:rPr lang="en-US" sz="1200" b="1" dirty="0">
                <a:solidFill>
                  <a:schemeClr val="bg1"/>
                </a:solidFill>
                <a:latin typeface="Courier New" pitchFamily="34" charset="0"/>
                <a:ea typeface="Courier New" pitchFamily="34" charset="-122"/>
                <a:cs typeface="Courier New" pitchFamily="34" charset="-120"/>
              </a:rPr>
              <a:t>REACH</a:t>
            </a:r>
            <a:endParaRPr lang="en-US" sz="1200" dirty="0"/>
          </a:p>
        </p:txBody>
      </p:sp>
      <p:sp>
        <p:nvSpPr>
          <p:cNvPr id="17" name="Text 14"/>
          <p:cNvSpPr txBox="1"/>
          <p:nvPr/>
        </p:nvSpPr>
        <p:spPr>
          <a:xfrm>
            <a:off x="6217920" y="1737360"/>
            <a:ext cx="2286000" cy="365760"/>
          </a:xfrm>
          <a:prstGeom prst="rect">
            <a:avLst/>
          </a:prstGeom>
          <a:noFill/>
          <a:ln/>
        </p:spPr>
        <p:txBody>
          <a:bodyPr wrap="square" lIns="0" tIns="0" rIns="0" bIns="0" rtlCol="0" anchor="ctr"/>
          <a:lstStyle/>
          <a:p>
            <a:pPr indent="0" marL="0">
              <a:buNone/>
            </a:pPr>
            <a:r>
              <a:rPr lang="en-US" sz="2000" b="1" dirty="0">
                <a:solidFill>
                  <a:schemeClr val="tx2"/>
                </a:solidFill>
                <a:latin typeface="Arial" pitchFamily="34" charset="0"/>
                <a:ea typeface="Arial" pitchFamily="34" charset="-122"/>
                <a:cs typeface="Arial" pitchFamily="34" charset="-120"/>
              </a:rPr>
              <a:t>MCP</a:t>
            </a:r>
            <a:endParaRPr lang="en-US" sz="2000" dirty="0"/>
          </a:p>
        </p:txBody>
      </p:sp>
      <p:sp>
        <p:nvSpPr>
          <p:cNvPr id="18" name="Text 15"/>
          <p:cNvSpPr txBox="1"/>
          <p:nvPr/>
        </p:nvSpPr>
        <p:spPr>
          <a:xfrm>
            <a:off x="6217920" y="2148840"/>
            <a:ext cx="2286000" cy="54864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Live, typed access to tools and data</a:t>
            </a:r>
            <a:endParaRPr lang="en-US" sz="1400" dirty="0"/>
          </a:p>
        </p:txBody>
      </p:sp>
      <p:sp>
        <p:nvSpPr>
          <p:cNvPr id="19" name="card"/>
          <p:cNvSpPr/>
          <p:nvPr/>
        </p:nvSpPr>
        <p:spPr>
          <a:xfrm>
            <a:off x="457200" y="2926080"/>
            <a:ext cx="2651760" cy="1600200"/>
          </a:xfrm>
          <a:prstGeom prst="roundRect">
            <a:avLst>
              <a:gd name="adj" fmla="val 5714"/>
            </a:avLst>
          </a:prstGeom>
          <a:solidFill>
            <a:schemeClr val="bg1"/>
          </a:solidFill>
          <a:ln w="9525">
            <a:solidFill>
              <a:srgbClr val="E3E0EE"/>
            </a:solidFill>
            <a:prstDash val="solid"/>
          </a:ln>
          <a:effectLst>
            <a:outerShdw sx="100000" sy="100000" kx="0" ky="0" algn="bl" rotWithShape="0" blurRad="76200" dist="25400" dir="5400000">
              <a:srgbClr val="1A1530">
                <a:alpha val="10000"/>
              </a:srgbClr>
            </a:outerShdw>
          </a:effectLst>
        </p:spPr>
      </p:sp>
      <p:sp>
        <p:nvSpPr>
          <p:cNvPr id="20" name="pill"/>
          <p:cNvSpPr/>
          <p:nvPr/>
        </p:nvSpPr>
        <p:spPr>
          <a:xfrm>
            <a:off x="640080" y="3108960"/>
            <a:ext cx="1005840" cy="274320"/>
          </a:xfrm>
          <a:prstGeom prst="roundRect">
            <a:avLst>
              <a:gd name="adj" fmla="val 50000"/>
            </a:avLst>
          </a:prstGeom>
          <a:solidFill>
            <a:schemeClr val="accent1"/>
          </a:solidFill>
          <a:ln w="12700">
            <a:solidFill>
              <a:schemeClr val="accent1"/>
            </a:solidFill>
            <a:prstDash val="solid"/>
          </a:ln>
        </p:spPr>
      </p:sp>
      <p:sp>
        <p:nvSpPr>
          <p:cNvPr id="21" name="Text 18"/>
          <p:cNvSpPr txBox="1"/>
          <p:nvPr/>
        </p:nvSpPr>
        <p:spPr>
          <a:xfrm>
            <a:off x="640080" y="3108960"/>
            <a:ext cx="1005840" cy="274320"/>
          </a:xfrm>
          <a:prstGeom prst="rect">
            <a:avLst/>
          </a:prstGeom>
          <a:noFill/>
          <a:ln/>
        </p:spPr>
        <p:txBody>
          <a:bodyPr wrap="square" lIns="0" tIns="0" rIns="0" bIns="0" rtlCol="0" anchor="ctr"/>
          <a:lstStyle/>
          <a:p>
            <a:pPr algn="ctr" indent="0" marL="0">
              <a:buNone/>
            </a:pPr>
            <a:r>
              <a:rPr lang="en-US" sz="1200" b="1" dirty="0">
                <a:solidFill>
                  <a:schemeClr val="tx2"/>
                </a:solidFill>
                <a:latin typeface="Courier New" pitchFamily="34" charset="0"/>
                <a:ea typeface="Courier New" pitchFamily="34" charset="-122"/>
                <a:cs typeface="Courier New" pitchFamily="34" charset="-120"/>
              </a:rPr>
              <a:t>BLOCKING</a:t>
            </a:r>
            <a:endParaRPr lang="en-US" sz="1200" dirty="0"/>
          </a:p>
        </p:txBody>
      </p:sp>
      <p:sp>
        <p:nvSpPr>
          <p:cNvPr id="22" name="Text 19"/>
          <p:cNvSpPr txBox="1"/>
          <p:nvPr/>
        </p:nvSpPr>
        <p:spPr>
          <a:xfrm>
            <a:off x="640080" y="3474720"/>
            <a:ext cx="2286000" cy="365760"/>
          </a:xfrm>
          <a:prstGeom prst="rect">
            <a:avLst/>
          </a:prstGeom>
          <a:noFill/>
          <a:ln/>
        </p:spPr>
        <p:txBody>
          <a:bodyPr wrap="square" lIns="0" tIns="0" rIns="0" bIns="0" rtlCol="0" anchor="ctr"/>
          <a:lstStyle/>
          <a:p>
            <a:pPr indent="0" marL="0">
              <a:buNone/>
            </a:pPr>
            <a:r>
              <a:rPr lang="en-US" sz="2000" b="1" dirty="0">
                <a:solidFill>
                  <a:schemeClr val="tx2"/>
                </a:solidFill>
                <a:latin typeface="Arial" pitchFamily="34" charset="0"/>
                <a:ea typeface="Arial" pitchFamily="34" charset="-122"/>
                <a:cs typeface="Arial" pitchFamily="34" charset="-120"/>
              </a:rPr>
              <a:t>Hooks</a:t>
            </a:r>
            <a:endParaRPr lang="en-US" sz="2000" dirty="0"/>
          </a:p>
        </p:txBody>
      </p:sp>
      <p:sp>
        <p:nvSpPr>
          <p:cNvPr id="23" name="Text 20"/>
          <p:cNvSpPr txBox="1"/>
          <p:nvPr/>
        </p:nvSpPr>
        <p:spPr>
          <a:xfrm>
            <a:off x="640080" y="3886200"/>
            <a:ext cx="2286000" cy="54864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Run on every commit, remembered or not</a:t>
            </a:r>
            <a:endParaRPr lang="en-US" sz="1400" dirty="0"/>
          </a:p>
        </p:txBody>
      </p:sp>
      <p:sp>
        <p:nvSpPr>
          <p:cNvPr id="24" name="card"/>
          <p:cNvSpPr/>
          <p:nvPr/>
        </p:nvSpPr>
        <p:spPr>
          <a:xfrm>
            <a:off x="3246120" y="2926080"/>
            <a:ext cx="2651760" cy="1600200"/>
          </a:xfrm>
          <a:prstGeom prst="roundRect">
            <a:avLst>
              <a:gd name="adj" fmla="val 5714"/>
            </a:avLst>
          </a:prstGeom>
          <a:solidFill>
            <a:schemeClr val="bg1"/>
          </a:solidFill>
          <a:ln w="9525">
            <a:solidFill>
              <a:srgbClr val="E3E0EE"/>
            </a:solidFill>
            <a:prstDash val="solid"/>
          </a:ln>
          <a:effectLst>
            <a:outerShdw sx="100000" sy="100000" kx="0" ky="0" algn="bl" rotWithShape="0" blurRad="76200" dist="25400" dir="5400000">
              <a:srgbClr val="1A1530">
                <a:alpha val="10000"/>
              </a:srgbClr>
            </a:outerShdw>
          </a:effectLst>
        </p:spPr>
      </p:sp>
      <p:sp>
        <p:nvSpPr>
          <p:cNvPr id="25" name="pill"/>
          <p:cNvSpPr/>
          <p:nvPr/>
        </p:nvSpPr>
        <p:spPr>
          <a:xfrm>
            <a:off x="3429000" y="3108960"/>
            <a:ext cx="1005840" cy="274320"/>
          </a:xfrm>
          <a:prstGeom prst="roundRect">
            <a:avLst>
              <a:gd name="adj" fmla="val 50000"/>
            </a:avLst>
          </a:prstGeom>
          <a:solidFill>
            <a:schemeClr val="accent1"/>
          </a:solidFill>
          <a:ln w="12700">
            <a:solidFill>
              <a:schemeClr val="accent1"/>
            </a:solidFill>
            <a:prstDash val="solid"/>
          </a:ln>
        </p:spPr>
      </p:sp>
      <p:sp>
        <p:nvSpPr>
          <p:cNvPr id="26" name="Text 23"/>
          <p:cNvSpPr txBox="1"/>
          <p:nvPr/>
        </p:nvSpPr>
        <p:spPr>
          <a:xfrm>
            <a:off x="3429000" y="3108960"/>
            <a:ext cx="1005840" cy="274320"/>
          </a:xfrm>
          <a:prstGeom prst="rect">
            <a:avLst/>
          </a:prstGeom>
          <a:noFill/>
          <a:ln/>
        </p:spPr>
        <p:txBody>
          <a:bodyPr wrap="square" lIns="0" tIns="0" rIns="0" bIns="0" rtlCol="0" anchor="ctr"/>
          <a:lstStyle/>
          <a:p>
            <a:pPr algn="ctr" indent="0" marL="0">
              <a:buNone/>
            </a:pPr>
            <a:r>
              <a:rPr lang="en-US" sz="1200" b="1" dirty="0">
                <a:solidFill>
                  <a:schemeClr val="tx2"/>
                </a:solidFill>
                <a:latin typeface="Courier New" pitchFamily="34" charset="0"/>
                <a:ea typeface="Courier New" pitchFamily="34" charset="-122"/>
                <a:cs typeface="Courier New" pitchFamily="34" charset="-120"/>
              </a:rPr>
              <a:t>BLOCKING</a:t>
            </a:r>
            <a:endParaRPr lang="en-US" sz="1200" dirty="0"/>
          </a:p>
        </p:txBody>
      </p:sp>
      <p:sp>
        <p:nvSpPr>
          <p:cNvPr id="27" name="Text 24"/>
          <p:cNvSpPr txBox="1"/>
          <p:nvPr/>
        </p:nvSpPr>
        <p:spPr>
          <a:xfrm>
            <a:off x="3429000" y="3474720"/>
            <a:ext cx="2286000" cy="365760"/>
          </a:xfrm>
          <a:prstGeom prst="rect">
            <a:avLst/>
          </a:prstGeom>
          <a:noFill/>
          <a:ln/>
        </p:spPr>
        <p:txBody>
          <a:bodyPr wrap="square" lIns="0" tIns="0" rIns="0" bIns="0" rtlCol="0" anchor="ctr"/>
          <a:lstStyle/>
          <a:p>
            <a:pPr indent="0" marL="0">
              <a:buNone/>
            </a:pPr>
            <a:r>
              <a:rPr lang="en-US" sz="2000" b="1" dirty="0">
                <a:solidFill>
                  <a:schemeClr val="tx2"/>
                </a:solidFill>
                <a:latin typeface="Arial" pitchFamily="34" charset="0"/>
                <a:ea typeface="Arial" pitchFamily="34" charset="-122"/>
                <a:cs typeface="Arial" pitchFamily="34" charset="-120"/>
              </a:rPr>
              <a:t>Loops</a:t>
            </a:r>
            <a:endParaRPr lang="en-US" sz="2000" dirty="0"/>
          </a:p>
        </p:txBody>
      </p:sp>
      <p:sp>
        <p:nvSpPr>
          <p:cNvPr id="28" name="Text 25"/>
          <p:cNvSpPr txBox="1"/>
          <p:nvPr/>
        </p:nvSpPr>
        <p:spPr>
          <a:xfrm>
            <a:off x="3429000" y="3886200"/>
            <a:ext cx="2286000" cy="54864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Repeat until a check passes</a:t>
            </a:r>
            <a:endParaRPr lang="en-US" sz="1400" dirty="0"/>
          </a:p>
        </p:txBody>
      </p:sp>
      <p:sp>
        <p:nvSpPr>
          <p:cNvPr id="29" name="card"/>
          <p:cNvSpPr/>
          <p:nvPr/>
        </p:nvSpPr>
        <p:spPr>
          <a:xfrm>
            <a:off x="6035040" y="2926080"/>
            <a:ext cx="2651760" cy="1600200"/>
          </a:xfrm>
          <a:prstGeom prst="roundRect">
            <a:avLst>
              <a:gd name="adj" fmla="val 5714"/>
            </a:avLst>
          </a:prstGeom>
          <a:solidFill>
            <a:schemeClr val="bg1"/>
          </a:solidFill>
          <a:ln w="9525">
            <a:solidFill>
              <a:srgbClr val="E3E0EE"/>
            </a:solidFill>
            <a:prstDash val="solid"/>
          </a:ln>
          <a:effectLst>
            <a:outerShdw sx="100000" sy="100000" kx="0" ky="0" algn="bl" rotWithShape="0" blurRad="76200" dist="25400" dir="5400000">
              <a:srgbClr val="1A1530">
                <a:alpha val="10000"/>
              </a:srgbClr>
            </a:outerShdw>
          </a:effectLst>
        </p:spPr>
      </p:sp>
      <p:sp>
        <p:nvSpPr>
          <p:cNvPr id="30" name="pill"/>
          <p:cNvSpPr/>
          <p:nvPr/>
        </p:nvSpPr>
        <p:spPr>
          <a:xfrm>
            <a:off x="6217920" y="3108960"/>
            <a:ext cx="1005840" cy="274320"/>
          </a:xfrm>
          <a:prstGeom prst="roundRect">
            <a:avLst>
              <a:gd name="adj" fmla="val 50000"/>
            </a:avLst>
          </a:prstGeom>
          <a:solidFill>
            <a:schemeClr val="accent1"/>
          </a:solidFill>
          <a:ln w="12700">
            <a:solidFill>
              <a:schemeClr val="accent1"/>
            </a:solidFill>
            <a:prstDash val="solid"/>
          </a:ln>
        </p:spPr>
      </p:sp>
      <p:sp>
        <p:nvSpPr>
          <p:cNvPr id="31" name="Text 28"/>
          <p:cNvSpPr txBox="1"/>
          <p:nvPr/>
        </p:nvSpPr>
        <p:spPr>
          <a:xfrm>
            <a:off x="6217920" y="3108960"/>
            <a:ext cx="1005840" cy="274320"/>
          </a:xfrm>
          <a:prstGeom prst="rect">
            <a:avLst/>
          </a:prstGeom>
          <a:noFill/>
          <a:ln/>
        </p:spPr>
        <p:txBody>
          <a:bodyPr wrap="square" lIns="0" tIns="0" rIns="0" bIns="0" rtlCol="0" anchor="ctr"/>
          <a:lstStyle/>
          <a:p>
            <a:pPr algn="ctr" indent="0" marL="0">
              <a:buNone/>
            </a:pPr>
            <a:r>
              <a:rPr lang="en-US" sz="1200" b="1" dirty="0">
                <a:solidFill>
                  <a:schemeClr val="tx2"/>
                </a:solidFill>
                <a:latin typeface="Courier New" pitchFamily="34" charset="0"/>
                <a:ea typeface="Courier New" pitchFamily="34" charset="-122"/>
                <a:cs typeface="Courier New" pitchFamily="34" charset="-120"/>
              </a:rPr>
              <a:t>BLOCKING</a:t>
            </a:r>
            <a:endParaRPr lang="en-US" sz="1200" dirty="0"/>
          </a:p>
        </p:txBody>
      </p:sp>
      <p:sp>
        <p:nvSpPr>
          <p:cNvPr id="32" name="Text 29"/>
          <p:cNvSpPr txBox="1"/>
          <p:nvPr/>
        </p:nvSpPr>
        <p:spPr>
          <a:xfrm>
            <a:off x="6217920" y="3474720"/>
            <a:ext cx="2286000" cy="365760"/>
          </a:xfrm>
          <a:prstGeom prst="rect">
            <a:avLst/>
          </a:prstGeom>
          <a:noFill/>
          <a:ln/>
        </p:spPr>
        <p:txBody>
          <a:bodyPr wrap="square" lIns="0" tIns="0" rIns="0" bIns="0" rtlCol="0" anchor="ctr"/>
          <a:lstStyle/>
          <a:p>
            <a:pPr indent="0" marL="0">
              <a:buNone/>
            </a:pPr>
            <a:r>
              <a:rPr lang="en-US" sz="2000" b="1" dirty="0">
                <a:solidFill>
                  <a:schemeClr val="tx2"/>
                </a:solidFill>
                <a:latin typeface="Arial" pitchFamily="34" charset="0"/>
                <a:ea typeface="Arial" pitchFamily="34" charset="-122"/>
                <a:cs typeface="Arial" pitchFamily="34" charset="-120"/>
              </a:rPr>
              <a:t>Gates</a:t>
            </a:r>
            <a:endParaRPr lang="en-US" sz="2000" dirty="0"/>
          </a:p>
        </p:txBody>
      </p:sp>
      <p:sp>
        <p:nvSpPr>
          <p:cNvPr id="33" name="Text 30"/>
          <p:cNvSpPr txBox="1"/>
          <p:nvPr/>
        </p:nvSpPr>
        <p:spPr>
          <a:xfrm>
            <a:off x="6217920" y="3886200"/>
            <a:ext cx="2286000" cy="54864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Refuse to advance without a pass or a signature</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888888"/>
                </a:solidFill>
                <a:latin typeface="Calibri"/>
                <a:ea typeface="Calibri"/>
                <a:cs typeface="Calibri"/>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000" b="1" dirty="0">
                <a:solidFill>
                  <a:schemeClr val="tx2"/>
                </a:solidFill>
                <a:latin typeface="Arial" pitchFamily="34" charset="0"/>
                <a:ea typeface="Arial" pitchFamily="34" charset="-122"/>
                <a:cs typeface="Arial" pitchFamily="34" charset="-120"/>
              </a:rPr>
              <a:t>Advisory or blocking?</a:t>
            </a:r>
            <a:endParaRPr lang="en-US" sz="3000" dirty="0"/>
          </a:p>
        </p:txBody>
      </p:sp>
      <p:sp>
        <p:nvSpPr>
          <p:cNvPr id="4" name="card"/>
          <p:cNvSpPr/>
          <p:nvPr/>
        </p:nvSpPr>
        <p:spPr>
          <a:xfrm>
            <a:off x="457200" y="1188720"/>
            <a:ext cx="3931920" cy="2331720"/>
          </a:xfrm>
          <a:prstGeom prst="roundRect">
            <a:avLst>
              <a:gd name="adj" fmla="val 3922"/>
            </a:avLst>
          </a:prstGeom>
          <a:solidFill>
            <a:srgbClr val="F0EEF8"/>
          </a:solidFill>
          <a:ln w="9525">
            <a:solidFill>
              <a:srgbClr val="E3E0EE"/>
            </a:solidFill>
            <a:prstDash val="solid"/>
          </a:ln>
          <a:effectLst>
            <a:outerShdw sx="100000" sy="100000" kx="0" ky="0" algn="bl" rotWithShape="0" blurRad="76200" dist="25400" dir="5400000">
              <a:srgbClr val="1A1530">
                <a:alpha val="10000"/>
              </a:srgbClr>
            </a:outerShdw>
          </a:effectLst>
        </p:spPr>
      </p:sp>
      <p:sp>
        <p:nvSpPr>
          <p:cNvPr id="5" name="Text 2"/>
          <p:cNvSpPr txBox="1"/>
          <p:nvPr/>
        </p:nvSpPr>
        <p:spPr>
          <a:xfrm>
            <a:off x="731520" y="1371600"/>
            <a:ext cx="3383280" cy="365760"/>
          </a:xfrm>
          <a:prstGeom prst="rect">
            <a:avLst/>
          </a:prstGeom>
          <a:noFill/>
          <a:ln/>
        </p:spPr>
        <p:txBody>
          <a:bodyPr wrap="square" lIns="0" tIns="0" rIns="0" bIns="0" rtlCol="0" anchor="t"/>
          <a:lstStyle/>
          <a:p>
            <a:pPr indent="0" marL="0">
              <a:buNone/>
            </a:pPr>
            <a:r>
              <a:rPr lang="en-US" sz="2400" b="1" dirty="0">
                <a:solidFill>
                  <a:schemeClr val="accent2"/>
                </a:solidFill>
                <a:latin typeface="Arial" pitchFamily="34" charset="0"/>
                <a:ea typeface="Arial" pitchFamily="34" charset="-122"/>
                <a:cs typeface="Arial" pitchFamily="34" charset="-120"/>
              </a:rPr>
              <a:t>Advisory</a:t>
            </a:r>
            <a:endParaRPr lang="en-US" sz="2400" dirty="0"/>
          </a:p>
        </p:txBody>
      </p:sp>
      <p:sp>
        <p:nvSpPr>
          <p:cNvPr id="6" name="Text 3"/>
          <p:cNvSpPr txBox="1"/>
          <p:nvPr/>
        </p:nvSpPr>
        <p:spPr>
          <a:xfrm>
            <a:off x="731520" y="1874520"/>
            <a:ext cx="3383280" cy="365760"/>
          </a:xfrm>
          <a:prstGeom prst="rect">
            <a:avLst/>
          </a:prstGeom>
          <a:noFill/>
          <a:ln/>
        </p:spPr>
        <p:txBody>
          <a:bodyPr wrap="square" lIns="0" tIns="0" rIns="0" bIns="0" rtlCol="0" anchor="t"/>
          <a:lstStyle/>
          <a:p>
            <a:pPr indent="0" marL="0">
              <a:buNone/>
            </a:pPr>
            <a:r>
              <a:rPr lang="en-US" sz="1600" b="1" dirty="0">
                <a:solidFill>
                  <a:schemeClr val="tx1"/>
                </a:solidFill>
                <a:latin typeface="Calibri" pitchFamily="34" charset="0"/>
                <a:ea typeface="Calibri" pitchFamily="34" charset="-122"/>
                <a:cs typeface="Calibri" pitchFamily="34" charset="-120"/>
              </a:rPr>
              <a:t>Instructions and skills.</a:t>
            </a:r>
            <a:endParaRPr lang="en-US" sz="1600" dirty="0"/>
          </a:p>
        </p:txBody>
      </p:sp>
      <p:sp>
        <p:nvSpPr>
          <p:cNvPr id="7" name="Text 4"/>
          <p:cNvSpPr txBox="1"/>
          <p:nvPr/>
        </p:nvSpPr>
        <p:spPr>
          <a:xfrm>
            <a:off x="731520" y="2286000"/>
            <a:ext cx="3383280" cy="1097280"/>
          </a:xfrm>
          <a:prstGeom prst="rect">
            <a:avLst/>
          </a:prstGeom>
          <a:noFill/>
          <a:ln/>
        </p:spPr>
        <p:txBody>
          <a:bodyPr wrap="square" lIns="0" tIns="0" rIns="0" bIns="0" rtlCol="0" anchor="t"/>
          <a:lstStyle/>
          <a:p>
            <a:pPr indent="0" marL="0">
              <a:buNone/>
            </a:pPr>
            <a:r>
              <a:rPr lang="en-US" sz="1600" dirty="0">
                <a:solidFill>
                  <a:schemeClr val="tx1"/>
                </a:solidFill>
                <a:latin typeface="Calibri" pitchFamily="34" charset="0"/>
                <a:ea typeface="Calibri" pitchFamily="34" charset="-122"/>
                <a:cs typeface="Calibri" pitchFamily="34" charset="-120"/>
              </a:rPr>
              <a:t>The agent decides whether to read them. Nothing fails if it does not.</a:t>
            </a:r>
            <a:endParaRPr lang="en-US" sz="1600" dirty="0"/>
          </a:p>
        </p:txBody>
      </p:sp>
      <p:sp>
        <p:nvSpPr>
          <p:cNvPr id="8" name="card"/>
          <p:cNvSpPr/>
          <p:nvPr/>
        </p:nvSpPr>
        <p:spPr>
          <a:xfrm>
            <a:off x="4754880" y="1188720"/>
            <a:ext cx="3931920" cy="2331720"/>
          </a:xfrm>
          <a:prstGeom prst="roundRect">
            <a:avLst>
              <a:gd name="adj" fmla="val 3922"/>
            </a:avLst>
          </a:prstGeom>
          <a:solidFill>
            <a:schemeClr val="tx2"/>
          </a:solidFill>
          <a:ln w="9525">
            <a:solidFill>
              <a:srgbClr val="1A1530"/>
            </a:solidFill>
            <a:prstDash val="solid"/>
          </a:ln>
          <a:effectLst>
            <a:outerShdw sx="100000" sy="100000" kx="0" ky="0" algn="bl" rotWithShape="0" blurRad="76200" dist="25400" dir="5400000">
              <a:srgbClr val="1A1530">
                <a:alpha val="10000"/>
              </a:srgbClr>
            </a:outerShdw>
          </a:effectLst>
        </p:spPr>
      </p:sp>
      <p:sp>
        <p:nvSpPr>
          <p:cNvPr id="9" name="Text 6"/>
          <p:cNvSpPr txBox="1"/>
          <p:nvPr/>
        </p:nvSpPr>
        <p:spPr>
          <a:xfrm>
            <a:off x="5029200" y="1371600"/>
            <a:ext cx="3383280" cy="365760"/>
          </a:xfrm>
          <a:prstGeom prst="rect">
            <a:avLst/>
          </a:prstGeom>
          <a:noFill/>
          <a:ln/>
        </p:spPr>
        <p:txBody>
          <a:bodyPr wrap="square" lIns="0" tIns="0" rIns="0" bIns="0" rtlCol="0" anchor="t"/>
          <a:lstStyle/>
          <a:p>
            <a:pPr indent="0" marL="0">
              <a:buNone/>
            </a:pPr>
            <a:r>
              <a:rPr lang="en-US" sz="2400" b="1" dirty="0">
                <a:solidFill>
                  <a:schemeClr val="accent1"/>
                </a:solidFill>
                <a:latin typeface="Arial" pitchFamily="34" charset="0"/>
                <a:ea typeface="Arial" pitchFamily="34" charset="-122"/>
                <a:cs typeface="Arial" pitchFamily="34" charset="-120"/>
              </a:rPr>
              <a:t>Blocking</a:t>
            </a:r>
            <a:endParaRPr lang="en-US" sz="2400" dirty="0"/>
          </a:p>
        </p:txBody>
      </p:sp>
      <p:sp>
        <p:nvSpPr>
          <p:cNvPr id="10" name="Text 7"/>
          <p:cNvSpPr txBox="1"/>
          <p:nvPr/>
        </p:nvSpPr>
        <p:spPr>
          <a:xfrm>
            <a:off x="5029200" y="1874520"/>
            <a:ext cx="3383280" cy="365760"/>
          </a:xfrm>
          <a:prstGeom prst="rect">
            <a:avLst/>
          </a:prstGeom>
          <a:noFill/>
          <a:ln/>
        </p:spPr>
        <p:txBody>
          <a:bodyPr wrap="square" lIns="0" tIns="0" rIns="0" bIns="0" rtlCol="0" anchor="t"/>
          <a:lstStyle/>
          <a:p>
            <a:pPr indent="0" marL="0">
              <a:buNone/>
            </a:pPr>
            <a:r>
              <a:rPr lang="en-US" sz="1600" b="1" dirty="0">
                <a:solidFill>
                  <a:schemeClr val="bg1"/>
                </a:solidFill>
                <a:latin typeface="Calibri" pitchFamily="34" charset="0"/>
                <a:ea typeface="Calibri" pitchFamily="34" charset="-122"/>
                <a:cs typeface="Calibri" pitchFamily="34" charset="-120"/>
              </a:rPr>
              <a:t>Hooks and gates.</a:t>
            </a:r>
            <a:endParaRPr lang="en-US" sz="1600" dirty="0"/>
          </a:p>
        </p:txBody>
      </p:sp>
      <p:sp>
        <p:nvSpPr>
          <p:cNvPr id="11" name="Text 8"/>
          <p:cNvSpPr txBox="1"/>
          <p:nvPr/>
        </p:nvSpPr>
        <p:spPr>
          <a:xfrm>
            <a:off x="5029200" y="2286000"/>
            <a:ext cx="3383280" cy="1097280"/>
          </a:xfrm>
          <a:prstGeom prst="rect">
            <a:avLst/>
          </a:prstGeom>
          <a:noFill/>
          <a:ln/>
        </p:spPr>
        <p:txBody>
          <a:bodyPr wrap="square" lIns="0" tIns="0" rIns="0" bIns="0" rtlCol="0" anchor="t"/>
          <a:lstStyle/>
          <a:p>
            <a:pPr indent="0" marL="0">
              <a:buNone/>
            </a:pPr>
            <a:r>
              <a:rPr lang="en-US" sz="1600" dirty="0">
                <a:solidFill>
                  <a:schemeClr val="bg1"/>
                </a:solidFill>
                <a:latin typeface="Calibri" pitchFamily="34" charset="0"/>
                <a:ea typeface="Calibri" pitchFamily="34" charset="-122"/>
                <a:cs typeface="Calibri" pitchFamily="34" charset="-120"/>
              </a:rPr>
              <a:t>The agent cannot walk past them. A failing check stops the build.</a:t>
            </a:r>
            <a:endParaRPr lang="en-US" sz="1600" dirty="0"/>
          </a:p>
        </p:txBody>
      </p:sp>
      <p:sp>
        <p:nvSpPr>
          <p:cNvPr id="12" name="arrow"/>
          <p:cNvSpPr/>
          <p:nvPr/>
        </p:nvSpPr>
        <p:spPr>
          <a:xfrm>
            <a:off x="4160520" y="2148840"/>
            <a:ext cx="822960" cy="411480"/>
          </a:xfrm>
          <a:prstGeom prst="rightArrow">
            <a:avLst/>
          </a:prstGeom>
          <a:solidFill>
            <a:schemeClr val="accent1"/>
          </a:solidFill>
          <a:ln w="12700">
            <a:solidFill>
              <a:schemeClr val="accent1"/>
            </a:solidFill>
            <a:prstDash val="solid"/>
          </a:ln>
        </p:spPr>
      </p:sp>
      <p:sp>
        <p:nvSpPr>
          <p:cNvPr id="13" name="Text 10"/>
          <p:cNvSpPr txBox="1"/>
          <p:nvPr/>
        </p:nvSpPr>
        <p:spPr>
          <a:xfrm>
            <a:off x="457200" y="3794760"/>
            <a:ext cx="8229600" cy="640080"/>
          </a:xfrm>
          <a:prstGeom prst="rect">
            <a:avLst/>
          </a:prstGeom>
          <a:noFill/>
          <a:ln/>
        </p:spPr>
        <p:txBody>
          <a:bodyPr wrap="square" lIns="0" tIns="0" rIns="0" bIns="0" rtlCol="0" anchor="t"/>
          <a:lstStyle/>
          <a:p>
            <a:pPr indent="0" marL="0">
              <a:buNone/>
            </a:pPr>
            <a:r>
              <a:rPr lang="en-US" sz="1700" b="1" dirty="0">
                <a:solidFill>
                  <a:schemeClr val="tx2"/>
                </a:solidFill>
                <a:latin typeface="Calibri" pitchFamily="34" charset="0"/>
                <a:ea typeface="Calibri" pitchFamily="34" charset="-122"/>
                <a:cs typeface="Calibri" pitchFamily="34" charset="-120"/>
              </a:rPr>
              <a:t>Opt-in, advisory, tool-specific, runtime-bypassable: why knowledge files alone are not enough.</a:t>
            </a:r>
            <a:endParaRPr lang="en-US" sz="17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888888"/>
                </a:solidFill>
                <a:latin typeface="Calibri"/>
                <a:ea typeface="Calibri"/>
                <a:cs typeface="Calibri"/>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000" b="1" dirty="0">
                <a:solidFill>
                  <a:schemeClr val="tx2"/>
                </a:solidFill>
                <a:latin typeface="Arial" pitchFamily="34" charset="0"/>
                <a:ea typeface="Arial" pitchFamily="34" charset="-122"/>
                <a:cs typeface="Arial" pitchFamily="34" charset="-120"/>
              </a:rPr>
              <a:t>What each one looks like in practice</a:t>
            </a:r>
            <a:endParaRPr lang="en-US" sz="3000" dirty="0"/>
          </a:p>
        </p:txBody>
      </p:sp>
      <p:sp>
        <p:nvSpPr>
          <p:cNvPr id="4" name="card"/>
          <p:cNvSpPr/>
          <p:nvPr/>
        </p:nvSpPr>
        <p:spPr>
          <a:xfrm>
            <a:off x="457200" y="1188720"/>
            <a:ext cx="8229600" cy="548640"/>
          </a:xfrm>
          <a:prstGeom prst="roundRect">
            <a:avLst>
              <a:gd name="adj" fmla="val 16667"/>
            </a:avLst>
          </a:prstGeom>
          <a:solidFill>
            <a:schemeClr val="bg1"/>
          </a:solidFill>
          <a:ln w="9525">
            <a:solidFill>
              <a:srgbClr val="E3E0EE"/>
            </a:solidFill>
            <a:prstDash val="solid"/>
          </a:ln>
        </p:spPr>
      </p:sp>
      <p:sp>
        <p:nvSpPr>
          <p:cNvPr id="5" name="Text 2"/>
          <p:cNvSpPr txBox="1"/>
          <p:nvPr/>
        </p:nvSpPr>
        <p:spPr>
          <a:xfrm>
            <a:off x="640080" y="1188720"/>
            <a:ext cx="1463040" cy="548640"/>
          </a:xfrm>
          <a:prstGeom prst="rect">
            <a:avLst/>
          </a:prstGeom>
          <a:noFill/>
          <a:ln/>
        </p:spPr>
        <p:txBody>
          <a:bodyPr wrap="square" lIns="0" tIns="0" rIns="0" bIns="0" rtlCol="0" anchor="ctr"/>
          <a:lstStyle/>
          <a:p>
            <a:pPr indent="0" marL="0">
              <a:buNone/>
            </a:pPr>
            <a:r>
              <a:rPr lang="en-US" sz="1600" b="1" dirty="0">
                <a:solidFill>
                  <a:schemeClr val="tx2"/>
                </a:solidFill>
                <a:latin typeface="Arial" pitchFamily="34" charset="0"/>
                <a:ea typeface="Arial" pitchFamily="34" charset="-122"/>
                <a:cs typeface="Arial" pitchFamily="34" charset="-120"/>
              </a:rPr>
              <a:t>Instructions</a:t>
            </a:r>
            <a:endParaRPr lang="en-US" sz="1600" dirty="0"/>
          </a:p>
        </p:txBody>
      </p:sp>
      <p:sp>
        <p:nvSpPr>
          <p:cNvPr id="6" name="Text 3"/>
          <p:cNvSpPr txBox="1"/>
          <p:nvPr/>
        </p:nvSpPr>
        <p:spPr>
          <a:xfrm>
            <a:off x="2194560" y="1188720"/>
            <a:ext cx="2651760" cy="548640"/>
          </a:xfrm>
          <a:prstGeom prst="rect">
            <a:avLst/>
          </a:prstGeom>
          <a:noFill/>
          <a:ln/>
        </p:spPr>
        <p:txBody>
          <a:bodyPr wrap="square" lIns="0" tIns="0" rIns="0" bIns="0" rtlCol="0" anchor="ctr"/>
          <a:lstStyle/>
          <a:p>
            <a:pPr indent="0" marL="0">
              <a:buNone/>
            </a:pPr>
            <a:r>
              <a:rPr lang="en-US" sz="1300" dirty="0">
                <a:solidFill>
                  <a:schemeClr val="accent2"/>
                </a:solidFill>
                <a:latin typeface="Courier New" pitchFamily="34" charset="0"/>
                <a:ea typeface="Courier New" pitchFamily="34" charset="-122"/>
                <a:cs typeface="Courier New" pitchFamily="34" charset="-120"/>
              </a:rPr>
              <a:t>AGENTS.md</a:t>
            </a:r>
            <a:endParaRPr lang="en-US" sz="1300" dirty="0"/>
          </a:p>
        </p:txBody>
      </p:sp>
      <p:sp>
        <p:nvSpPr>
          <p:cNvPr id="7" name="Text 4"/>
          <p:cNvSpPr txBox="1"/>
          <p:nvPr/>
        </p:nvSpPr>
        <p:spPr>
          <a:xfrm>
            <a:off x="4937760" y="1188720"/>
            <a:ext cx="3657600" cy="548640"/>
          </a:xfrm>
          <a:prstGeom prst="rect">
            <a:avLst/>
          </a:prstGeom>
          <a:noFill/>
          <a:ln/>
        </p:spPr>
        <p:txBody>
          <a:bodyPr wrap="square" lIns="0" tIns="0" rIns="0" bIns="0" rtlCol="0" anchor="ctr"/>
          <a:lstStyle/>
          <a:p>
            <a:pPr indent="0" marL="0">
              <a:buNone/>
            </a:pPr>
            <a:r>
              <a:rPr lang="en-US" sz="1400" dirty="0">
                <a:solidFill>
                  <a:schemeClr val="tx1"/>
                </a:solidFill>
                <a:latin typeface="Calibri" pitchFamily="34" charset="0"/>
                <a:ea typeface="Calibri" pitchFamily="34" charset="-122"/>
                <a:cs typeface="Calibri" pitchFamily="34" charset="-120"/>
              </a:rPr>
              <a:t>Never name a client. Fixes go in the engine.</a:t>
            </a:r>
            <a:endParaRPr lang="en-US" sz="1400" dirty="0"/>
          </a:p>
        </p:txBody>
      </p:sp>
      <p:sp>
        <p:nvSpPr>
          <p:cNvPr id="8" name="card"/>
          <p:cNvSpPr/>
          <p:nvPr/>
        </p:nvSpPr>
        <p:spPr>
          <a:xfrm>
            <a:off x="457200" y="1828800"/>
            <a:ext cx="8229600" cy="548640"/>
          </a:xfrm>
          <a:prstGeom prst="roundRect">
            <a:avLst>
              <a:gd name="adj" fmla="val 16667"/>
            </a:avLst>
          </a:prstGeom>
          <a:solidFill>
            <a:schemeClr val="bg1"/>
          </a:solidFill>
          <a:ln w="9525">
            <a:solidFill>
              <a:srgbClr val="E3E0EE"/>
            </a:solidFill>
            <a:prstDash val="solid"/>
          </a:ln>
        </p:spPr>
      </p:sp>
      <p:sp>
        <p:nvSpPr>
          <p:cNvPr id="9" name="Text 6"/>
          <p:cNvSpPr txBox="1"/>
          <p:nvPr/>
        </p:nvSpPr>
        <p:spPr>
          <a:xfrm>
            <a:off x="640080" y="1828800"/>
            <a:ext cx="1463040" cy="548640"/>
          </a:xfrm>
          <a:prstGeom prst="rect">
            <a:avLst/>
          </a:prstGeom>
          <a:noFill/>
          <a:ln/>
        </p:spPr>
        <p:txBody>
          <a:bodyPr wrap="square" lIns="0" tIns="0" rIns="0" bIns="0" rtlCol="0" anchor="ctr"/>
          <a:lstStyle/>
          <a:p>
            <a:pPr indent="0" marL="0">
              <a:buNone/>
            </a:pPr>
            <a:r>
              <a:rPr lang="en-US" sz="1600" b="1" dirty="0">
                <a:solidFill>
                  <a:schemeClr val="tx2"/>
                </a:solidFill>
                <a:latin typeface="Arial" pitchFamily="34" charset="0"/>
                <a:ea typeface="Arial" pitchFamily="34" charset="-122"/>
                <a:cs typeface="Arial" pitchFamily="34" charset="-120"/>
              </a:rPr>
              <a:t>Skills</a:t>
            </a:r>
            <a:endParaRPr lang="en-US" sz="1600" dirty="0"/>
          </a:p>
        </p:txBody>
      </p:sp>
      <p:sp>
        <p:nvSpPr>
          <p:cNvPr id="10" name="Text 7"/>
          <p:cNvSpPr txBox="1"/>
          <p:nvPr/>
        </p:nvSpPr>
        <p:spPr>
          <a:xfrm>
            <a:off x="2194560" y="1828800"/>
            <a:ext cx="2651760" cy="548640"/>
          </a:xfrm>
          <a:prstGeom prst="rect">
            <a:avLst/>
          </a:prstGeom>
          <a:noFill/>
          <a:ln/>
        </p:spPr>
        <p:txBody>
          <a:bodyPr wrap="square" lIns="0" tIns="0" rIns="0" bIns="0" rtlCol="0" anchor="ctr"/>
          <a:lstStyle/>
          <a:p>
            <a:pPr indent="0" marL="0">
              <a:buNone/>
            </a:pPr>
            <a:r>
              <a:rPr lang="en-US" sz="1300" dirty="0">
                <a:solidFill>
                  <a:schemeClr val="accent2"/>
                </a:solidFill>
                <a:latin typeface="Courier New" pitchFamily="34" charset="0"/>
                <a:ea typeface="Courier New" pitchFamily="34" charset="-122"/>
                <a:cs typeface="Courier New" pitchFamily="34" charset="-120"/>
              </a:rPr>
              <a:t>.claude/skills/</a:t>
            </a:r>
            <a:endParaRPr lang="en-US" sz="1300" dirty="0"/>
          </a:p>
        </p:txBody>
      </p:sp>
      <p:sp>
        <p:nvSpPr>
          <p:cNvPr id="11" name="Text 8"/>
          <p:cNvSpPr txBox="1"/>
          <p:nvPr/>
        </p:nvSpPr>
        <p:spPr>
          <a:xfrm>
            <a:off x="4937760" y="1828800"/>
            <a:ext cx="3657600" cy="548640"/>
          </a:xfrm>
          <a:prstGeom prst="rect">
            <a:avLst/>
          </a:prstGeom>
          <a:noFill/>
          <a:ln/>
        </p:spPr>
        <p:txBody>
          <a:bodyPr wrap="square" lIns="0" tIns="0" rIns="0" bIns="0" rtlCol="0" anchor="ctr"/>
          <a:lstStyle/>
          <a:p>
            <a:pPr indent="0" marL="0">
              <a:buNone/>
            </a:pPr>
            <a:r>
              <a:rPr lang="en-US" sz="1400" dirty="0">
                <a:solidFill>
                  <a:schemeClr val="tx1"/>
                </a:solidFill>
                <a:latin typeface="Calibri" pitchFamily="34" charset="0"/>
                <a:ea typeface="Calibri" pitchFamily="34" charset="-122"/>
                <a:cs typeface="Calibri" pitchFamily="34" charset="-120"/>
              </a:rPr>
              <a:t>new-report, report-test-loop, render-fix-loop</a:t>
            </a:r>
            <a:endParaRPr lang="en-US" sz="1400" dirty="0"/>
          </a:p>
        </p:txBody>
      </p:sp>
      <p:sp>
        <p:nvSpPr>
          <p:cNvPr id="12" name="card"/>
          <p:cNvSpPr/>
          <p:nvPr/>
        </p:nvSpPr>
        <p:spPr>
          <a:xfrm>
            <a:off x="457200" y="2468880"/>
            <a:ext cx="8229600" cy="548640"/>
          </a:xfrm>
          <a:prstGeom prst="roundRect">
            <a:avLst>
              <a:gd name="adj" fmla="val 16667"/>
            </a:avLst>
          </a:prstGeom>
          <a:solidFill>
            <a:schemeClr val="bg1"/>
          </a:solidFill>
          <a:ln w="9525">
            <a:solidFill>
              <a:srgbClr val="E3E0EE"/>
            </a:solidFill>
            <a:prstDash val="solid"/>
          </a:ln>
        </p:spPr>
      </p:sp>
      <p:sp>
        <p:nvSpPr>
          <p:cNvPr id="13" name="Text 10"/>
          <p:cNvSpPr txBox="1"/>
          <p:nvPr/>
        </p:nvSpPr>
        <p:spPr>
          <a:xfrm>
            <a:off x="640080" y="2468880"/>
            <a:ext cx="1463040" cy="548640"/>
          </a:xfrm>
          <a:prstGeom prst="rect">
            <a:avLst/>
          </a:prstGeom>
          <a:noFill/>
          <a:ln/>
        </p:spPr>
        <p:txBody>
          <a:bodyPr wrap="square" lIns="0" tIns="0" rIns="0" bIns="0" rtlCol="0" anchor="ctr"/>
          <a:lstStyle/>
          <a:p>
            <a:pPr indent="0" marL="0">
              <a:buNone/>
            </a:pPr>
            <a:r>
              <a:rPr lang="en-US" sz="1600" b="1" dirty="0">
                <a:solidFill>
                  <a:schemeClr val="tx2"/>
                </a:solidFill>
                <a:latin typeface="Arial" pitchFamily="34" charset="0"/>
                <a:ea typeface="Arial" pitchFamily="34" charset="-122"/>
                <a:cs typeface="Arial" pitchFamily="34" charset="-120"/>
              </a:rPr>
              <a:t>Hooks</a:t>
            </a:r>
            <a:endParaRPr lang="en-US" sz="1600" dirty="0"/>
          </a:p>
        </p:txBody>
      </p:sp>
      <p:sp>
        <p:nvSpPr>
          <p:cNvPr id="14" name="Text 11"/>
          <p:cNvSpPr txBox="1"/>
          <p:nvPr/>
        </p:nvSpPr>
        <p:spPr>
          <a:xfrm>
            <a:off x="2194560" y="2468880"/>
            <a:ext cx="2651760" cy="548640"/>
          </a:xfrm>
          <a:prstGeom prst="rect">
            <a:avLst/>
          </a:prstGeom>
          <a:noFill/>
          <a:ln/>
        </p:spPr>
        <p:txBody>
          <a:bodyPr wrap="square" lIns="0" tIns="0" rIns="0" bIns="0" rtlCol="0" anchor="ctr"/>
          <a:lstStyle/>
          <a:p>
            <a:pPr indent="0" marL="0">
              <a:buNone/>
            </a:pPr>
            <a:r>
              <a:rPr lang="en-US" sz="1300" dirty="0">
                <a:solidFill>
                  <a:schemeClr val="accent2"/>
                </a:solidFill>
                <a:latin typeface="Courier New" pitchFamily="34" charset="0"/>
                <a:ea typeface="Courier New" pitchFamily="34" charset="-122"/>
                <a:cs typeface="Courier New" pitchFamily="34" charset="-120"/>
              </a:rPr>
              <a:t>.pre-commit-config.yaml</a:t>
            </a:r>
            <a:endParaRPr lang="en-US" sz="1300" dirty="0"/>
          </a:p>
        </p:txBody>
      </p:sp>
      <p:sp>
        <p:nvSpPr>
          <p:cNvPr id="15" name="Text 12"/>
          <p:cNvSpPr txBox="1"/>
          <p:nvPr/>
        </p:nvSpPr>
        <p:spPr>
          <a:xfrm>
            <a:off x="4937760" y="2468880"/>
            <a:ext cx="3657600" cy="548640"/>
          </a:xfrm>
          <a:prstGeom prst="rect">
            <a:avLst/>
          </a:prstGeom>
          <a:noFill/>
          <a:ln/>
        </p:spPr>
        <p:txBody>
          <a:bodyPr wrap="square" lIns="0" tIns="0" rIns="0" bIns="0" rtlCol="0" anchor="ctr"/>
          <a:lstStyle/>
          <a:p>
            <a:pPr indent="0" marL="0">
              <a:buNone/>
            </a:pPr>
            <a:r>
              <a:rPr lang="en-US" sz="1400" dirty="0">
                <a:solidFill>
                  <a:schemeClr val="tx1"/>
                </a:solidFill>
                <a:latin typeface="Calibri" pitchFamily="34" charset="0"/>
                <a:ea typeface="Calibri" pitchFamily="34" charset="-122"/>
                <a:cs typeface="Calibri" pitchFamily="34" charset="-120"/>
              </a:rPr>
              <a:t>30-odd named hooks, one principle each</a:t>
            </a:r>
            <a:endParaRPr lang="en-US" sz="1400" dirty="0"/>
          </a:p>
        </p:txBody>
      </p:sp>
      <p:sp>
        <p:nvSpPr>
          <p:cNvPr id="16" name="card"/>
          <p:cNvSpPr/>
          <p:nvPr/>
        </p:nvSpPr>
        <p:spPr>
          <a:xfrm>
            <a:off x="457200" y="3108960"/>
            <a:ext cx="8229600" cy="548640"/>
          </a:xfrm>
          <a:prstGeom prst="roundRect">
            <a:avLst>
              <a:gd name="adj" fmla="val 16667"/>
            </a:avLst>
          </a:prstGeom>
          <a:solidFill>
            <a:schemeClr val="bg1"/>
          </a:solidFill>
          <a:ln w="9525">
            <a:solidFill>
              <a:srgbClr val="E3E0EE"/>
            </a:solidFill>
            <a:prstDash val="solid"/>
          </a:ln>
        </p:spPr>
      </p:sp>
      <p:sp>
        <p:nvSpPr>
          <p:cNvPr id="17" name="Text 14"/>
          <p:cNvSpPr txBox="1"/>
          <p:nvPr/>
        </p:nvSpPr>
        <p:spPr>
          <a:xfrm>
            <a:off x="640080" y="3108960"/>
            <a:ext cx="1463040" cy="548640"/>
          </a:xfrm>
          <a:prstGeom prst="rect">
            <a:avLst/>
          </a:prstGeom>
          <a:noFill/>
          <a:ln/>
        </p:spPr>
        <p:txBody>
          <a:bodyPr wrap="square" lIns="0" tIns="0" rIns="0" bIns="0" rtlCol="0" anchor="ctr"/>
          <a:lstStyle/>
          <a:p>
            <a:pPr indent="0" marL="0">
              <a:buNone/>
            </a:pPr>
            <a:r>
              <a:rPr lang="en-US" sz="1600" b="1" dirty="0">
                <a:solidFill>
                  <a:schemeClr val="tx2"/>
                </a:solidFill>
                <a:latin typeface="Arial" pitchFamily="34" charset="0"/>
                <a:ea typeface="Arial" pitchFamily="34" charset="-122"/>
                <a:cs typeface="Arial" pitchFamily="34" charset="-120"/>
              </a:rPr>
              <a:t>Loops</a:t>
            </a:r>
            <a:endParaRPr lang="en-US" sz="1600" dirty="0"/>
          </a:p>
        </p:txBody>
      </p:sp>
      <p:sp>
        <p:nvSpPr>
          <p:cNvPr id="18" name="Text 15"/>
          <p:cNvSpPr txBox="1"/>
          <p:nvPr/>
        </p:nvSpPr>
        <p:spPr>
          <a:xfrm>
            <a:off x="2194560" y="3108960"/>
            <a:ext cx="2651760" cy="548640"/>
          </a:xfrm>
          <a:prstGeom prst="rect">
            <a:avLst/>
          </a:prstGeom>
          <a:noFill/>
          <a:ln/>
        </p:spPr>
        <p:txBody>
          <a:bodyPr wrap="square" lIns="0" tIns="0" rIns="0" bIns="0" rtlCol="0" anchor="ctr"/>
          <a:lstStyle/>
          <a:p>
            <a:pPr indent="0" marL="0">
              <a:buNone/>
            </a:pPr>
            <a:r>
              <a:rPr lang="en-US" sz="1300" dirty="0">
                <a:solidFill>
                  <a:schemeClr val="accent2"/>
                </a:solidFill>
                <a:latin typeface="Courier New" pitchFamily="34" charset="0"/>
                <a:ea typeface="Courier New" pitchFamily="34" charset="-122"/>
                <a:cs typeface="Courier New" pitchFamily="34" charset="-120"/>
              </a:rPr>
              <a:t>ALG-PIPELINE.md</a:t>
            </a:r>
            <a:endParaRPr lang="en-US" sz="1300" dirty="0"/>
          </a:p>
        </p:txBody>
      </p:sp>
      <p:sp>
        <p:nvSpPr>
          <p:cNvPr id="19" name="Text 16"/>
          <p:cNvSpPr txBox="1"/>
          <p:nvPr/>
        </p:nvSpPr>
        <p:spPr>
          <a:xfrm>
            <a:off x="4937760" y="3108960"/>
            <a:ext cx="3657600" cy="548640"/>
          </a:xfrm>
          <a:prstGeom prst="rect">
            <a:avLst/>
          </a:prstGeom>
          <a:noFill/>
          <a:ln/>
        </p:spPr>
        <p:txBody>
          <a:bodyPr wrap="square" lIns="0" tIns="0" rIns="0" bIns="0" rtlCol="0" anchor="ctr"/>
          <a:lstStyle/>
          <a:p>
            <a:pPr indent="0" marL="0">
              <a:buNone/>
            </a:pPr>
            <a:r>
              <a:rPr lang="en-US" sz="1400" dirty="0">
                <a:solidFill>
                  <a:schemeClr val="tx1"/>
                </a:solidFill>
                <a:latin typeface="Calibri" pitchFamily="34" charset="0"/>
                <a:ea typeface="Calibri" pitchFamily="34" charset="-122"/>
                <a:cs typeface="Calibri" pitchFamily="34" charset="-120"/>
              </a:rPr>
              <a:t>A phase ends by waiting for a person</a:t>
            </a:r>
            <a:endParaRPr lang="en-US" sz="1400" dirty="0"/>
          </a:p>
        </p:txBody>
      </p:sp>
      <p:sp>
        <p:nvSpPr>
          <p:cNvPr id="20" name="card"/>
          <p:cNvSpPr/>
          <p:nvPr/>
        </p:nvSpPr>
        <p:spPr>
          <a:xfrm>
            <a:off x="457200" y="3749040"/>
            <a:ext cx="8229600" cy="548640"/>
          </a:xfrm>
          <a:prstGeom prst="roundRect">
            <a:avLst>
              <a:gd name="adj" fmla="val 16667"/>
            </a:avLst>
          </a:prstGeom>
          <a:solidFill>
            <a:schemeClr val="bg1"/>
          </a:solidFill>
          <a:ln w="9525">
            <a:solidFill>
              <a:srgbClr val="E3E0EE"/>
            </a:solidFill>
            <a:prstDash val="solid"/>
          </a:ln>
        </p:spPr>
      </p:sp>
      <p:sp>
        <p:nvSpPr>
          <p:cNvPr id="21" name="Text 18"/>
          <p:cNvSpPr txBox="1"/>
          <p:nvPr/>
        </p:nvSpPr>
        <p:spPr>
          <a:xfrm>
            <a:off x="640080" y="3749040"/>
            <a:ext cx="1463040" cy="548640"/>
          </a:xfrm>
          <a:prstGeom prst="rect">
            <a:avLst/>
          </a:prstGeom>
          <a:noFill/>
          <a:ln/>
        </p:spPr>
        <p:txBody>
          <a:bodyPr wrap="square" lIns="0" tIns="0" rIns="0" bIns="0" rtlCol="0" anchor="ctr"/>
          <a:lstStyle/>
          <a:p>
            <a:pPr indent="0" marL="0">
              <a:buNone/>
            </a:pPr>
            <a:r>
              <a:rPr lang="en-US" sz="1600" b="1" dirty="0">
                <a:solidFill>
                  <a:schemeClr val="tx2"/>
                </a:solidFill>
                <a:latin typeface="Arial" pitchFamily="34" charset="0"/>
                <a:ea typeface="Arial" pitchFamily="34" charset="-122"/>
                <a:cs typeface="Arial" pitchFamily="34" charset="-120"/>
              </a:rPr>
              <a:t>Gates</a:t>
            </a:r>
            <a:endParaRPr lang="en-US" sz="1600" dirty="0"/>
          </a:p>
        </p:txBody>
      </p:sp>
      <p:sp>
        <p:nvSpPr>
          <p:cNvPr id="22" name="Text 19"/>
          <p:cNvSpPr txBox="1"/>
          <p:nvPr/>
        </p:nvSpPr>
        <p:spPr>
          <a:xfrm>
            <a:off x="2194560" y="3749040"/>
            <a:ext cx="2651760" cy="548640"/>
          </a:xfrm>
          <a:prstGeom prst="rect">
            <a:avLst/>
          </a:prstGeom>
          <a:noFill/>
          <a:ln/>
        </p:spPr>
        <p:txBody>
          <a:bodyPr wrap="square" lIns="0" tIns="0" rIns="0" bIns="0" rtlCol="0" anchor="ctr"/>
          <a:lstStyle/>
          <a:p>
            <a:pPr indent="0" marL="0">
              <a:buNone/>
            </a:pPr>
            <a:r>
              <a:rPr lang="en-US" sz="1300" dirty="0">
                <a:solidFill>
                  <a:schemeClr val="accent2"/>
                </a:solidFill>
                <a:latin typeface="Courier New" pitchFamily="34" charset="0"/>
                <a:ea typeface="Courier New" pitchFamily="34" charset="-122"/>
                <a:cs typeface="Courier New" pitchFamily="34" charset="-120"/>
              </a:rPr>
              <a:t>check_phase_order.py</a:t>
            </a:r>
            <a:endParaRPr lang="en-US" sz="1300" dirty="0"/>
          </a:p>
        </p:txBody>
      </p:sp>
      <p:sp>
        <p:nvSpPr>
          <p:cNvPr id="23" name="Text 20"/>
          <p:cNvSpPr txBox="1"/>
          <p:nvPr/>
        </p:nvSpPr>
        <p:spPr>
          <a:xfrm>
            <a:off x="4937760" y="3749040"/>
            <a:ext cx="3657600" cy="548640"/>
          </a:xfrm>
          <a:prstGeom prst="rect">
            <a:avLst/>
          </a:prstGeom>
          <a:noFill/>
          <a:ln/>
        </p:spPr>
        <p:txBody>
          <a:bodyPr wrap="square" lIns="0" tIns="0" rIns="0" bIns="0" rtlCol="0" anchor="ctr"/>
          <a:lstStyle/>
          <a:p>
            <a:pPr indent="0" marL="0">
              <a:buNone/>
            </a:pPr>
            <a:r>
              <a:rPr lang="en-US" sz="1400" dirty="0">
                <a:solidFill>
                  <a:schemeClr val="tx1"/>
                </a:solidFill>
                <a:latin typeface="Calibri" pitchFamily="34" charset="0"/>
                <a:ea typeface="Calibri" pitchFamily="34" charset="-122"/>
                <a:cs typeface="Calibri" pitchFamily="34" charset="-120"/>
              </a:rPr>
              <a:t>No APPROVED.md, no build</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888888"/>
                </a:solidFill>
                <a:latin typeface="Calibri"/>
                <a:ea typeface="Calibri"/>
                <a:cs typeface="Calibri"/>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1371600"/>
            <a:ext cx="7863840" cy="1371600"/>
          </a:xfrm>
          <a:prstGeom prst="rect">
            <a:avLst/>
          </a:prstGeom>
          <a:noFill/>
          <a:ln/>
        </p:spPr>
        <p:txBody>
          <a:bodyPr wrap="square" lIns="0" tIns="0" rIns="0" bIns="0" rtlCol="0" anchor="b"/>
          <a:lstStyle/>
          <a:p>
            <a:pPr algn="l" indent="0" marL="0">
              <a:buNone/>
            </a:pPr>
            <a:r>
              <a:rPr lang="en-US" sz="4000" b="1" dirty="0">
                <a:solidFill>
                  <a:schemeClr val="bg1"/>
                </a:solidFill>
                <a:latin typeface="Arial" pitchFamily="34" charset="0"/>
                <a:ea typeface="Arial" pitchFamily="34" charset="-122"/>
                <a:cs typeface="Arial" pitchFamily="34" charset="-120"/>
              </a:rPr>
              <a:t>One brief, four ways</a:t>
            </a:r>
            <a:endParaRPr lang="en-US" sz="4000" dirty="0"/>
          </a:p>
        </p:txBody>
      </p:sp>
      <p:sp>
        <p:nvSpPr>
          <p:cNvPr id="3" name="Text 0"/>
          <p:cNvSpPr/>
          <p:nvPr>
            <p:ph idx="101" type="body" hasCustomPrompt="1"/>
          </p:nvPr>
        </p:nvSpPr>
        <p:spPr>
          <a:xfrm>
            <a:off x="548640" y="2926080"/>
            <a:ext cx="6949440" cy="914400"/>
          </a:xfrm>
          <a:prstGeom prst="rect">
            <a:avLst/>
          </a:prstGeom>
          <a:noFill/>
          <a:ln/>
        </p:spPr>
        <p:txBody>
          <a:bodyPr wrap="square" lIns="0" tIns="0" rIns="0" bIns="0" rtlCol="0" anchor="t"/>
          <a:lstStyle/>
          <a:p>
            <a:pPr algn="l" indent="0" marL="0">
              <a:buNone/>
            </a:pPr>
            <a:r>
              <a:rPr lang="en-US" sz="1800" dirty="0">
                <a:solidFill>
                  <a:srgbClr val="F0EEF8"/>
                </a:solidFill>
                <a:latin typeface="Calibri" pitchFamily="34" charset="0"/>
                <a:ea typeface="Calibri" pitchFamily="34" charset="-122"/>
                <a:cs typeface="Calibri" pitchFamily="34" charset="-120"/>
              </a:rPr>
              <a:t>Same requirement every time, so the pros and cons are comparable</a:t>
            </a:r>
            <a:endParaRPr lang="en-US" sz="1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000" b="1" dirty="0">
                <a:solidFill>
                  <a:schemeClr val="tx2"/>
                </a:solidFill>
                <a:latin typeface="Arial" pitchFamily="34" charset="0"/>
                <a:ea typeface="Arial" pitchFamily="34" charset="-122"/>
                <a:cs typeface="Arial" pitchFamily="34" charset="-120"/>
              </a:rPr>
              <a:t>The brief: UK trade, the balance</a:t>
            </a:r>
            <a:endParaRPr lang="en-US" sz="3000" dirty="0"/>
          </a:p>
        </p:txBody>
      </p:sp>
      <p:sp>
        <p:nvSpPr>
          <p:cNvPr id="4" name="card"/>
          <p:cNvSpPr/>
          <p:nvPr/>
        </p:nvSpPr>
        <p:spPr>
          <a:xfrm>
            <a:off x="457200" y="1188720"/>
            <a:ext cx="4206240" cy="3154680"/>
          </a:xfrm>
          <a:prstGeom prst="roundRect">
            <a:avLst>
              <a:gd name="adj" fmla="val 2899"/>
            </a:avLst>
          </a:prstGeom>
          <a:solidFill>
            <a:srgbClr val="F0EEF8"/>
          </a:solidFill>
          <a:ln w="9525">
            <a:solidFill>
              <a:srgbClr val="E3E0EE"/>
            </a:solidFill>
            <a:prstDash val="solid"/>
          </a:ln>
          <a:effectLst>
            <a:outerShdw sx="100000" sy="100000" kx="0" ky="0" algn="bl" rotWithShape="0" blurRad="76200" dist="25400" dir="5400000">
              <a:srgbClr val="1A1530">
                <a:alpha val="10000"/>
              </a:srgbClr>
            </a:outerShdw>
          </a:effectLst>
        </p:spPr>
      </p:sp>
      <p:sp>
        <p:nvSpPr>
          <p:cNvPr id="5" name="pill"/>
          <p:cNvSpPr/>
          <p:nvPr/>
        </p:nvSpPr>
        <p:spPr>
          <a:xfrm>
            <a:off x="685800" y="1371600"/>
            <a:ext cx="1280160" cy="274320"/>
          </a:xfrm>
          <a:prstGeom prst="roundRect">
            <a:avLst>
              <a:gd name="adj" fmla="val 50000"/>
            </a:avLst>
          </a:prstGeom>
          <a:solidFill>
            <a:schemeClr val="accent2"/>
          </a:solidFill>
          <a:ln w="12700">
            <a:solidFill>
              <a:schemeClr val="accent2"/>
            </a:solidFill>
            <a:prstDash val="solid"/>
          </a:ln>
        </p:spPr>
      </p:sp>
      <p:sp>
        <p:nvSpPr>
          <p:cNvPr id="6" name="Text 3"/>
          <p:cNvSpPr txBox="1"/>
          <p:nvPr/>
        </p:nvSpPr>
        <p:spPr>
          <a:xfrm>
            <a:off x="685800" y="1371600"/>
            <a:ext cx="1280160" cy="274320"/>
          </a:xfrm>
          <a:prstGeom prst="rect">
            <a:avLst/>
          </a:prstGeom>
          <a:noFill/>
          <a:ln/>
        </p:spPr>
        <p:txBody>
          <a:bodyPr wrap="square" lIns="0" tIns="0" rIns="0" bIns="0" rtlCol="0" anchor="ctr"/>
          <a:lstStyle/>
          <a:p>
            <a:pPr algn="ctr" indent="0" marL="0">
              <a:buNone/>
            </a:pPr>
            <a:r>
              <a:rPr lang="en-US" sz="1200" b="1" dirty="0">
                <a:solidFill>
                  <a:schemeClr val="bg1"/>
                </a:solidFill>
                <a:latin typeface="Courier New" pitchFamily="34" charset="0"/>
                <a:ea typeface="Courier New" pitchFamily="34" charset="-122"/>
                <a:cs typeface="Courier New" pitchFamily="34" charset="-120"/>
              </a:rPr>
              <a:t>THE BRIEF</a:t>
            </a:r>
            <a:endParaRPr lang="en-US" sz="1200" dirty="0"/>
          </a:p>
        </p:txBody>
      </p:sp>
      <p:sp>
        <p:nvSpPr>
          <p:cNvPr id="7" name="Text 4"/>
          <p:cNvSpPr txBox="1"/>
          <p:nvPr/>
        </p:nvSpPr>
        <p:spPr>
          <a:xfrm>
            <a:off x="685800" y="1828800"/>
            <a:ext cx="3749040" cy="2377440"/>
          </a:xfrm>
          <a:prstGeom prst="rect">
            <a:avLst/>
          </a:prstGeom>
          <a:noFill/>
          <a:ln/>
        </p:spPr>
        <p:txBody>
          <a:bodyPr wrap="square" lIns="0" tIns="0" rIns="0" bIns="0" rtlCol="0" anchor="t"/>
          <a:lstStyle/>
          <a:p>
            <a:pPr marL="342900" indent="-342900">
              <a:spcAft>
                <a:spcPts val="700"/>
              </a:spcAft>
              <a:buSzPct val="100000"/>
              <a:buChar char="•"/>
            </a:pPr>
            <a:r>
              <a:rPr lang="en-US" sz="1500" dirty="0">
                <a:solidFill>
                  <a:schemeClr val="tx1"/>
                </a:solidFill>
                <a:latin typeface="Calibri" pitchFamily="34" charset="0"/>
                <a:ea typeface="Calibri" pitchFamily="34" charset="-122"/>
                <a:cs typeface="Calibri" pitchFamily="34" charset="-120"/>
              </a:rPr>
              <a:t>One page on the UK trade balance: exports less imports, over time</a:t>
            </a:r>
            <a:endParaRPr lang="en-US" sz="1500" dirty="0"/>
          </a:p>
          <a:p>
            <a:pPr marL="342900" indent="-342900">
              <a:spcAft>
                <a:spcPts val="700"/>
              </a:spcAft>
              <a:buSzPct val="100000"/>
              <a:buChar char="•"/>
            </a:pPr>
            <a:r>
              <a:rPr lang="en-US" sz="1500" dirty="0">
                <a:solidFill>
                  <a:schemeClr val="tx1"/>
                </a:solidFill>
                <a:latin typeface="Calibri" pitchFamily="34" charset="0"/>
                <a:ea typeface="Calibri" pitchFamily="34" charset="-122"/>
                <a:cs typeface="Calibri" pitchFamily="34" charset="-120"/>
              </a:rPr>
              <a:t>A headline balance card that flips colour from surplus to deficit</a:t>
            </a:r>
            <a:endParaRPr lang="en-US" sz="1500" dirty="0"/>
          </a:p>
          <a:p>
            <a:pPr marL="342900" indent="-342900">
              <a:spcAft>
                <a:spcPts val="700"/>
              </a:spcAft>
              <a:buSzPct val="100000"/>
              <a:buChar char="•"/>
            </a:pPr>
            <a:r>
              <a:rPr lang="en-US" sz="1500" dirty="0">
                <a:solidFill>
                  <a:schemeClr val="tx1"/>
                </a:solidFill>
                <a:latin typeface="Calibri" pitchFamily="34" charset="0"/>
                <a:ea typeface="Calibri" pitchFamily="34" charset="-122"/>
                <a:cs typeface="Calibri" pitchFamily="34" charset="-120"/>
              </a:rPr>
              <a:t>A trend by month</a:t>
            </a:r>
            <a:endParaRPr lang="en-US" sz="1500" dirty="0"/>
          </a:p>
          <a:p>
            <a:pPr marL="342900" indent="-342900">
              <a:spcAft>
                <a:spcPts val="700"/>
              </a:spcAft>
              <a:buSzPct val="100000"/>
              <a:buChar char="•"/>
            </a:pPr>
            <a:r>
              <a:rPr lang="en-US" sz="1500" dirty="0">
                <a:solidFill>
                  <a:schemeClr val="tx1"/>
                </a:solidFill>
                <a:latin typeface="Calibri" pitchFamily="34" charset="0"/>
                <a:ea typeface="Calibri" pitchFamily="34" charset="-122"/>
                <a:cs typeface="Calibri" pitchFamily="34" charset="-120"/>
              </a:rPr>
              <a:t>A breakdown by partner country or commodity</a:t>
            </a:r>
            <a:endParaRPr lang="en-US" sz="1500" dirty="0"/>
          </a:p>
          <a:p>
            <a:pPr marL="342900" indent="-342900">
              <a:spcAft>
                <a:spcPts val="700"/>
              </a:spcAft>
              <a:buSzPct val="100000"/>
              <a:buChar char="•"/>
            </a:pPr>
            <a:r>
              <a:rPr lang="en-US" sz="1500" dirty="0">
                <a:solidFill>
                  <a:schemeClr val="tx1"/>
                </a:solidFill>
                <a:latin typeface="Calibri" pitchFamily="34" charset="0"/>
                <a:ea typeface="Calibri" pitchFamily="34" charset="-122"/>
                <a:cs typeface="Calibri" pitchFamily="34" charset="-120"/>
              </a:rPr>
              <a:t>A slicer to switch the measure</a:t>
            </a:r>
            <a:endParaRPr lang="en-US" sz="1500" dirty="0"/>
          </a:p>
        </p:txBody>
      </p:sp>
      <p:sp>
        <p:nvSpPr>
          <p:cNvPr id="8" name="Text 5"/>
          <p:cNvSpPr txBox="1"/>
          <p:nvPr/>
        </p:nvSpPr>
        <p:spPr>
          <a:xfrm>
            <a:off x="4937760" y="1188720"/>
            <a:ext cx="3657600" cy="320040"/>
          </a:xfrm>
          <a:prstGeom prst="rect">
            <a:avLst/>
          </a:prstGeom>
          <a:noFill/>
          <a:ln/>
        </p:spPr>
        <p:txBody>
          <a:bodyPr wrap="square" lIns="0" tIns="0" rIns="0" bIns="0" rtlCol="0" anchor="t"/>
          <a:lstStyle/>
          <a:p>
            <a:pPr indent="0" marL="0">
              <a:buNone/>
            </a:pPr>
            <a:r>
              <a:rPr lang="en-US" sz="1800" b="1" dirty="0">
                <a:solidFill>
                  <a:schemeClr val="tx2"/>
                </a:solidFill>
                <a:latin typeface="Arial" pitchFamily="34" charset="0"/>
                <a:ea typeface="Arial" pitchFamily="34" charset="-122"/>
                <a:cs typeface="Arial" pitchFamily="34" charset="-120"/>
              </a:rPr>
              <a:t>Built-in traps</a:t>
            </a:r>
            <a:endParaRPr lang="en-US" sz="1800" dirty="0"/>
          </a:p>
        </p:txBody>
      </p:sp>
      <p:sp>
        <p:nvSpPr>
          <p:cNvPr id="9" name="card"/>
          <p:cNvSpPr/>
          <p:nvPr/>
        </p:nvSpPr>
        <p:spPr>
          <a:xfrm>
            <a:off x="4937760" y="1645920"/>
            <a:ext cx="3749040" cy="822960"/>
          </a:xfrm>
          <a:prstGeom prst="roundRect">
            <a:avLst>
              <a:gd name="adj" fmla="val 11111"/>
            </a:avLst>
          </a:prstGeom>
          <a:solidFill>
            <a:schemeClr val="bg1"/>
          </a:solidFill>
          <a:ln w="9525">
            <a:solidFill>
              <a:srgbClr val="E3E0EE"/>
            </a:solidFill>
            <a:prstDash val="solid"/>
          </a:ln>
          <a:effectLst>
            <a:outerShdw sx="100000" sy="100000" kx="0" ky="0" algn="bl" rotWithShape="0" blurRad="76200" dist="25400" dir="5400000">
              <a:srgbClr val="1A1530">
                <a:alpha val="10000"/>
              </a:srgbClr>
            </a:outerShdw>
          </a:effectLst>
        </p:spPr>
      </p:sp>
      <p:sp>
        <p:nvSpPr>
          <p:cNvPr id="10" name="Text 7"/>
          <p:cNvSpPr txBox="1"/>
          <p:nvPr/>
        </p:nvSpPr>
        <p:spPr>
          <a:xfrm>
            <a:off x="5120640" y="1737360"/>
            <a:ext cx="3383280" cy="320040"/>
          </a:xfrm>
          <a:prstGeom prst="rect">
            <a:avLst/>
          </a:prstGeom>
          <a:noFill/>
          <a:ln/>
        </p:spPr>
        <p:txBody>
          <a:bodyPr wrap="square" lIns="0" tIns="0" rIns="0" bIns="0" rtlCol="0" anchor="t"/>
          <a:lstStyle/>
          <a:p>
            <a:pPr indent="0" marL="0">
              <a:buNone/>
            </a:pPr>
            <a:r>
              <a:rPr lang="en-US" sz="1500" b="1" dirty="0">
                <a:solidFill>
                  <a:schemeClr val="tx2"/>
                </a:solidFill>
                <a:latin typeface="Arial" pitchFamily="34" charset="0"/>
                <a:ea typeface="Arial" pitchFamily="34" charset="-122"/>
                <a:cs typeface="Arial" pitchFamily="34" charset="-120"/>
              </a:rPr>
              <a:t>Colour that must flip</a:t>
            </a:r>
            <a:endParaRPr lang="en-US" sz="1500" dirty="0"/>
          </a:p>
        </p:txBody>
      </p:sp>
      <p:sp>
        <p:nvSpPr>
          <p:cNvPr id="11" name="Text 8"/>
          <p:cNvSpPr txBox="1"/>
          <p:nvPr/>
        </p:nvSpPr>
        <p:spPr>
          <a:xfrm>
            <a:off x="5120640" y="2075688"/>
            <a:ext cx="3383280" cy="32004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Correct today, wrong after the next refresh</a:t>
            </a:r>
            <a:endParaRPr lang="en-US" sz="1400" dirty="0"/>
          </a:p>
        </p:txBody>
      </p:sp>
      <p:sp>
        <p:nvSpPr>
          <p:cNvPr id="12" name="card"/>
          <p:cNvSpPr/>
          <p:nvPr/>
        </p:nvSpPr>
        <p:spPr>
          <a:xfrm>
            <a:off x="4937760" y="2560320"/>
            <a:ext cx="3749040" cy="822960"/>
          </a:xfrm>
          <a:prstGeom prst="roundRect">
            <a:avLst>
              <a:gd name="adj" fmla="val 11111"/>
            </a:avLst>
          </a:prstGeom>
          <a:solidFill>
            <a:schemeClr val="bg1"/>
          </a:solidFill>
          <a:ln w="9525">
            <a:solidFill>
              <a:srgbClr val="E3E0EE"/>
            </a:solidFill>
            <a:prstDash val="solid"/>
          </a:ln>
          <a:effectLst>
            <a:outerShdw sx="100000" sy="100000" kx="0" ky="0" algn="bl" rotWithShape="0" blurRad="76200" dist="25400" dir="5400000">
              <a:srgbClr val="1A1530">
                <a:alpha val="10000"/>
              </a:srgbClr>
            </a:outerShdw>
          </a:effectLst>
        </p:spPr>
      </p:sp>
      <p:sp>
        <p:nvSpPr>
          <p:cNvPr id="13" name="Text 10"/>
          <p:cNvSpPr txBox="1"/>
          <p:nvPr/>
        </p:nvSpPr>
        <p:spPr>
          <a:xfrm>
            <a:off x="5120640" y="2651760"/>
            <a:ext cx="3383280" cy="320040"/>
          </a:xfrm>
          <a:prstGeom prst="rect">
            <a:avLst/>
          </a:prstGeom>
          <a:noFill/>
          <a:ln/>
        </p:spPr>
        <p:txBody>
          <a:bodyPr wrap="square" lIns="0" tIns="0" rIns="0" bIns="0" rtlCol="0" anchor="t"/>
          <a:lstStyle/>
          <a:p>
            <a:pPr indent="0" marL="0">
              <a:buNone/>
            </a:pPr>
            <a:r>
              <a:rPr lang="en-US" sz="1500" b="1" dirty="0">
                <a:solidFill>
                  <a:schemeClr val="tx2"/>
                </a:solidFill>
                <a:latin typeface="Arial" pitchFamily="34" charset="0"/>
                <a:ea typeface="Arial" pitchFamily="34" charset="-122"/>
                <a:cs typeface="Arial" pitchFamily="34" charset="-120"/>
              </a:rPr>
              <a:t>A slicer that drives a measure</a:t>
            </a:r>
            <a:endParaRPr lang="en-US" sz="1500" dirty="0"/>
          </a:p>
        </p:txBody>
      </p:sp>
      <p:sp>
        <p:nvSpPr>
          <p:cNvPr id="14" name="Text 11"/>
          <p:cNvSpPr txBox="1"/>
          <p:nvPr/>
        </p:nvSpPr>
        <p:spPr>
          <a:xfrm>
            <a:off x="5120640" y="2990088"/>
            <a:ext cx="3383280" cy="32004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Looks fine, can drive nothing</a:t>
            </a:r>
            <a:endParaRPr lang="en-US" sz="1400" dirty="0"/>
          </a:p>
        </p:txBody>
      </p:sp>
      <p:sp>
        <p:nvSpPr>
          <p:cNvPr id="15" name="card"/>
          <p:cNvSpPr/>
          <p:nvPr/>
        </p:nvSpPr>
        <p:spPr>
          <a:xfrm>
            <a:off x="4937760" y="3474720"/>
            <a:ext cx="3749040" cy="822960"/>
          </a:xfrm>
          <a:prstGeom prst="roundRect">
            <a:avLst>
              <a:gd name="adj" fmla="val 11111"/>
            </a:avLst>
          </a:prstGeom>
          <a:solidFill>
            <a:schemeClr val="bg1"/>
          </a:solidFill>
          <a:ln w="9525">
            <a:solidFill>
              <a:srgbClr val="E3E0EE"/>
            </a:solidFill>
            <a:prstDash val="solid"/>
          </a:ln>
          <a:effectLst>
            <a:outerShdw sx="100000" sy="100000" kx="0" ky="0" algn="bl" rotWithShape="0" blurRad="76200" dist="25400" dir="5400000">
              <a:srgbClr val="1A1530">
                <a:alpha val="10000"/>
              </a:srgbClr>
            </a:outerShdw>
          </a:effectLst>
        </p:spPr>
      </p:sp>
      <p:sp>
        <p:nvSpPr>
          <p:cNvPr id="16" name="Text 13"/>
          <p:cNvSpPr txBox="1"/>
          <p:nvPr/>
        </p:nvSpPr>
        <p:spPr>
          <a:xfrm>
            <a:off x="5120640" y="3566160"/>
            <a:ext cx="3383280" cy="320040"/>
          </a:xfrm>
          <a:prstGeom prst="rect">
            <a:avLst/>
          </a:prstGeom>
          <a:noFill/>
          <a:ln/>
        </p:spPr>
        <p:txBody>
          <a:bodyPr wrap="square" lIns="0" tIns="0" rIns="0" bIns="0" rtlCol="0" anchor="t"/>
          <a:lstStyle/>
          <a:p>
            <a:pPr indent="0" marL="0">
              <a:buNone/>
            </a:pPr>
            <a:r>
              <a:rPr lang="en-US" sz="1500" b="1" dirty="0">
                <a:solidFill>
                  <a:schemeClr val="tx2"/>
                </a:solidFill>
                <a:latin typeface="Arial" pitchFamily="34" charset="0"/>
                <a:ea typeface="Arial" pitchFamily="34" charset="-122"/>
                <a:cs typeface="Arial" pitchFamily="34" charset="-120"/>
              </a:rPr>
              <a:t>No date dimension</a:t>
            </a:r>
            <a:endParaRPr lang="en-US" sz="1500" dirty="0"/>
          </a:p>
        </p:txBody>
      </p:sp>
      <p:sp>
        <p:nvSpPr>
          <p:cNvPr id="17" name="Text 14"/>
          <p:cNvSpPr txBox="1"/>
          <p:nvPr/>
        </p:nvSpPr>
        <p:spPr>
          <a:xfrm>
            <a:off x="5120640" y="3904488"/>
            <a:ext cx="3383280" cy="32004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The trend needs one</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888888"/>
                </a:solidFill>
                <a:latin typeface="Calibri"/>
                <a:ea typeface="Calibri"/>
                <a:cs typeface="Calibri"/>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000" b="1" dirty="0">
                <a:solidFill>
                  <a:schemeClr val="tx2"/>
                </a:solidFill>
                <a:latin typeface="Arial" pitchFamily="34" charset="0"/>
                <a:ea typeface="Arial" pitchFamily="34" charset="-122"/>
                <a:cs typeface="Arial" pitchFamily="34" charset="-120"/>
              </a:rPr>
              <a:t>Example 1: chat agent</a:t>
            </a:r>
            <a:endParaRPr lang="en-US" sz="3000" dirty="0"/>
          </a:p>
        </p:txBody>
      </p:sp>
      <p:sp>
        <p:nvSpPr>
          <p:cNvPr id="4" name="pill"/>
          <p:cNvSpPr/>
          <p:nvPr/>
        </p:nvSpPr>
        <p:spPr>
          <a:xfrm>
            <a:off x="457200" y="1097280"/>
            <a:ext cx="1554480" cy="274320"/>
          </a:xfrm>
          <a:prstGeom prst="roundRect">
            <a:avLst>
              <a:gd name="adj" fmla="val 50000"/>
            </a:avLst>
          </a:prstGeom>
          <a:solidFill>
            <a:schemeClr val="accent2"/>
          </a:solidFill>
          <a:ln w="12700">
            <a:solidFill>
              <a:schemeClr val="accent2"/>
            </a:solidFill>
            <a:prstDash val="solid"/>
          </a:ln>
        </p:spPr>
      </p:sp>
      <p:sp>
        <p:nvSpPr>
          <p:cNvPr id="5" name="Text 2"/>
          <p:cNvSpPr txBox="1"/>
          <p:nvPr/>
        </p:nvSpPr>
        <p:spPr>
          <a:xfrm>
            <a:off x="457200" y="1097280"/>
            <a:ext cx="1554480" cy="274320"/>
          </a:xfrm>
          <a:prstGeom prst="rect">
            <a:avLst/>
          </a:prstGeom>
          <a:noFill/>
          <a:ln/>
        </p:spPr>
        <p:txBody>
          <a:bodyPr wrap="square" lIns="0" tIns="0" rIns="0" bIns="0" rtlCol="0" anchor="ctr"/>
          <a:lstStyle/>
          <a:p>
            <a:pPr algn="ctr" indent="0" marL="0">
              <a:buNone/>
            </a:pPr>
            <a:r>
              <a:rPr lang="en-US" sz="1200" b="1" dirty="0">
                <a:solidFill>
                  <a:schemeClr val="bg1"/>
                </a:solidFill>
                <a:latin typeface="Courier New" pitchFamily="34" charset="0"/>
                <a:ea typeface="Courier New" pitchFamily="34" charset="-122"/>
                <a:cs typeface="Courier New" pitchFamily="34" charset="-120"/>
              </a:rPr>
              <a:t>RECORDED</a:t>
            </a:r>
            <a:endParaRPr lang="en-US" sz="1200" dirty="0"/>
          </a:p>
        </p:txBody>
      </p:sp>
      <p:sp>
        <p:nvSpPr>
          <p:cNvPr id="6" name="card"/>
          <p:cNvSpPr/>
          <p:nvPr/>
        </p:nvSpPr>
        <p:spPr>
          <a:xfrm>
            <a:off x="457200" y="1508760"/>
            <a:ext cx="4114800" cy="2834640"/>
          </a:xfrm>
          <a:prstGeom prst="roundRect">
            <a:avLst>
              <a:gd name="adj" fmla="val 3226"/>
            </a:avLst>
          </a:prstGeom>
          <a:solidFill>
            <a:schemeClr val="bg1"/>
          </a:solidFill>
          <a:ln w="9525">
            <a:solidFill>
              <a:srgbClr val="E3E0EE"/>
            </a:solidFill>
            <a:prstDash val="solid"/>
          </a:ln>
          <a:effectLst>
            <a:outerShdw sx="100000" sy="100000" kx="0" ky="0" algn="bl" rotWithShape="0" blurRad="76200" dist="25400" dir="5400000">
              <a:srgbClr val="1A1530">
                <a:alpha val="10000"/>
              </a:srgbClr>
            </a:outerShdw>
          </a:effectLst>
        </p:spPr>
      </p:sp>
      <p:sp>
        <p:nvSpPr>
          <p:cNvPr id="7" name="Text 4"/>
          <p:cNvSpPr txBox="1"/>
          <p:nvPr/>
        </p:nvSpPr>
        <p:spPr>
          <a:xfrm>
            <a:off x="685800" y="1645920"/>
            <a:ext cx="3657600" cy="274320"/>
          </a:xfrm>
          <a:prstGeom prst="rect">
            <a:avLst/>
          </a:prstGeom>
          <a:noFill/>
          <a:ln/>
        </p:spPr>
        <p:txBody>
          <a:bodyPr wrap="square" lIns="0" tIns="0" rIns="0" bIns="0" rtlCol="0" anchor="t"/>
          <a:lstStyle/>
          <a:p>
            <a:pPr indent="0" marL="0">
              <a:buNone/>
            </a:pPr>
            <a:r>
              <a:rPr lang="en-US" sz="1500" b="1" dirty="0">
                <a:solidFill>
                  <a:schemeClr val="accent2"/>
                </a:solidFill>
                <a:latin typeface="Arial" pitchFamily="34" charset="0"/>
                <a:ea typeface="Arial" pitchFamily="34" charset="-122"/>
                <a:cs typeface="Arial" pitchFamily="34" charset="-120"/>
              </a:rPr>
              <a:t>Setup</a:t>
            </a:r>
            <a:endParaRPr lang="en-US" sz="1500" dirty="0"/>
          </a:p>
        </p:txBody>
      </p:sp>
      <p:sp>
        <p:nvSpPr>
          <p:cNvPr id="8" name="Text 5"/>
          <p:cNvSpPr txBox="1"/>
          <p:nvPr/>
        </p:nvSpPr>
        <p:spPr>
          <a:xfrm>
            <a:off x="685800" y="1938528"/>
            <a:ext cx="3657600" cy="82296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A plain chat. No tools, no access to the model.</a:t>
            </a:r>
            <a:endParaRPr lang="en-US" sz="1500" dirty="0"/>
          </a:p>
        </p:txBody>
      </p:sp>
      <p:sp>
        <p:nvSpPr>
          <p:cNvPr id="9" name="Text 6"/>
          <p:cNvSpPr txBox="1"/>
          <p:nvPr/>
        </p:nvSpPr>
        <p:spPr>
          <a:xfrm>
            <a:off x="685800" y="2788920"/>
            <a:ext cx="3657600" cy="274320"/>
          </a:xfrm>
          <a:prstGeom prst="rect">
            <a:avLst/>
          </a:prstGeom>
          <a:noFill/>
          <a:ln/>
        </p:spPr>
        <p:txBody>
          <a:bodyPr wrap="square" lIns="0" tIns="0" rIns="0" bIns="0" rtlCol="0" anchor="t"/>
          <a:lstStyle/>
          <a:p>
            <a:pPr indent="0" marL="0">
              <a:buNone/>
            </a:pPr>
            <a:r>
              <a:rPr lang="en-US" sz="1500" b="1" dirty="0">
                <a:solidFill>
                  <a:schemeClr val="accent2"/>
                </a:solidFill>
                <a:latin typeface="Arial" pitchFamily="34" charset="0"/>
                <a:ea typeface="Arial" pitchFamily="34" charset="-122"/>
                <a:cs typeface="Arial" pitchFamily="34" charset="-120"/>
              </a:rPr>
              <a:t>Watch for</a:t>
            </a:r>
            <a:endParaRPr lang="en-US" sz="1500" dirty="0"/>
          </a:p>
        </p:txBody>
      </p:sp>
      <p:sp>
        <p:nvSpPr>
          <p:cNvPr id="10" name="Text 7"/>
          <p:cNvSpPr txBox="1"/>
          <p:nvPr/>
        </p:nvSpPr>
        <p:spPr>
          <a:xfrm>
            <a:off x="685800" y="3081528"/>
            <a:ext cx="3657600" cy="118872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Good DAX and a sensible layout. Table and column names it could not know, and guessed.</a:t>
            </a:r>
            <a:endParaRPr lang="en-US" sz="1500" dirty="0"/>
          </a:p>
        </p:txBody>
      </p:sp>
      <p:sp>
        <p:nvSpPr>
          <p:cNvPr id="11" name="card"/>
          <p:cNvSpPr/>
          <p:nvPr/>
        </p:nvSpPr>
        <p:spPr>
          <a:xfrm>
            <a:off x="4846320" y="1097280"/>
            <a:ext cx="3840480" cy="1600200"/>
          </a:xfrm>
          <a:prstGeom prst="roundRect">
            <a:avLst>
              <a:gd name="adj" fmla="val 5714"/>
            </a:avLst>
          </a:prstGeom>
          <a:solidFill>
            <a:srgbClr val="E8F8F1"/>
          </a:solidFill>
          <a:ln w="9525">
            <a:solidFill>
              <a:srgbClr val="BFE8D2"/>
            </a:solidFill>
            <a:prstDash val="solid"/>
          </a:ln>
          <a:effectLst>
            <a:outerShdw sx="100000" sy="100000" kx="0" ky="0" algn="bl" rotWithShape="0" blurRad="76200" dist="25400" dir="5400000">
              <a:srgbClr val="1A1530">
                <a:alpha val="10000"/>
              </a:srgbClr>
            </a:outerShdw>
          </a:effectLst>
        </p:spPr>
      </p:sp>
      <p:sp>
        <p:nvSpPr>
          <p:cNvPr id="12" name="Text 9"/>
          <p:cNvSpPr txBox="1"/>
          <p:nvPr/>
        </p:nvSpPr>
        <p:spPr>
          <a:xfrm>
            <a:off x="5074920" y="1234440"/>
            <a:ext cx="3383280" cy="274320"/>
          </a:xfrm>
          <a:prstGeom prst="rect">
            <a:avLst/>
          </a:prstGeom>
          <a:noFill/>
          <a:ln/>
        </p:spPr>
        <p:txBody>
          <a:bodyPr wrap="square" lIns="0" tIns="0" rIns="0" bIns="0" rtlCol="0" anchor="t"/>
          <a:lstStyle/>
          <a:p>
            <a:pPr indent="0" marL="0">
              <a:buNone/>
            </a:pPr>
            <a:r>
              <a:rPr lang="en-US" sz="1500" b="1" dirty="0">
                <a:solidFill>
                  <a:srgbClr val="1E8A57"/>
                </a:solidFill>
                <a:latin typeface="Arial" pitchFamily="34" charset="0"/>
                <a:ea typeface="Arial" pitchFamily="34" charset="-122"/>
                <a:cs typeface="Arial" pitchFamily="34" charset="-120"/>
              </a:rPr>
              <a:t>Pro</a:t>
            </a:r>
            <a:endParaRPr lang="en-US" sz="1500" dirty="0"/>
          </a:p>
        </p:txBody>
      </p:sp>
      <p:sp>
        <p:nvSpPr>
          <p:cNvPr id="13" name="Text 10"/>
          <p:cNvSpPr txBox="1"/>
          <p:nvPr/>
        </p:nvSpPr>
        <p:spPr>
          <a:xfrm>
            <a:off x="5074920" y="1554480"/>
            <a:ext cx="3383280" cy="105156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Zero setup. Fast for DAX, ideas and explanation.</a:t>
            </a:r>
            <a:endParaRPr lang="en-US" sz="1500" dirty="0"/>
          </a:p>
        </p:txBody>
      </p:sp>
      <p:sp>
        <p:nvSpPr>
          <p:cNvPr id="14" name="card"/>
          <p:cNvSpPr/>
          <p:nvPr/>
        </p:nvSpPr>
        <p:spPr>
          <a:xfrm>
            <a:off x="4846320" y="2834640"/>
            <a:ext cx="3840480" cy="1508760"/>
          </a:xfrm>
          <a:prstGeom prst="roundRect">
            <a:avLst>
              <a:gd name="adj" fmla="val 6061"/>
            </a:avLst>
          </a:prstGeom>
          <a:solidFill>
            <a:srgbClr val="FCEDEB"/>
          </a:solidFill>
          <a:ln w="9525">
            <a:solidFill>
              <a:srgbClr val="F3CCC7"/>
            </a:solidFill>
            <a:prstDash val="solid"/>
          </a:ln>
          <a:effectLst>
            <a:outerShdw sx="100000" sy="100000" kx="0" ky="0" algn="bl" rotWithShape="0" blurRad="76200" dist="25400" dir="5400000">
              <a:srgbClr val="1A1530">
                <a:alpha val="10000"/>
              </a:srgbClr>
            </a:outerShdw>
          </a:effectLst>
        </p:spPr>
      </p:sp>
      <p:sp>
        <p:nvSpPr>
          <p:cNvPr id="15" name="Text 12"/>
          <p:cNvSpPr txBox="1"/>
          <p:nvPr/>
        </p:nvSpPr>
        <p:spPr>
          <a:xfrm>
            <a:off x="5074920" y="2971800"/>
            <a:ext cx="3383280" cy="274320"/>
          </a:xfrm>
          <a:prstGeom prst="rect">
            <a:avLst/>
          </a:prstGeom>
          <a:noFill/>
          <a:ln/>
        </p:spPr>
        <p:txBody>
          <a:bodyPr wrap="square" lIns="0" tIns="0" rIns="0" bIns="0" rtlCol="0" anchor="t"/>
          <a:lstStyle/>
          <a:p>
            <a:pPr indent="0" marL="0">
              <a:buNone/>
            </a:pPr>
            <a:r>
              <a:rPr lang="en-US" sz="1500" b="1" dirty="0">
                <a:solidFill>
                  <a:srgbClr val="B83A2E"/>
                </a:solidFill>
                <a:latin typeface="Arial" pitchFamily="34" charset="0"/>
                <a:ea typeface="Arial" pitchFamily="34" charset="-122"/>
                <a:cs typeface="Arial" pitchFamily="34" charset="-120"/>
              </a:rPr>
              <a:t>Con</a:t>
            </a:r>
            <a:endParaRPr lang="en-US" sz="1500" dirty="0"/>
          </a:p>
        </p:txBody>
      </p:sp>
      <p:sp>
        <p:nvSpPr>
          <p:cNvPr id="16" name="Text 13"/>
          <p:cNvSpPr txBox="1"/>
          <p:nvPr/>
        </p:nvSpPr>
        <p:spPr>
          <a:xfrm>
            <a:off x="5074920" y="3291840"/>
            <a:ext cx="3383280" cy="96012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Blind: every name is a guess. You copy and paste. Nothing is checked or repeatable.</a:t>
            </a:r>
            <a:endParaRPr lang="en-US" sz="15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888888"/>
                </a:solidFill>
                <a:latin typeface="Calibri"/>
                <a:ea typeface="Calibri"/>
                <a:cs typeface="Calibri"/>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000" b="1" dirty="0">
                <a:solidFill>
                  <a:schemeClr val="tx2"/>
                </a:solidFill>
                <a:latin typeface="Arial" pitchFamily="34" charset="0"/>
                <a:ea typeface="Arial" pitchFamily="34" charset="-122"/>
                <a:cs typeface="Arial" pitchFamily="34" charset="-120"/>
              </a:rPr>
              <a:t>Example 2: Fabric skills</a:t>
            </a:r>
            <a:endParaRPr lang="en-US" sz="3000" dirty="0"/>
          </a:p>
        </p:txBody>
      </p:sp>
      <p:sp>
        <p:nvSpPr>
          <p:cNvPr id="4" name="pill"/>
          <p:cNvSpPr/>
          <p:nvPr/>
        </p:nvSpPr>
        <p:spPr>
          <a:xfrm>
            <a:off x="457200" y="1097280"/>
            <a:ext cx="1554480" cy="274320"/>
          </a:xfrm>
          <a:prstGeom prst="roundRect">
            <a:avLst>
              <a:gd name="adj" fmla="val 50000"/>
            </a:avLst>
          </a:prstGeom>
          <a:solidFill>
            <a:schemeClr val="accent2"/>
          </a:solidFill>
          <a:ln w="12700">
            <a:solidFill>
              <a:schemeClr val="accent2"/>
            </a:solidFill>
            <a:prstDash val="solid"/>
          </a:ln>
        </p:spPr>
      </p:sp>
      <p:sp>
        <p:nvSpPr>
          <p:cNvPr id="5" name="Text 2"/>
          <p:cNvSpPr txBox="1"/>
          <p:nvPr/>
        </p:nvSpPr>
        <p:spPr>
          <a:xfrm>
            <a:off x="457200" y="1097280"/>
            <a:ext cx="1554480" cy="274320"/>
          </a:xfrm>
          <a:prstGeom prst="rect">
            <a:avLst/>
          </a:prstGeom>
          <a:noFill/>
          <a:ln/>
        </p:spPr>
        <p:txBody>
          <a:bodyPr wrap="square" lIns="0" tIns="0" rIns="0" bIns="0" rtlCol="0" anchor="ctr"/>
          <a:lstStyle/>
          <a:p>
            <a:pPr algn="ctr" indent="0" marL="0">
              <a:buNone/>
            </a:pPr>
            <a:r>
              <a:rPr lang="en-US" sz="1200" b="1" dirty="0">
                <a:solidFill>
                  <a:schemeClr val="bg1"/>
                </a:solidFill>
                <a:latin typeface="Courier New" pitchFamily="34" charset="0"/>
                <a:ea typeface="Courier New" pitchFamily="34" charset="-122"/>
                <a:cs typeface="Courier New" pitchFamily="34" charset="-120"/>
              </a:rPr>
              <a:t>RECORDED</a:t>
            </a:r>
            <a:endParaRPr lang="en-US" sz="1200" dirty="0"/>
          </a:p>
        </p:txBody>
      </p:sp>
      <p:sp>
        <p:nvSpPr>
          <p:cNvPr id="6" name="card"/>
          <p:cNvSpPr/>
          <p:nvPr/>
        </p:nvSpPr>
        <p:spPr>
          <a:xfrm>
            <a:off x="457200" y="1508760"/>
            <a:ext cx="4114800" cy="2834640"/>
          </a:xfrm>
          <a:prstGeom prst="roundRect">
            <a:avLst>
              <a:gd name="adj" fmla="val 3226"/>
            </a:avLst>
          </a:prstGeom>
          <a:solidFill>
            <a:schemeClr val="bg1"/>
          </a:solidFill>
          <a:ln w="9525">
            <a:solidFill>
              <a:srgbClr val="E3E0EE"/>
            </a:solidFill>
            <a:prstDash val="solid"/>
          </a:ln>
          <a:effectLst>
            <a:outerShdw sx="100000" sy="100000" kx="0" ky="0" algn="bl" rotWithShape="0" blurRad="76200" dist="25400" dir="5400000">
              <a:srgbClr val="1A1530">
                <a:alpha val="10000"/>
              </a:srgbClr>
            </a:outerShdw>
          </a:effectLst>
        </p:spPr>
      </p:sp>
      <p:sp>
        <p:nvSpPr>
          <p:cNvPr id="7" name="Text 4"/>
          <p:cNvSpPr txBox="1"/>
          <p:nvPr/>
        </p:nvSpPr>
        <p:spPr>
          <a:xfrm>
            <a:off x="685800" y="1645920"/>
            <a:ext cx="3657600" cy="274320"/>
          </a:xfrm>
          <a:prstGeom prst="rect">
            <a:avLst/>
          </a:prstGeom>
          <a:noFill/>
          <a:ln/>
        </p:spPr>
        <p:txBody>
          <a:bodyPr wrap="square" lIns="0" tIns="0" rIns="0" bIns="0" rtlCol="0" anchor="t"/>
          <a:lstStyle/>
          <a:p>
            <a:pPr indent="0" marL="0">
              <a:buNone/>
            </a:pPr>
            <a:r>
              <a:rPr lang="en-US" sz="1500" b="1" dirty="0">
                <a:solidFill>
                  <a:schemeClr val="accent2"/>
                </a:solidFill>
                <a:latin typeface="Arial" pitchFamily="34" charset="0"/>
                <a:ea typeface="Arial" pitchFamily="34" charset="-122"/>
                <a:cs typeface="Arial" pitchFamily="34" charset="-120"/>
              </a:rPr>
              <a:t>Setup</a:t>
            </a:r>
            <a:endParaRPr lang="en-US" sz="1500" dirty="0"/>
          </a:p>
        </p:txBody>
      </p:sp>
      <p:sp>
        <p:nvSpPr>
          <p:cNvPr id="8" name="Text 5"/>
          <p:cNvSpPr txBox="1"/>
          <p:nvPr/>
        </p:nvSpPr>
        <p:spPr>
          <a:xfrm>
            <a:off x="685800" y="1938528"/>
            <a:ext cx="3657600" cy="82296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Microsoft's Fabric Skills, installed per Microsoft's own docs. Same brief, verbatim.</a:t>
            </a:r>
            <a:endParaRPr lang="en-US" sz="1500" dirty="0"/>
          </a:p>
        </p:txBody>
      </p:sp>
      <p:sp>
        <p:nvSpPr>
          <p:cNvPr id="9" name="Text 6"/>
          <p:cNvSpPr txBox="1"/>
          <p:nvPr/>
        </p:nvSpPr>
        <p:spPr>
          <a:xfrm>
            <a:off x="685800" y="2788920"/>
            <a:ext cx="3657600" cy="274320"/>
          </a:xfrm>
          <a:prstGeom prst="rect">
            <a:avLst/>
          </a:prstGeom>
          <a:noFill/>
          <a:ln/>
        </p:spPr>
        <p:txBody>
          <a:bodyPr wrap="square" lIns="0" tIns="0" rIns="0" bIns="0" rtlCol="0" anchor="t"/>
          <a:lstStyle/>
          <a:p>
            <a:pPr indent="0" marL="0">
              <a:buNone/>
            </a:pPr>
            <a:r>
              <a:rPr lang="en-US" sz="1500" b="1" dirty="0">
                <a:solidFill>
                  <a:schemeClr val="accent2"/>
                </a:solidFill>
                <a:latin typeface="Arial" pitchFamily="34" charset="0"/>
                <a:ea typeface="Arial" pitchFamily="34" charset="-122"/>
                <a:cs typeface="Arial" pitchFamily="34" charset="-120"/>
              </a:rPr>
              <a:t>Watch for</a:t>
            </a:r>
            <a:endParaRPr lang="en-US" sz="1500" dirty="0"/>
          </a:p>
        </p:txBody>
      </p:sp>
      <p:sp>
        <p:nvSpPr>
          <p:cNvPr id="10" name="Text 7"/>
          <p:cNvSpPr txBox="1"/>
          <p:nvPr/>
        </p:nvSpPr>
        <p:spPr>
          <a:xfrm>
            <a:off x="685800" y="3081528"/>
            <a:ext cx="3657600" cy="118872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Real formats and APIs. A first draft far faster than anything you build. Variation between runs.</a:t>
            </a:r>
            <a:endParaRPr lang="en-US" sz="1500" dirty="0"/>
          </a:p>
        </p:txBody>
      </p:sp>
      <p:sp>
        <p:nvSpPr>
          <p:cNvPr id="11" name="card"/>
          <p:cNvSpPr/>
          <p:nvPr/>
        </p:nvSpPr>
        <p:spPr>
          <a:xfrm>
            <a:off x="4846320" y="1097280"/>
            <a:ext cx="3840480" cy="1600200"/>
          </a:xfrm>
          <a:prstGeom prst="roundRect">
            <a:avLst>
              <a:gd name="adj" fmla="val 5714"/>
            </a:avLst>
          </a:prstGeom>
          <a:solidFill>
            <a:srgbClr val="E8F8F1"/>
          </a:solidFill>
          <a:ln w="9525">
            <a:solidFill>
              <a:srgbClr val="BFE8D2"/>
            </a:solidFill>
            <a:prstDash val="solid"/>
          </a:ln>
          <a:effectLst>
            <a:outerShdw sx="100000" sy="100000" kx="0" ky="0" algn="bl" rotWithShape="0" blurRad="76200" dist="25400" dir="5400000">
              <a:srgbClr val="1A1530">
                <a:alpha val="10000"/>
              </a:srgbClr>
            </a:outerShdw>
          </a:effectLst>
        </p:spPr>
      </p:sp>
      <p:sp>
        <p:nvSpPr>
          <p:cNvPr id="12" name="Text 9"/>
          <p:cNvSpPr txBox="1"/>
          <p:nvPr/>
        </p:nvSpPr>
        <p:spPr>
          <a:xfrm>
            <a:off x="5074920" y="1234440"/>
            <a:ext cx="3383280" cy="274320"/>
          </a:xfrm>
          <a:prstGeom prst="rect">
            <a:avLst/>
          </a:prstGeom>
          <a:noFill/>
          <a:ln/>
        </p:spPr>
        <p:txBody>
          <a:bodyPr wrap="square" lIns="0" tIns="0" rIns="0" bIns="0" rtlCol="0" anchor="t"/>
          <a:lstStyle/>
          <a:p>
            <a:pPr indent="0" marL="0">
              <a:buNone/>
            </a:pPr>
            <a:r>
              <a:rPr lang="en-US" sz="1500" b="1" dirty="0">
                <a:solidFill>
                  <a:srgbClr val="1E8A57"/>
                </a:solidFill>
                <a:latin typeface="Arial" pitchFamily="34" charset="0"/>
                <a:ea typeface="Arial" pitchFamily="34" charset="-122"/>
                <a:cs typeface="Arial" pitchFamily="34" charset="-120"/>
              </a:rPr>
              <a:t>Pro</a:t>
            </a:r>
            <a:endParaRPr lang="en-US" sz="1500" dirty="0"/>
          </a:p>
        </p:txBody>
      </p:sp>
      <p:sp>
        <p:nvSpPr>
          <p:cNvPr id="13" name="Text 10"/>
          <p:cNvSpPr txBox="1"/>
          <p:nvPr/>
        </p:nvSpPr>
        <p:spPr>
          <a:xfrm>
            <a:off x="5074920" y="1554480"/>
            <a:ext cx="3383280" cy="105156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Maintained by Microsoft, grounded in real formats. Quick to start.</a:t>
            </a:r>
            <a:endParaRPr lang="en-US" sz="1500" dirty="0"/>
          </a:p>
        </p:txBody>
      </p:sp>
      <p:sp>
        <p:nvSpPr>
          <p:cNvPr id="14" name="card"/>
          <p:cNvSpPr/>
          <p:nvPr/>
        </p:nvSpPr>
        <p:spPr>
          <a:xfrm>
            <a:off x="4846320" y="2834640"/>
            <a:ext cx="3840480" cy="1508760"/>
          </a:xfrm>
          <a:prstGeom prst="roundRect">
            <a:avLst>
              <a:gd name="adj" fmla="val 6061"/>
            </a:avLst>
          </a:prstGeom>
          <a:solidFill>
            <a:srgbClr val="FCEDEB"/>
          </a:solidFill>
          <a:ln w="9525">
            <a:solidFill>
              <a:srgbClr val="F3CCC7"/>
            </a:solidFill>
            <a:prstDash val="solid"/>
          </a:ln>
          <a:effectLst>
            <a:outerShdw sx="100000" sy="100000" kx="0" ky="0" algn="bl" rotWithShape="0" blurRad="76200" dist="25400" dir="5400000">
              <a:srgbClr val="1A1530">
                <a:alpha val="10000"/>
              </a:srgbClr>
            </a:outerShdw>
          </a:effectLst>
        </p:spPr>
      </p:sp>
      <p:sp>
        <p:nvSpPr>
          <p:cNvPr id="15" name="Text 12"/>
          <p:cNvSpPr txBox="1"/>
          <p:nvPr/>
        </p:nvSpPr>
        <p:spPr>
          <a:xfrm>
            <a:off x="5074920" y="2971800"/>
            <a:ext cx="3383280" cy="274320"/>
          </a:xfrm>
          <a:prstGeom prst="rect">
            <a:avLst/>
          </a:prstGeom>
          <a:noFill/>
          <a:ln/>
        </p:spPr>
        <p:txBody>
          <a:bodyPr wrap="square" lIns="0" tIns="0" rIns="0" bIns="0" rtlCol="0" anchor="t"/>
          <a:lstStyle/>
          <a:p>
            <a:pPr indent="0" marL="0">
              <a:buNone/>
            </a:pPr>
            <a:r>
              <a:rPr lang="en-US" sz="1500" b="1" dirty="0">
                <a:solidFill>
                  <a:srgbClr val="B83A2E"/>
                </a:solidFill>
                <a:latin typeface="Arial" pitchFamily="34" charset="0"/>
                <a:ea typeface="Arial" pitchFamily="34" charset="-122"/>
                <a:cs typeface="Arial" pitchFamily="34" charset="-120"/>
              </a:rPr>
              <a:t>Con</a:t>
            </a:r>
            <a:endParaRPr lang="en-US" sz="1500" dirty="0"/>
          </a:p>
        </p:txBody>
      </p:sp>
      <p:sp>
        <p:nvSpPr>
          <p:cNvPr id="16" name="Text 13"/>
          <p:cNvSpPr txBox="1"/>
          <p:nvPr/>
        </p:nvSpPr>
        <p:spPr>
          <a:xfrm>
            <a:off x="5074920" y="3291840"/>
            <a:ext cx="3383280" cy="96012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Advisory and generic. Opt-in each time, and no record of who approved what.</a:t>
            </a:r>
            <a:endParaRPr lang="en-US" sz="15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888888"/>
                </a:solidFill>
                <a:latin typeface="Calibri"/>
                <a:ea typeface="Calibri"/>
                <a:cs typeface="Calibri"/>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000" b="1" dirty="0">
                <a:solidFill>
                  <a:schemeClr val="tx2"/>
                </a:solidFill>
                <a:latin typeface="Arial" pitchFamily="34" charset="0"/>
                <a:ea typeface="Arial" pitchFamily="34" charset="-122"/>
                <a:cs typeface="Arial" pitchFamily="34" charset="-120"/>
              </a:rPr>
              <a:t>Example 3: MCP</a:t>
            </a:r>
            <a:endParaRPr lang="en-US" sz="3000" dirty="0"/>
          </a:p>
        </p:txBody>
      </p:sp>
      <p:sp>
        <p:nvSpPr>
          <p:cNvPr id="4" name="pill"/>
          <p:cNvSpPr/>
          <p:nvPr/>
        </p:nvSpPr>
        <p:spPr>
          <a:xfrm>
            <a:off x="457200" y="1097280"/>
            <a:ext cx="1554480" cy="274320"/>
          </a:xfrm>
          <a:prstGeom prst="roundRect">
            <a:avLst>
              <a:gd name="adj" fmla="val 50000"/>
            </a:avLst>
          </a:prstGeom>
          <a:solidFill>
            <a:schemeClr val="accent2"/>
          </a:solidFill>
          <a:ln w="12700">
            <a:solidFill>
              <a:schemeClr val="accent2"/>
            </a:solidFill>
            <a:prstDash val="solid"/>
          </a:ln>
        </p:spPr>
      </p:sp>
      <p:sp>
        <p:nvSpPr>
          <p:cNvPr id="5" name="Text 2"/>
          <p:cNvSpPr txBox="1"/>
          <p:nvPr/>
        </p:nvSpPr>
        <p:spPr>
          <a:xfrm>
            <a:off x="457200" y="1097280"/>
            <a:ext cx="1554480" cy="274320"/>
          </a:xfrm>
          <a:prstGeom prst="rect">
            <a:avLst/>
          </a:prstGeom>
          <a:noFill/>
          <a:ln/>
        </p:spPr>
        <p:txBody>
          <a:bodyPr wrap="square" lIns="0" tIns="0" rIns="0" bIns="0" rtlCol="0" anchor="ctr"/>
          <a:lstStyle/>
          <a:p>
            <a:pPr algn="ctr" indent="0" marL="0">
              <a:buNone/>
            </a:pPr>
            <a:r>
              <a:rPr lang="en-US" sz="1200" b="1" dirty="0">
                <a:solidFill>
                  <a:schemeClr val="bg1"/>
                </a:solidFill>
                <a:latin typeface="Courier New" pitchFamily="34" charset="0"/>
                <a:ea typeface="Courier New" pitchFamily="34" charset="-122"/>
                <a:cs typeface="Courier New" pitchFamily="34" charset="-120"/>
              </a:rPr>
              <a:t>RECORDED</a:t>
            </a:r>
            <a:endParaRPr lang="en-US" sz="1200" dirty="0"/>
          </a:p>
        </p:txBody>
      </p:sp>
      <p:sp>
        <p:nvSpPr>
          <p:cNvPr id="6" name="card"/>
          <p:cNvSpPr/>
          <p:nvPr/>
        </p:nvSpPr>
        <p:spPr>
          <a:xfrm>
            <a:off x="457200" y="1508760"/>
            <a:ext cx="4114800" cy="2834640"/>
          </a:xfrm>
          <a:prstGeom prst="roundRect">
            <a:avLst>
              <a:gd name="adj" fmla="val 3226"/>
            </a:avLst>
          </a:prstGeom>
          <a:solidFill>
            <a:schemeClr val="bg1"/>
          </a:solidFill>
          <a:ln w="9525">
            <a:solidFill>
              <a:srgbClr val="E3E0EE"/>
            </a:solidFill>
            <a:prstDash val="solid"/>
          </a:ln>
          <a:effectLst>
            <a:outerShdw sx="100000" sy="100000" kx="0" ky="0" algn="bl" rotWithShape="0" blurRad="76200" dist="25400" dir="5400000">
              <a:srgbClr val="1A1530">
                <a:alpha val="10000"/>
              </a:srgbClr>
            </a:outerShdw>
          </a:effectLst>
        </p:spPr>
      </p:sp>
      <p:sp>
        <p:nvSpPr>
          <p:cNvPr id="7" name="Text 4"/>
          <p:cNvSpPr txBox="1"/>
          <p:nvPr/>
        </p:nvSpPr>
        <p:spPr>
          <a:xfrm>
            <a:off x="685800" y="1645920"/>
            <a:ext cx="3657600" cy="274320"/>
          </a:xfrm>
          <a:prstGeom prst="rect">
            <a:avLst/>
          </a:prstGeom>
          <a:noFill/>
          <a:ln/>
        </p:spPr>
        <p:txBody>
          <a:bodyPr wrap="square" lIns="0" tIns="0" rIns="0" bIns="0" rtlCol="0" anchor="t"/>
          <a:lstStyle/>
          <a:p>
            <a:pPr indent="0" marL="0">
              <a:buNone/>
            </a:pPr>
            <a:r>
              <a:rPr lang="en-US" sz="1500" b="1" dirty="0">
                <a:solidFill>
                  <a:schemeClr val="accent2"/>
                </a:solidFill>
                <a:latin typeface="Arial" pitchFamily="34" charset="0"/>
                <a:ea typeface="Arial" pitchFamily="34" charset="-122"/>
                <a:cs typeface="Arial" pitchFamily="34" charset="-120"/>
              </a:rPr>
              <a:t>Setup</a:t>
            </a:r>
            <a:endParaRPr lang="en-US" sz="1500" dirty="0"/>
          </a:p>
        </p:txBody>
      </p:sp>
      <p:sp>
        <p:nvSpPr>
          <p:cNvPr id="8" name="Text 5"/>
          <p:cNvSpPr txBox="1"/>
          <p:nvPr/>
        </p:nvSpPr>
        <p:spPr>
          <a:xfrm>
            <a:off x="685800" y="1938528"/>
            <a:ext cx="3657600" cy="82296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An agent connected live to the model and the workspace. Same brief, verbatim.</a:t>
            </a:r>
            <a:endParaRPr lang="en-US" sz="1500" dirty="0"/>
          </a:p>
        </p:txBody>
      </p:sp>
      <p:sp>
        <p:nvSpPr>
          <p:cNvPr id="9" name="Text 6"/>
          <p:cNvSpPr txBox="1"/>
          <p:nvPr/>
        </p:nvSpPr>
        <p:spPr>
          <a:xfrm>
            <a:off x="685800" y="2788920"/>
            <a:ext cx="3657600" cy="274320"/>
          </a:xfrm>
          <a:prstGeom prst="rect">
            <a:avLst/>
          </a:prstGeom>
          <a:noFill/>
          <a:ln/>
        </p:spPr>
        <p:txBody>
          <a:bodyPr wrap="square" lIns="0" tIns="0" rIns="0" bIns="0" rtlCol="0" anchor="t"/>
          <a:lstStyle/>
          <a:p>
            <a:pPr indent="0" marL="0">
              <a:buNone/>
            </a:pPr>
            <a:r>
              <a:rPr lang="en-US" sz="1500" b="1" dirty="0">
                <a:solidFill>
                  <a:schemeClr val="accent2"/>
                </a:solidFill>
                <a:latin typeface="Arial" pitchFamily="34" charset="0"/>
                <a:ea typeface="Arial" pitchFamily="34" charset="-122"/>
                <a:cs typeface="Arial" pitchFamily="34" charset="-120"/>
              </a:rPr>
              <a:t>Watch for</a:t>
            </a:r>
            <a:endParaRPr lang="en-US" sz="1500" dirty="0"/>
          </a:p>
        </p:txBody>
      </p:sp>
      <p:sp>
        <p:nvSpPr>
          <p:cNvPr id="10" name="Text 7"/>
          <p:cNvSpPr txBox="1"/>
          <p:nvPr/>
        </p:nvSpPr>
        <p:spPr>
          <a:xfrm>
            <a:off x="685800" y="3081528"/>
            <a:ext cx="3657600" cy="118872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It reads the real model: actual tables, measures, relationships. It can also write to the real thing.</a:t>
            </a:r>
            <a:endParaRPr lang="en-US" sz="1500" dirty="0"/>
          </a:p>
        </p:txBody>
      </p:sp>
      <p:sp>
        <p:nvSpPr>
          <p:cNvPr id="11" name="card"/>
          <p:cNvSpPr/>
          <p:nvPr/>
        </p:nvSpPr>
        <p:spPr>
          <a:xfrm>
            <a:off x="4846320" y="1097280"/>
            <a:ext cx="3840480" cy="1600200"/>
          </a:xfrm>
          <a:prstGeom prst="roundRect">
            <a:avLst>
              <a:gd name="adj" fmla="val 5714"/>
            </a:avLst>
          </a:prstGeom>
          <a:solidFill>
            <a:srgbClr val="E8F8F1"/>
          </a:solidFill>
          <a:ln w="9525">
            <a:solidFill>
              <a:srgbClr val="BFE8D2"/>
            </a:solidFill>
            <a:prstDash val="solid"/>
          </a:ln>
          <a:effectLst>
            <a:outerShdw sx="100000" sy="100000" kx="0" ky="0" algn="bl" rotWithShape="0" blurRad="76200" dist="25400" dir="5400000">
              <a:srgbClr val="1A1530">
                <a:alpha val="10000"/>
              </a:srgbClr>
            </a:outerShdw>
          </a:effectLst>
        </p:spPr>
      </p:sp>
      <p:sp>
        <p:nvSpPr>
          <p:cNvPr id="12" name="Text 9"/>
          <p:cNvSpPr txBox="1"/>
          <p:nvPr/>
        </p:nvSpPr>
        <p:spPr>
          <a:xfrm>
            <a:off x="5074920" y="1234440"/>
            <a:ext cx="3383280" cy="274320"/>
          </a:xfrm>
          <a:prstGeom prst="rect">
            <a:avLst/>
          </a:prstGeom>
          <a:noFill/>
          <a:ln/>
        </p:spPr>
        <p:txBody>
          <a:bodyPr wrap="square" lIns="0" tIns="0" rIns="0" bIns="0" rtlCol="0" anchor="t"/>
          <a:lstStyle/>
          <a:p>
            <a:pPr indent="0" marL="0">
              <a:buNone/>
            </a:pPr>
            <a:r>
              <a:rPr lang="en-US" sz="1500" b="1" dirty="0">
                <a:solidFill>
                  <a:srgbClr val="1E8A57"/>
                </a:solidFill>
                <a:latin typeface="Arial" pitchFamily="34" charset="0"/>
                <a:ea typeface="Arial" pitchFamily="34" charset="-122"/>
                <a:cs typeface="Arial" pitchFamily="34" charset="-120"/>
              </a:rPr>
              <a:t>Pro</a:t>
            </a:r>
            <a:endParaRPr lang="en-US" sz="1500" dirty="0"/>
          </a:p>
        </p:txBody>
      </p:sp>
      <p:sp>
        <p:nvSpPr>
          <p:cNvPr id="13" name="Text 10"/>
          <p:cNvSpPr txBox="1"/>
          <p:nvPr/>
        </p:nvSpPr>
        <p:spPr>
          <a:xfrm>
            <a:off x="5074920" y="1554480"/>
            <a:ext cx="3383280" cy="105156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Live ground truth. It looks names up instead of guessing.</a:t>
            </a:r>
            <a:endParaRPr lang="en-US" sz="1500" dirty="0"/>
          </a:p>
        </p:txBody>
      </p:sp>
      <p:sp>
        <p:nvSpPr>
          <p:cNvPr id="14" name="card"/>
          <p:cNvSpPr/>
          <p:nvPr/>
        </p:nvSpPr>
        <p:spPr>
          <a:xfrm>
            <a:off x="4846320" y="2834640"/>
            <a:ext cx="3840480" cy="1508760"/>
          </a:xfrm>
          <a:prstGeom prst="roundRect">
            <a:avLst>
              <a:gd name="adj" fmla="val 6061"/>
            </a:avLst>
          </a:prstGeom>
          <a:solidFill>
            <a:srgbClr val="FCEDEB"/>
          </a:solidFill>
          <a:ln w="9525">
            <a:solidFill>
              <a:srgbClr val="F3CCC7"/>
            </a:solidFill>
            <a:prstDash val="solid"/>
          </a:ln>
          <a:effectLst>
            <a:outerShdw sx="100000" sy="100000" kx="0" ky="0" algn="bl" rotWithShape="0" blurRad="76200" dist="25400" dir="5400000">
              <a:srgbClr val="1A1530">
                <a:alpha val="10000"/>
              </a:srgbClr>
            </a:outerShdw>
          </a:effectLst>
        </p:spPr>
      </p:sp>
      <p:sp>
        <p:nvSpPr>
          <p:cNvPr id="15" name="Text 12"/>
          <p:cNvSpPr txBox="1"/>
          <p:nvPr/>
        </p:nvSpPr>
        <p:spPr>
          <a:xfrm>
            <a:off x="5074920" y="2971800"/>
            <a:ext cx="3383280" cy="274320"/>
          </a:xfrm>
          <a:prstGeom prst="rect">
            <a:avLst/>
          </a:prstGeom>
          <a:noFill/>
          <a:ln/>
        </p:spPr>
        <p:txBody>
          <a:bodyPr wrap="square" lIns="0" tIns="0" rIns="0" bIns="0" rtlCol="0" anchor="t"/>
          <a:lstStyle/>
          <a:p>
            <a:pPr indent="0" marL="0">
              <a:buNone/>
            </a:pPr>
            <a:r>
              <a:rPr lang="en-US" sz="1500" b="1" dirty="0">
                <a:solidFill>
                  <a:srgbClr val="B83A2E"/>
                </a:solidFill>
                <a:latin typeface="Arial" pitchFamily="34" charset="0"/>
                <a:ea typeface="Arial" pitchFamily="34" charset="-122"/>
                <a:cs typeface="Arial" pitchFamily="34" charset="-120"/>
              </a:rPr>
              <a:t>Con</a:t>
            </a:r>
            <a:endParaRPr lang="en-US" sz="1500" dirty="0"/>
          </a:p>
        </p:txBody>
      </p:sp>
      <p:sp>
        <p:nvSpPr>
          <p:cNvPr id="16" name="Text 13"/>
          <p:cNvSpPr txBox="1"/>
          <p:nvPr/>
        </p:nvSpPr>
        <p:spPr>
          <a:xfrm>
            <a:off x="5074920" y="3291840"/>
            <a:ext cx="3383280" cy="96012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Capability without process: no staging copy, no approval, no record of why.</a:t>
            </a:r>
            <a:endParaRPr lang="en-US" sz="15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888888"/>
                </a:solidFill>
                <a:latin typeface="Calibri"/>
                <a:ea typeface="Calibri"/>
                <a:cs typeface="Calibri"/>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000" b="1" dirty="0">
                <a:solidFill>
                  <a:schemeClr val="tx2"/>
                </a:solidFill>
                <a:latin typeface="Arial" pitchFamily="34" charset="0"/>
                <a:ea typeface="Arial" pitchFamily="34" charset="-122"/>
                <a:cs typeface="Arial" pitchFamily="34" charset="-120"/>
              </a:rPr>
              <a:t>Example 4: Fabric skills + your own</a:t>
            </a:r>
            <a:endParaRPr lang="en-US" sz="3000" dirty="0"/>
          </a:p>
        </p:txBody>
      </p:sp>
      <p:sp>
        <p:nvSpPr>
          <p:cNvPr id="4" name="pill"/>
          <p:cNvSpPr/>
          <p:nvPr/>
        </p:nvSpPr>
        <p:spPr>
          <a:xfrm>
            <a:off x="457200" y="1097280"/>
            <a:ext cx="1554480" cy="274320"/>
          </a:xfrm>
          <a:prstGeom prst="roundRect">
            <a:avLst>
              <a:gd name="adj" fmla="val 50000"/>
            </a:avLst>
          </a:prstGeom>
          <a:solidFill>
            <a:schemeClr val="accent2"/>
          </a:solidFill>
          <a:ln w="12700">
            <a:solidFill>
              <a:schemeClr val="accent2"/>
            </a:solidFill>
            <a:prstDash val="solid"/>
          </a:ln>
        </p:spPr>
      </p:sp>
      <p:sp>
        <p:nvSpPr>
          <p:cNvPr id="5" name="Text 2"/>
          <p:cNvSpPr txBox="1"/>
          <p:nvPr/>
        </p:nvSpPr>
        <p:spPr>
          <a:xfrm>
            <a:off x="457200" y="1097280"/>
            <a:ext cx="1554480" cy="274320"/>
          </a:xfrm>
          <a:prstGeom prst="rect">
            <a:avLst/>
          </a:prstGeom>
          <a:noFill/>
          <a:ln/>
        </p:spPr>
        <p:txBody>
          <a:bodyPr wrap="square" lIns="0" tIns="0" rIns="0" bIns="0" rtlCol="0" anchor="ctr"/>
          <a:lstStyle/>
          <a:p>
            <a:pPr algn="ctr" indent="0" marL="0">
              <a:buNone/>
            </a:pPr>
            <a:r>
              <a:rPr lang="en-US" sz="1200" b="1" dirty="0">
                <a:solidFill>
                  <a:schemeClr val="bg1"/>
                </a:solidFill>
                <a:latin typeface="Courier New" pitchFamily="34" charset="0"/>
                <a:ea typeface="Courier New" pitchFamily="34" charset="-122"/>
                <a:cs typeface="Courier New" pitchFamily="34" charset="-120"/>
              </a:rPr>
              <a:t>LIVE, OFFLINE</a:t>
            </a:r>
            <a:endParaRPr lang="en-US" sz="1200" dirty="0"/>
          </a:p>
        </p:txBody>
      </p:sp>
      <p:sp>
        <p:nvSpPr>
          <p:cNvPr id="6" name="card"/>
          <p:cNvSpPr/>
          <p:nvPr/>
        </p:nvSpPr>
        <p:spPr>
          <a:xfrm>
            <a:off x="457200" y="1508760"/>
            <a:ext cx="4114800" cy="2834640"/>
          </a:xfrm>
          <a:prstGeom prst="roundRect">
            <a:avLst>
              <a:gd name="adj" fmla="val 3226"/>
            </a:avLst>
          </a:prstGeom>
          <a:solidFill>
            <a:schemeClr val="bg1"/>
          </a:solidFill>
          <a:ln w="9525">
            <a:solidFill>
              <a:srgbClr val="E3E0EE"/>
            </a:solidFill>
            <a:prstDash val="solid"/>
          </a:ln>
          <a:effectLst>
            <a:outerShdw sx="100000" sy="100000" kx="0" ky="0" algn="bl" rotWithShape="0" blurRad="76200" dist="25400" dir="5400000">
              <a:srgbClr val="1A1530">
                <a:alpha val="10000"/>
              </a:srgbClr>
            </a:outerShdw>
          </a:effectLst>
        </p:spPr>
      </p:sp>
      <p:sp>
        <p:nvSpPr>
          <p:cNvPr id="7" name="Text 4"/>
          <p:cNvSpPr txBox="1"/>
          <p:nvPr/>
        </p:nvSpPr>
        <p:spPr>
          <a:xfrm>
            <a:off x="685800" y="1645920"/>
            <a:ext cx="3657600" cy="274320"/>
          </a:xfrm>
          <a:prstGeom prst="rect">
            <a:avLst/>
          </a:prstGeom>
          <a:noFill/>
          <a:ln/>
        </p:spPr>
        <p:txBody>
          <a:bodyPr wrap="square" lIns="0" tIns="0" rIns="0" bIns="0" rtlCol="0" anchor="t"/>
          <a:lstStyle/>
          <a:p>
            <a:pPr indent="0" marL="0">
              <a:buNone/>
            </a:pPr>
            <a:r>
              <a:rPr lang="en-US" sz="1500" b="1" dirty="0">
                <a:solidFill>
                  <a:schemeClr val="accent2"/>
                </a:solidFill>
                <a:latin typeface="Arial" pitchFamily="34" charset="0"/>
                <a:ea typeface="Arial" pitchFamily="34" charset="-122"/>
                <a:cs typeface="Arial" pitchFamily="34" charset="-120"/>
              </a:rPr>
              <a:t>Setup</a:t>
            </a:r>
            <a:endParaRPr lang="en-US" sz="1500" dirty="0"/>
          </a:p>
        </p:txBody>
      </p:sp>
      <p:sp>
        <p:nvSpPr>
          <p:cNvPr id="8" name="Text 5"/>
          <p:cNvSpPr txBox="1"/>
          <p:nvPr/>
        </p:nvSpPr>
        <p:spPr>
          <a:xfrm>
            <a:off x="685800" y="1938528"/>
            <a:ext cx="3657600" cy="82296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Our scaffolding: skills, scripts, gates, human sign-offs. Live demos A and C, offline.</a:t>
            </a:r>
            <a:endParaRPr lang="en-US" sz="1500" dirty="0"/>
          </a:p>
        </p:txBody>
      </p:sp>
      <p:sp>
        <p:nvSpPr>
          <p:cNvPr id="9" name="Text 6"/>
          <p:cNvSpPr txBox="1"/>
          <p:nvPr/>
        </p:nvSpPr>
        <p:spPr>
          <a:xfrm>
            <a:off x="685800" y="2788920"/>
            <a:ext cx="3657600" cy="274320"/>
          </a:xfrm>
          <a:prstGeom prst="rect">
            <a:avLst/>
          </a:prstGeom>
          <a:noFill/>
          <a:ln/>
        </p:spPr>
        <p:txBody>
          <a:bodyPr wrap="square" lIns="0" tIns="0" rIns="0" bIns="0" rtlCol="0" anchor="t"/>
          <a:lstStyle/>
          <a:p>
            <a:pPr indent="0" marL="0">
              <a:buNone/>
            </a:pPr>
            <a:r>
              <a:rPr lang="en-US" sz="1500" b="1" dirty="0">
                <a:solidFill>
                  <a:schemeClr val="accent2"/>
                </a:solidFill>
                <a:latin typeface="Arial" pitchFamily="34" charset="0"/>
                <a:ea typeface="Arial" pitchFamily="34" charset="-122"/>
                <a:cs typeface="Arial" pitchFamily="34" charset="-120"/>
              </a:rPr>
              <a:t>Watch for</a:t>
            </a:r>
            <a:endParaRPr lang="en-US" sz="1500" dirty="0"/>
          </a:p>
        </p:txBody>
      </p:sp>
      <p:sp>
        <p:nvSpPr>
          <p:cNvPr id="10" name="Text 7"/>
          <p:cNvSpPr txBox="1"/>
          <p:nvPr/>
        </p:nvSpPr>
        <p:spPr>
          <a:xfrm>
            <a:off x="685800" y="3081528"/>
            <a:ext cx="3657600" cy="118872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A build refused for a missing sign-off. One command, green, with advisories it will not let you ignore.</a:t>
            </a:r>
            <a:endParaRPr lang="en-US" sz="1500" dirty="0"/>
          </a:p>
        </p:txBody>
      </p:sp>
      <p:sp>
        <p:nvSpPr>
          <p:cNvPr id="11" name="card"/>
          <p:cNvSpPr/>
          <p:nvPr/>
        </p:nvSpPr>
        <p:spPr>
          <a:xfrm>
            <a:off x="4846320" y="1097280"/>
            <a:ext cx="3840480" cy="1600200"/>
          </a:xfrm>
          <a:prstGeom prst="roundRect">
            <a:avLst>
              <a:gd name="adj" fmla="val 5714"/>
            </a:avLst>
          </a:prstGeom>
          <a:solidFill>
            <a:srgbClr val="E8F8F1"/>
          </a:solidFill>
          <a:ln w="9525">
            <a:solidFill>
              <a:srgbClr val="BFE8D2"/>
            </a:solidFill>
            <a:prstDash val="solid"/>
          </a:ln>
          <a:effectLst>
            <a:outerShdw sx="100000" sy="100000" kx="0" ky="0" algn="bl" rotWithShape="0" blurRad="76200" dist="25400" dir="5400000">
              <a:srgbClr val="1A1530">
                <a:alpha val="10000"/>
              </a:srgbClr>
            </a:outerShdw>
          </a:effectLst>
        </p:spPr>
      </p:sp>
      <p:sp>
        <p:nvSpPr>
          <p:cNvPr id="12" name="Text 9"/>
          <p:cNvSpPr txBox="1"/>
          <p:nvPr/>
        </p:nvSpPr>
        <p:spPr>
          <a:xfrm>
            <a:off x="5074920" y="1234440"/>
            <a:ext cx="3383280" cy="274320"/>
          </a:xfrm>
          <a:prstGeom prst="rect">
            <a:avLst/>
          </a:prstGeom>
          <a:noFill/>
          <a:ln/>
        </p:spPr>
        <p:txBody>
          <a:bodyPr wrap="square" lIns="0" tIns="0" rIns="0" bIns="0" rtlCol="0" anchor="t"/>
          <a:lstStyle/>
          <a:p>
            <a:pPr indent="0" marL="0">
              <a:buNone/>
            </a:pPr>
            <a:r>
              <a:rPr lang="en-US" sz="1500" b="1" dirty="0">
                <a:solidFill>
                  <a:srgbClr val="1E8A57"/>
                </a:solidFill>
                <a:latin typeface="Arial" pitchFamily="34" charset="0"/>
                <a:ea typeface="Arial" pitchFamily="34" charset="-122"/>
                <a:cs typeface="Arial" pitchFamily="34" charset="-120"/>
              </a:rPr>
              <a:t>Pro</a:t>
            </a:r>
            <a:endParaRPr lang="en-US" sz="1500" dirty="0"/>
          </a:p>
        </p:txBody>
      </p:sp>
      <p:sp>
        <p:nvSpPr>
          <p:cNvPr id="13" name="Text 10"/>
          <p:cNvSpPr txBox="1"/>
          <p:nvPr/>
        </p:nvSpPr>
        <p:spPr>
          <a:xfrm>
            <a:off x="5074920" y="1554480"/>
            <a:ext cx="3383280" cy="105156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Consistent, tested and gated. Standards enforced, with an audit trail.</a:t>
            </a:r>
            <a:endParaRPr lang="en-US" sz="1500" dirty="0"/>
          </a:p>
        </p:txBody>
      </p:sp>
      <p:sp>
        <p:nvSpPr>
          <p:cNvPr id="14" name="card"/>
          <p:cNvSpPr/>
          <p:nvPr/>
        </p:nvSpPr>
        <p:spPr>
          <a:xfrm>
            <a:off x="4846320" y="2834640"/>
            <a:ext cx="3840480" cy="1508760"/>
          </a:xfrm>
          <a:prstGeom prst="roundRect">
            <a:avLst>
              <a:gd name="adj" fmla="val 6061"/>
            </a:avLst>
          </a:prstGeom>
          <a:solidFill>
            <a:srgbClr val="FCEDEB"/>
          </a:solidFill>
          <a:ln w="9525">
            <a:solidFill>
              <a:srgbClr val="F3CCC7"/>
            </a:solidFill>
            <a:prstDash val="solid"/>
          </a:ln>
          <a:effectLst>
            <a:outerShdw sx="100000" sy="100000" kx="0" ky="0" algn="bl" rotWithShape="0" blurRad="76200" dist="25400" dir="5400000">
              <a:srgbClr val="1A1530">
                <a:alpha val="10000"/>
              </a:srgbClr>
            </a:outerShdw>
          </a:effectLst>
        </p:spPr>
      </p:sp>
      <p:sp>
        <p:nvSpPr>
          <p:cNvPr id="15" name="Text 12"/>
          <p:cNvSpPr txBox="1"/>
          <p:nvPr/>
        </p:nvSpPr>
        <p:spPr>
          <a:xfrm>
            <a:off x="5074920" y="2971800"/>
            <a:ext cx="3383280" cy="274320"/>
          </a:xfrm>
          <a:prstGeom prst="rect">
            <a:avLst/>
          </a:prstGeom>
          <a:noFill/>
          <a:ln/>
        </p:spPr>
        <p:txBody>
          <a:bodyPr wrap="square" lIns="0" tIns="0" rIns="0" bIns="0" rtlCol="0" anchor="t"/>
          <a:lstStyle/>
          <a:p>
            <a:pPr indent="0" marL="0">
              <a:buNone/>
            </a:pPr>
            <a:r>
              <a:rPr lang="en-US" sz="1500" b="1" dirty="0">
                <a:solidFill>
                  <a:srgbClr val="B83A2E"/>
                </a:solidFill>
                <a:latin typeface="Arial" pitchFamily="34" charset="0"/>
                <a:ea typeface="Arial" pitchFamily="34" charset="-122"/>
                <a:cs typeface="Arial" pitchFamily="34" charset="-120"/>
              </a:rPr>
              <a:t>Con</a:t>
            </a:r>
            <a:endParaRPr lang="en-US" sz="1500" dirty="0"/>
          </a:p>
        </p:txBody>
      </p:sp>
      <p:sp>
        <p:nvSpPr>
          <p:cNvPr id="16" name="Text 13"/>
          <p:cNvSpPr txBox="1"/>
          <p:nvPr/>
        </p:nvSpPr>
        <p:spPr>
          <a:xfrm>
            <a:off x="5074920" y="3291840"/>
            <a:ext cx="3383280" cy="96012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Upfront cost and upkeep. Covers only what you encoded. Overkill for one-off work.</a:t>
            </a:r>
            <a:endParaRPr lang="en-US" sz="15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888888"/>
                </a:solidFill>
                <a:latin typeface="Calibri"/>
                <a:ea typeface="Calibri"/>
                <a:cs typeface="Calibri"/>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000" b="1" dirty="0">
                <a:solidFill>
                  <a:schemeClr val="tx2"/>
                </a:solidFill>
                <a:latin typeface="Arial" pitchFamily="34" charset="0"/>
                <a:ea typeface="Arial" pitchFamily="34" charset="-122"/>
                <a:cs typeface="Arial" pitchFamily="34" charset="-120"/>
              </a:rPr>
              <a:t>Four ways, side by side</a:t>
            </a:r>
            <a:endParaRPr lang="en-US" sz="30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2011680"/>
                <a:gridCol w="3108960"/>
                <a:gridCol w="3108960"/>
              </a:tblGrid>
              <a:tr h="566928">
                <a:tc>
                  <a:txBody>
                    <a:bodyPr/>
                    <a:lstStyle/>
                    <a:p>
                      <a:pPr indent="0" marL="0">
                        <a:buNone/>
                      </a:pPr>
                      <a:r>
                        <a:rPr lang="en-US" sz="1400" b="1" dirty="0">
                          <a:solidFill>
                            <a:schemeClr val="bg1"/>
                          </a:solidFill>
                          <a:latin typeface="Arial" pitchFamily="34" charset="0"/>
                          <a:ea typeface="Arial" pitchFamily="34" charset="-122"/>
                          <a:cs typeface="Arial" pitchFamily="34" charset="-120"/>
                        </a:rPr>
                        <a:t>Approach</a:t>
                      </a:r>
                      <a:endParaRPr lang="en-US" sz="1400" dirty="0">
                        <a:latin typeface="Arial" charset="0"/>
                        <a:ea typeface="Arial" charset="0"/>
                        <a:cs typeface="Arial" charset="0"/>
                      </a:endParaRPr>
                    </a:p>
                  </a:txBody>
                  <a:tcPr marL="109728" marR="109728" marT="0" marB="0" anchor="ctr">
                    <a:lnL w="9525" cap="flat" cmpd="sng" algn="ctr">
                      <a:solidFill>
                        <a:srgbClr val="E3E0EE"/>
                      </a:solidFill>
                      <a:prstDash val="solid"/>
                      <a:round/>
                      <a:headEnd type="none" w="med" len="med"/>
                      <a:tailEnd type="none" w="med" len="med"/>
                    </a:lnL>
                    <a:lnR w="9525" cap="flat" cmpd="sng" algn="ctr">
                      <a:solidFill>
                        <a:srgbClr val="E3E0EE"/>
                      </a:solidFill>
                      <a:prstDash val="solid"/>
                      <a:round/>
                      <a:headEnd type="none" w="med" len="med"/>
                      <a:tailEnd type="none" w="med" len="med"/>
                    </a:lnR>
                    <a:lnT w="9525" cap="flat" cmpd="sng" algn="ctr">
                      <a:solidFill>
                        <a:srgbClr val="E3E0EE"/>
                      </a:solidFill>
                      <a:prstDash val="solid"/>
                      <a:round/>
                      <a:headEnd type="none" w="med" len="med"/>
                      <a:tailEnd type="none" w="med" len="med"/>
                    </a:lnT>
                    <a:lnB w="9525" cap="flat" cmpd="sng" algn="ctr">
                      <a:solidFill>
                        <a:srgbClr val="E3E0EE"/>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latin typeface="Arial" pitchFamily="34" charset="0"/>
                          <a:ea typeface="Arial" pitchFamily="34" charset="-122"/>
                          <a:cs typeface="Arial" pitchFamily="34" charset="-120"/>
                        </a:rPr>
                        <a:t>Pro</a:t>
                      </a:r>
                      <a:endParaRPr lang="en-US" sz="1400" dirty="0">
                        <a:latin typeface="Arial" charset="0"/>
                        <a:ea typeface="Arial" charset="0"/>
                        <a:cs typeface="Arial" charset="0"/>
                      </a:endParaRPr>
                    </a:p>
                  </a:txBody>
                  <a:tcPr marL="109728" marR="109728" marT="0" marB="0" anchor="ctr">
                    <a:lnL w="9525" cap="flat" cmpd="sng" algn="ctr">
                      <a:solidFill>
                        <a:srgbClr val="E3E0EE"/>
                      </a:solidFill>
                      <a:prstDash val="solid"/>
                      <a:round/>
                      <a:headEnd type="none" w="med" len="med"/>
                      <a:tailEnd type="none" w="med" len="med"/>
                    </a:lnL>
                    <a:lnR w="9525" cap="flat" cmpd="sng" algn="ctr">
                      <a:solidFill>
                        <a:srgbClr val="E3E0EE"/>
                      </a:solidFill>
                      <a:prstDash val="solid"/>
                      <a:round/>
                      <a:headEnd type="none" w="med" len="med"/>
                      <a:tailEnd type="none" w="med" len="med"/>
                    </a:lnR>
                    <a:lnT w="9525" cap="flat" cmpd="sng" algn="ctr">
                      <a:solidFill>
                        <a:srgbClr val="E3E0EE"/>
                      </a:solidFill>
                      <a:prstDash val="solid"/>
                      <a:round/>
                      <a:headEnd type="none" w="med" len="med"/>
                      <a:tailEnd type="none" w="med" len="med"/>
                    </a:lnT>
                    <a:lnB w="9525" cap="flat" cmpd="sng" algn="ctr">
                      <a:solidFill>
                        <a:srgbClr val="E3E0EE"/>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latin typeface="Arial" pitchFamily="34" charset="0"/>
                          <a:ea typeface="Arial" pitchFamily="34" charset="-122"/>
                          <a:cs typeface="Arial" pitchFamily="34" charset="-120"/>
                        </a:rPr>
                        <a:t>Con</a:t>
                      </a:r>
                      <a:endParaRPr lang="en-US" sz="1400" dirty="0">
                        <a:latin typeface="Arial" charset="0"/>
                        <a:ea typeface="Arial" charset="0"/>
                        <a:cs typeface="Arial" charset="0"/>
                      </a:endParaRPr>
                    </a:p>
                  </a:txBody>
                  <a:tcPr marL="109728" marR="109728" marT="0" marB="0" anchor="ctr">
                    <a:lnL w="9525" cap="flat" cmpd="sng" algn="ctr">
                      <a:solidFill>
                        <a:srgbClr val="E3E0EE"/>
                      </a:solidFill>
                      <a:prstDash val="solid"/>
                      <a:round/>
                      <a:headEnd type="none" w="med" len="med"/>
                      <a:tailEnd type="none" w="med" len="med"/>
                    </a:lnL>
                    <a:lnR w="9525" cap="flat" cmpd="sng" algn="ctr">
                      <a:solidFill>
                        <a:srgbClr val="E3E0EE"/>
                      </a:solidFill>
                      <a:prstDash val="solid"/>
                      <a:round/>
                      <a:headEnd type="none" w="med" len="med"/>
                      <a:tailEnd type="none" w="med" len="med"/>
                    </a:lnR>
                    <a:lnT w="9525" cap="flat" cmpd="sng" algn="ctr">
                      <a:solidFill>
                        <a:srgbClr val="E3E0EE"/>
                      </a:solidFill>
                      <a:prstDash val="solid"/>
                      <a:round/>
                      <a:headEnd type="none" w="med" len="med"/>
                      <a:tailEnd type="none" w="med" len="med"/>
                    </a:lnT>
                    <a:lnB w="9525" cap="flat" cmpd="sng" algn="ctr">
                      <a:solidFill>
                        <a:srgbClr val="E3E0EE"/>
                      </a:solidFill>
                      <a:prstDash val="solid"/>
                      <a:round/>
                      <a:headEnd type="none" w="med" len="med"/>
                      <a:tailEnd type="none" w="med" len="med"/>
                    </a:lnB>
                    <a:solidFill>
                      <a:schemeClr val="tx2"/>
                    </a:solidFill>
                  </a:tcPr>
                </a:tc>
              </a:tr>
              <a:tr h="566928">
                <a:tc>
                  <a:txBody>
                    <a:bodyPr/>
                    <a:lstStyle/>
                    <a:p>
                      <a:pPr indent="0" marL="0">
                        <a:buNone/>
                      </a:pPr>
                      <a:r>
                        <a:rPr lang="en-US" sz="1400" b="1" dirty="0">
                          <a:solidFill>
                            <a:schemeClr val="tx2"/>
                          </a:solidFill>
                          <a:latin typeface="Arial" pitchFamily="34" charset="0"/>
                          <a:ea typeface="Arial" pitchFamily="34" charset="-122"/>
                          <a:cs typeface="Arial" pitchFamily="34" charset="-120"/>
                        </a:rPr>
                        <a:t>Chat</a:t>
                      </a:r>
                      <a:endParaRPr lang="en-US" sz="1400" dirty="0">
                        <a:latin typeface="Arial" charset="0"/>
                        <a:ea typeface="Arial" charset="0"/>
                        <a:cs typeface="Arial" charset="0"/>
                      </a:endParaRPr>
                    </a:p>
                  </a:txBody>
                  <a:tcPr marL="109728" marR="109728" marT="0" marB="0" anchor="ctr">
                    <a:lnL w="9525" cap="flat" cmpd="sng" algn="ctr">
                      <a:solidFill>
                        <a:srgbClr val="E3E0EE"/>
                      </a:solidFill>
                      <a:prstDash val="solid"/>
                      <a:round/>
                      <a:headEnd type="none" w="med" len="med"/>
                      <a:tailEnd type="none" w="med" len="med"/>
                    </a:lnL>
                    <a:lnR w="9525" cap="flat" cmpd="sng" algn="ctr">
                      <a:solidFill>
                        <a:srgbClr val="E3E0EE"/>
                      </a:solidFill>
                      <a:prstDash val="solid"/>
                      <a:round/>
                      <a:headEnd type="none" w="med" len="med"/>
                      <a:tailEnd type="none" w="med" len="med"/>
                    </a:lnR>
                    <a:lnT w="9525" cap="flat" cmpd="sng" algn="ctr">
                      <a:solidFill>
                        <a:srgbClr val="E3E0EE"/>
                      </a:solidFill>
                      <a:prstDash val="solid"/>
                      <a:round/>
                      <a:headEnd type="none" w="med" len="med"/>
                      <a:tailEnd type="none" w="med" len="med"/>
                    </a:lnT>
                    <a:lnB w="9525" cap="flat" cmpd="sng" algn="ctr">
                      <a:solidFill>
                        <a:srgbClr val="E3E0EE"/>
                      </a:solidFill>
                      <a:prstDash val="solid"/>
                      <a:round/>
                      <a:headEnd type="none" w="med" len="med"/>
                      <a:tailEnd type="none" w="med" len="med"/>
                    </a:lnB>
                    <a:solidFill>
                      <a:srgbClr val="F0EEF8"/>
                    </a:solidFill>
                  </a:tcPr>
                </a:tc>
                <a:tc>
                  <a:txBody>
                    <a:bodyPr/>
                    <a:lstStyle/>
                    <a:p>
                      <a:pPr indent="0" marL="0">
                        <a:buNone/>
                      </a:pPr>
                      <a:r>
                        <a:rPr lang="en-US" sz="1400" dirty="0">
                          <a:solidFill>
                            <a:schemeClr val="tx1"/>
                          </a:solidFill>
                        </a:rPr>
                        <a:t>Zero setup, fast for DAX</a:t>
                      </a:r>
                      <a:endParaRPr lang="en-US" sz="1400" dirty="0"/>
                    </a:p>
                  </a:txBody>
                  <a:tcPr marL="109728" marR="109728" marT="0" marB="0" anchor="ctr">
                    <a:lnL w="9525" cap="flat" cmpd="sng" algn="ctr">
                      <a:solidFill>
                        <a:srgbClr val="E3E0EE"/>
                      </a:solidFill>
                      <a:prstDash val="solid"/>
                      <a:round/>
                      <a:headEnd type="none" w="med" len="med"/>
                      <a:tailEnd type="none" w="med" len="med"/>
                    </a:lnL>
                    <a:lnR w="9525" cap="flat" cmpd="sng" algn="ctr">
                      <a:solidFill>
                        <a:srgbClr val="E3E0EE"/>
                      </a:solidFill>
                      <a:prstDash val="solid"/>
                      <a:round/>
                      <a:headEnd type="none" w="med" len="med"/>
                      <a:tailEnd type="none" w="med" len="med"/>
                    </a:lnR>
                    <a:lnT w="9525" cap="flat" cmpd="sng" algn="ctr">
                      <a:solidFill>
                        <a:srgbClr val="E3E0EE"/>
                      </a:solidFill>
                      <a:prstDash val="solid"/>
                      <a:round/>
                      <a:headEnd type="none" w="med" len="med"/>
                      <a:tailEnd type="none" w="med" len="med"/>
                    </a:lnT>
                    <a:lnB w="9525" cap="flat" cmpd="sng" algn="ctr">
                      <a:solidFill>
                        <a:srgbClr val="E3E0EE"/>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Blind, unrepeatable</a:t>
                      </a:r>
                      <a:endParaRPr lang="en-US" sz="1400" dirty="0"/>
                    </a:p>
                  </a:txBody>
                  <a:tcPr marL="109728" marR="109728" marT="0" marB="0" anchor="ctr">
                    <a:lnL w="9525" cap="flat" cmpd="sng" algn="ctr">
                      <a:solidFill>
                        <a:srgbClr val="E3E0EE"/>
                      </a:solidFill>
                      <a:prstDash val="solid"/>
                      <a:round/>
                      <a:headEnd type="none" w="med" len="med"/>
                      <a:tailEnd type="none" w="med" len="med"/>
                    </a:lnL>
                    <a:lnR w="9525" cap="flat" cmpd="sng" algn="ctr">
                      <a:solidFill>
                        <a:srgbClr val="E3E0EE"/>
                      </a:solidFill>
                      <a:prstDash val="solid"/>
                      <a:round/>
                      <a:headEnd type="none" w="med" len="med"/>
                      <a:tailEnd type="none" w="med" len="med"/>
                    </a:lnR>
                    <a:lnT w="9525" cap="flat" cmpd="sng" algn="ctr">
                      <a:solidFill>
                        <a:srgbClr val="E3E0EE"/>
                      </a:solidFill>
                      <a:prstDash val="solid"/>
                      <a:round/>
                      <a:headEnd type="none" w="med" len="med"/>
                      <a:tailEnd type="none" w="med" len="med"/>
                    </a:lnT>
                    <a:lnB w="9525" cap="flat" cmpd="sng" algn="ctr">
                      <a:solidFill>
                        <a:srgbClr val="E3E0EE"/>
                      </a:solidFill>
                      <a:prstDash val="solid"/>
                      <a:round/>
                      <a:headEnd type="none" w="med" len="med"/>
                      <a:tailEnd type="none" w="med" len="med"/>
                    </a:lnB>
                    <a:solidFill>
                      <a:schemeClr val="bg1"/>
                    </a:solidFill>
                  </a:tcPr>
                </a:tc>
              </a:tr>
              <a:tr h="566928">
                <a:tc>
                  <a:txBody>
                    <a:bodyPr/>
                    <a:lstStyle/>
                    <a:p>
                      <a:pPr indent="0" marL="0">
                        <a:buNone/>
                      </a:pPr>
                      <a:r>
                        <a:rPr lang="en-US" sz="1400" b="1" dirty="0">
                          <a:solidFill>
                            <a:schemeClr val="tx2"/>
                          </a:solidFill>
                          <a:latin typeface="Arial" pitchFamily="34" charset="0"/>
                          <a:ea typeface="Arial" pitchFamily="34" charset="-122"/>
                          <a:cs typeface="Arial" pitchFamily="34" charset="-120"/>
                        </a:rPr>
                        <a:t>Fabric skills</a:t>
                      </a:r>
                      <a:endParaRPr lang="en-US" sz="1400" dirty="0">
                        <a:latin typeface="Arial" charset="0"/>
                        <a:ea typeface="Arial" charset="0"/>
                        <a:cs typeface="Arial" charset="0"/>
                      </a:endParaRPr>
                    </a:p>
                  </a:txBody>
                  <a:tcPr marL="109728" marR="109728" marT="0" marB="0" anchor="ctr">
                    <a:lnL w="9525" cap="flat" cmpd="sng" algn="ctr">
                      <a:solidFill>
                        <a:srgbClr val="E3E0EE"/>
                      </a:solidFill>
                      <a:prstDash val="solid"/>
                      <a:round/>
                      <a:headEnd type="none" w="med" len="med"/>
                      <a:tailEnd type="none" w="med" len="med"/>
                    </a:lnL>
                    <a:lnR w="9525" cap="flat" cmpd="sng" algn="ctr">
                      <a:solidFill>
                        <a:srgbClr val="E3E0EE"/>
                      </a:solidFill>
                      <a:prstDash val="solid"/>
                      <a:round/>
                      <a:headEnd type="none" w="med" len="med"/>
                      <a:tailEnd type="none" w="med" len="med"/>
                    </a:lnR>
                    <a:lnT w="9525" cap="flat" cmpd="sng" algn="ctr">
                      <a:solidFill>
                        <a:srgbClr val="E3E0EE"/>
                      </a:solidFill>
                      <a:prstDash val="solid"/>
                      <a:round/>
                      <a:headEnd type="none" w="med" len="med"/>
                      <a:tailEnd type="none" w="med" len="med"/>
                    </a:lnT>
                    <a:lnB w="9525" cap="flat" cmpd="sng" algn="ctr">
                      <a:solidFill>
                        <a:srgbClr val="E3E0EE"/>
                      </a:solidFill>
                      <a:prstDash val="solid"/>
                      <a:round/>
                      <a:headEnd type="none" w="med" len="med"/>
                      <a:tailEnd type="none" w="med" len="med"/>
                    </a:lnB>
                    <a:solidFill>
                      <a:srgbClr val="F0EEF8"/>
                    </a:solidFill>
                  </a:tcPr>
                </a:tc>
                <a:tc>
                  <a:txBody>
                    <a:bodyPr/>
                    <a:lstStyle/>
                    <a:p>
                      <a:pPr indent="0" marL="0">
                        <a:buNone/>
                      </a:pPr>
                      <a:r>
                        <a:rPr lang="en-US" sz="1400" dirty="0">
                          <a:solidFill>
                            <a:schemeClr val="tx1"/>
                          </a:solidFill>
                        </a:rPr>
                        <a:t>Grounded, quick start</a:t>
                      </a:r>
                      <a:endParaRPr lang="en-US" sz="1400" dirty="0"/>
                    </a:p>
                  </a:txBody>
                  <a:tcPr marL="109728" marR="109728" marT="0" marB="0" anchor="ctr">
                    <a:lnL w="9525" cap="flat" cmpd="sng" algn="ctr">
                      <a:solidFill>
                        <a:srgbClr val="E3E0EE"/>
                      </a:solidFill>
                      <a:prstDash val="solid"/>
                      <a:round/>
                      <a:headEnd type="none" w="med" len="med"/>
                      <a:tailEnd type="none" w="med" len="med"/>
                    </a:lnL>
                    <a:lnR w="9525" cap="flat" cmpd="sng" algn="ctr">
                      <a:solidFill>
                        <a:srgbClr val="E3E0EE"/>
                      </a:solidFill>
                      <a:prstDash val="solid"/>
                      <a:round/>
                      <a:headEnd type="none" w="med" len="med"/>
                      <a:tailEnd type="none" w="med" len="med"/>
                    </a:lnR>
                    <a:lnT w="9525" cap="flat" cmpd="sng" algn="ctr">
                      <a:solidFill>
                        <a:srgbClr val="E3E0EE"/>
                      </a:solidFill>
                      <a:prstDash val="solid"/>
                      <a:round/>
                      <a:headEnd type="none" w="med" len="med"/>
                      <a:tailEnd type="none" w="med" len="med"/>
                    </a:lnT>
                    <a:lnB w="9525" cap="flat" cmpd="sng" algn="ctr">
                      <a:solidFill>
                        <a:srgbClr val="E3E0EE"/>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Advisory, generic, no audit trail</a:t>
                      </a:r>
                      <a:endParaRPr lang="en-US" sz="1400" dirty="0"/>
                    </a:p>
                  </a:txBody>
                  <a:tcPr marL="109728" marR="109728" marT="0" marB="0" anchor="ctr">
                    <a:lnL w="9525" cap="flat" cmpd="sng" algn="ctr">
                      <a:solidFill>
                        <a:srgbClr val="E3E0EE"/>
                      </a:solidFill>
                      <a:prstDash val="solid"/>
                      <a:round/>
                      <a:headEnd type="none" w="med" len="med"/>
                      <a:tailEnd type="none" w="med" len="med"/>
                    </a:lnL>
                    <a:lnR w="9525" cap="flat" cmpd="sng" algn="ctr">
                      <a:solidFill>
                        <a:srgbClr val="E3E0EE"/>
                      </a:solidFill>
                      <a:prstDash val="solid"/>
                      <a:round/>
                      <a:headEnd type="none" w="med" len="med"/>
                      <a:tailEnd type="none" w="med" len="med"/>
                    </a:lnR>
                    <a:lnT w="9525" cap="flat" cmpd="sng" algn="ctr">
                      <a:solidFill>
                        <a:srgbClr val="E3E0EE"/>
                      </a:solidFill>
                      <a:prstDash val="solid"/>
                      <a:round/>
                      <a:headEnd type="none" w="med" len="med"/>
                      <a:tailEnd type="none" w="med" len="med"/>
                    </a:lnT>
                    <a:lnB w="9525" cap="flat" cmpd="sng" algn="ctr">
                      <a:solidFill>
                        <a:srgbClr val="E3E0EE"/>
                      </a:solidFill>
                      <a:prstDash val="solid"/>
                      <a:round/>
                      <a:headEnd type="none" w="med" len="med"/>
                      <a:tailEnd type="none" w="med" len="med"/>
                    </a:lnB>
                    <a:solidFill>
                      <a:schemeClr val="bg1"/>
                    </a:solidFill>
                  </a:tcPr>
                </a:tc>
              </a:tr>
              <a:tr h="566928">
                <a:tc>
                  <a:txBody>
                    <a:bodyPr/>
                    <a:lstStyle/>
                    <a:p>
                      <a:pPr indent="0" marL="0">
                        <a:buNone/>
                      </a:pPr>
                      <a:r>
                        <a:rPr lang="en-US" sz="1400" b="1" dirty="0">
                          <a:solidFill>
                            <a:schemeClr val="tx2"/>
                          </a:solidFill>
                          <a:latin typeface="Arial" pitchFamily="34" charset="0"/>
                          <a:ea typeface="Arial" pitchFamily="34" charset="-122"/>
                          <a:cs typeface="Arial" pitchFamily="34" charset="-120"/>
                        </a:rPr>
                        <a:t>MCP</a:t>
                      </a:r>
                      <a:endParaRPr lang="en-US" sz="1400" dirty="0">
                        <a:latin typeface="Arial" charset="0"/>
                        <a:ea typeface="Arial" charset="0"/>
                        <a:cs typeface="Arial" charset="0"/>
                      </a:endParaRPr>
                    </a:p>
                  </a:txBody>
                  <a:tcPr marL="109728" marR="109728" marT="0" marB="0" anchor="ctr">
                    <a:lnL w="9525" cap="flat" cmpd="sng" algn="ctr">
                      <a:solidFill>
                        <a:srgbClr val="E3E0EE"/>
                      </a:solidFill>
                      <a:prstDash val="solid"/>
                      <a:round/>
                      <a:headEnd type="none" w="med" len="med"/>
                      <a:tailEnd type="none" w="med" len="med"/>
                    </a:lnL>
                    <a:lnR w="9525" cap="flat" cmpd="sng" algn="ctr">
                      <a:solidFill>
                        <a:srgbClr val="E3E0EE"/>
                      </a:solidFill>
                      <a:prstDash val="solid"/>
                      <a:round/>
                      <a:headEnd type="none" w="med" len="med"/>
                      <a:tailEnd type="none" w="med" len="med"/>
                    </a:lnR>
                    <a:lnT w="9525" cap="flat" cmpd="sng" algn="ctr">
                      <a:solidFill>
                        <a:srgbClr val="E3E0EE"/>
                      </a:solidFill>
                      <a:prstDash val="solid"/>
                      <a:round/>
                      <a:headEnd type="none" w="med" len="med"/>
                      <a:tailEnd type="none" w="med" len="med"/>
                    </a:lnT>
                    <a:lnB w="9525" cap="flat" cmpd="sng" algn="ctr">
                      <a:solidFill>
                        <a:srgbClr val="E3E0EE"/>
                      </a:solidFill>
                      <a:prstDash val="solid"/>
                      <a:round/>
                      <a:headEnd type="none" w="med" len="med"/>
                      <a:tailEnd type="none" w="med" len="med"/>
                    </a:lnB>
                    <a:solidFill>
                      <a:srgbClr val="F0EEF8"/>
                    </a:solidFill>
                  </a:tcPr>
                </a:tc>
                <a:tc>
                  <a:txBody>
                    <a:bodyPr/>
                    <a:lstStyle/>
                    <a:p>
                      <a:pPr indent="0" marL="0">
                        <a:buNone/>
                      </a:pPr>
                      <a:r>
                        <a:rPr lang="en-US" sz="1400" dirty="0">
                          <a:solidFill>
                            <a:schemeClr val="tx1"/>
                          </a:solidFill>
                        </a:rPr>
                        <a:t>Live ground truth</a:t>
                      </a:r>
                      <a:endParaRPr lang="en-US" sz="1400" dirty="0"/>
                    </a:p>
                  </a:txBody>
                  <a:tcPr marL="109728" marR="109728" marT="0" marB="0" anchor="ctr">
                    <a:lnL w="9525" cap="flat" cmpd="sng" algn="ctr">
                      <a:solidFill>
                        <a:srgbClr val="E3E0EE"/>
                      </a:solidFill>
                      <a:prstDash val="solid"/>
                      <a:round/>
                      <a:headEnd type="none" w="med" len="med"/>
                      <a:tailEnd type="none" w="med" len="med"/>
                    </a:lnL>
                    <a:lnR w="9525" cap="flat" cmpd="sng" algn="ctr">
                      <a:solidFill>
                        <a:srgbClr val="E3E0EE"/>
                      </a:solidFill>
                      <a:prstDash val="solid"/>
                      <a:round/>
                      <a:headEnd type="none" w="med" len="med"/>
                      <a:tailEnd type="none" w="med" len="med"/>
                    </a:lnR>
                    <a:lnT w="9525" cap="flat" cmpd="sng" algn="ctr">
                      <a:solidFill>
                        <a:srgbClr val="E3E0EE"/>
                      </a:solidFill>
                      <a:prstDash val="solid"/>
                      <a:round/>
                      <a:headEnd type="none" w="med" len="med"/>
                      <a:tailEnd type="none" w="med" len="med"/>
                    </a:lnT>
                    <a:lnB w="9525" cap="flat" cmpd="sng" algn="ctr">
                      <a:solidFill>
                        <a:srgbClr val="E3E0EE"/>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No gate on what it writes</a:t>
                      </a:r>
                      <a:endParaRPr lang="en-US" sz="1400" dirty="0"/>
                    </a:p>
                  </a:txBody>
                  <a:tcPr marL="109728" marR="109728" marT="0" marB="0" anchor="ctr">
                    <a:lnL w="9525" cap="flat" cmpd="sng" algn="ctr">
                      <a:solidFill>
                        <a:srgbClr val="E3E0EE"/>
                      </a:solidFill>
                      <a:prstDash val="solid"/>
                      <a:round/>
                      <a:headEnd type="none" w="med" len="med"/>
                      <a:tailEnd type="none" w="med" len="med"/>
                    </a:lnL>
                    <a:lnR w="9525" cap="flat" cmpd="sng" algn="ctr">
                      <a:solidFill>
                        <a:srgbClr val="E3E0EE"/>
                      </a:solidFill>
                      <a:prstDash val="solid"/>
                      <a:round/>
                      <a:headEnd type="none" w="med" len="med"/>
                      <a:tailEnd type="none" w="med" len="med"/>
                    </a:lnR>
                    <a:lnT w="9525" cap="flat" cmpd="sng" algn="ctr">
                      <a:solidFill>
                        <a:srgbClr val="E3E0EE"/>
                      </a:solidFill>
                      <a:prstDash val="solid"/>
                      <a:round/>
                      <a:headEnd type="none" w="med" len="med"/>
                      <a:tailEnd type="none" w="med" len="med"/>
                    </a:lnT>
                    <a:lnB w="9525" cap="flat" cmpd="sng" algn="ctr">
                      <a:solidFill>
                        <a:srgbClr val="E3E0EE"/>
                      </a:solidFill>
                      <a:prstDash val="solid"/>
                      <a:round/>
                      <a:headEnd type="none" w="med" len="med"/>
                      <a:tailEnd type="none" w="med" len="med"/>
                    </a:lnB>
                    <a:solidFill>
                      <a:schemeClr val="bg1"/>
                    </a:solidFill>
                  </a:tcPr>
                </a:tc>
              </a:tr>
              <a:tr h="566928">
                <a:tc>
                  <a:txBody>
                    <a:bodyPr/>
                    <a:lstStyle/>
                    <a:p>
                      <a:pPr indent="0" marL="0">
                        <a:buNone/>
                      </a:pPr>
                      <a:r>
                        <a:rPr lang="en-US" sz="1400" b="1" dirty="0">
                          <a:solidFill>
                            <a:schemeClr val="tx2"/>
                          </a:solidFill>
                          <a:latin typeface="Arial" pitchFamily="34" charset="0"/>
                          <a:ea typeface="Arial" pitchFamily="34" charset="-122"/>
                          <a:cs typeface="Arial" pitchFamily="34" charset="-120"/>
                        </a:rPr>
                        <a:t>Skills + your own</a:t>
                      </a:r>
                      <a:endParaRPr lang="en-US" sz="1400" dirty="0">
                        <a:latin typeface="Arial" charset="0"/>
                        <a:ea typeface="Arial" charset="0"/>
                        <a:cs typeface="Arial" charset="0"/>
                      </a:endParaRPr>
                    </a:p>
                  </a:txBody>
                  <a:tcPr marL="109728" marR="109728" marT="0" marB="0" anchor="ctr">
                    <a:lnL w="9525" cap="flat" cmpd="sng" algn="ctr">
                      <a:solidFill>
                        <a:srgbClr val="E3E0EE"/>
                      </a:solidFill>
                      <a:prstDash val="solid"/>
                      <a:round/>
                      <a:headEnd type="none" w="med" len="med"/>
                      <a:tailEnd type="none" w="med" len="med"/>
                    </a:lnL>
                    <a:lnR w="9525" cap="flat" cmpd="sng" algn="ctr">
                      <a:solidFill>
                        <a:srgbClr val="E3E0EE"/>
                      </a:solidFill>
                      <a:prstDash val="solid"/>
                      <a:round/>
                      <a:headEnd type="none" w="med" len="med"/>
                      <a:tailEnd type="none" w="med" len="med"/>
                    </a:lnR>
                    <a:lnT w="9525" cap="flat" cmpd="sng" algn="ctr">
                      <a:solidFill>
                        <a:srgbClr val="E3E0EE"/>
                      </a:solidFill>
                      <a:prstDash val="solid"/>
                      <a:round/>
                      <a:headEnd type="none" w="med" len="med"/>
                      <a:tailEnd type="none" w="med" len="med"/>
                    </a:lnT>
                    <a:lnB w="9525" cap="flat" cmpd="sng" algn="ctr">
                      <a:solidFill>
                        <a:srgbClr val="E3E0EE"/>
                      </a:solidFill>
                      <a:prstDash val="solid"/>
                      <a:round/>
                      <a:headEnd type="none" w="med" len="med"/>
                      <a:tailEnd type="none" w="med" len="med"/>
                    </a:lnB>
                    <a:solidFill>
                      <a:srgbClr val="F0EEF8"/>
                    </a:solidFill>
                  </a:tcPr>
                </a:tc>
                <a:tc>
                  <a:txBody>
                    <a:bodyPr/>
                    <a:lstStyle/>
                    <a:p>
                      <a:pPr indent="0" marL="0">
                        <a:buNone/>
                      </a:pPr>
                      <a:r>
                        <a:rPr lang="en-US" sz="1400" dirty="0">
                          <a:solidFill>
                            <a:schemeClr val="tx1"/>
                          </a:solidFill>
                        </a:rPr>
                        <a:t>Gated, tested, audited</a:t>
                      </a:r>
                      <a:endParaRPr lang="en-US" sz="1400" dirty="0"/>
                    </a:p>
                  </a:txBody>
                  <a:tcPr marL="109728" marR="109728" marT="0" marB="0" anchor="ctr">
                    <a:lnL w="9525" cap="flat" cmpd="sng" algn="ctr">
                      <a:solidFill>
                        <a:srgbClr val="E3E0EE"/>
                      </a:solidFill>
                      <a:prstDash val="solid"/>
                      <a:round/>
                      <a:headEnd type="none" w="med" len="med"/>
                      <a:tailEnd type="none" w="med" len="med"/>
                    </a:lnL>
                    <a:lnR w="9525" cap="flat" cmpd="sng" algn="ctr">
                      <a:solidFill>
                        <a:srgbClr val="E3E0EE"/>
                      </a:solidFill>
                      <a:prstDash val="solid"/>
                      <a:round/>
                      <a:headEnd type="none" w="med" len="med"/>
                      <a:tailEnd type="none" w="med" len="med"/>
                    </a:lnR>
                    <a:lnT w="9525" cap="flat" cmpd="sng" algn="ctr">
                      <a:solidFill>
                        <a:srgbClr val="E3E0EE"/>
                      </a:solidFill>
                      <a:prstDash val="solid"/>
                      <a:round/>
                      <a:headEnd type="none" w="med" len="med"/>
                      <a:tailEnd type="none" w="med" len="med"/>
                    </a:lnT>
                    <a:lnB w="9525" cap="flat" cmpd="sng" algn="ctr">
                      <a:solidFill>
                        <a:srgbClr val="E3E0EE"/>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Upfront cost, upkeep</a:t>
                      </a:r>
                      <a:endParaRPr lang="en-US" sz="1400" dirty="0"/>
                    </a:p>
                  </a:txBody>
                  <a:tcPr marL="109728" marR="109728" marT="0" marB="0" anchor="ctr">
                    <a:lnL w="9525" cap="flat" cmpd="sng" algn="ctr">
                      <a:solidFill>
                        <a:srgbClr val="E3E0EE"/>
                      </a:solidFill>
                      <a:prstDash val="solid"/>
                      <a:round/>
                      <a:headEnd type="none" w="med" len="med"/>
                      <a:tailEnd type="none" w="med" len="med"/>
                    </a:lnL>
                    <a:lnR w="9525" cap="flat" cmpd="sng" algn="ctr">
                      <a:solidFill>
                        <a:srgbClr val="E3E0EE"/>
                      </a:solidFill>
                      <a:prstDash val="solid"/>
                      <a:round/>
                      <a:headEnd type="none" w="med" len="med"/>
                      <a:tailEnd type="none" w="med" len="med"/>
                    </a:lnR>
                    <a:lnT w="9525" cap="flat" cmpd="sng" algn="ctr">
                      <a:solidFill>
                        <a:srgbClr val="E3E0EE"/>
                      </a:solidFill>
                      <a:prstDash val="solid"/>
                      <a:round/>
                      <a:headEnd type="none" w="med" len="med"/>
                      <a:tailEnd type="none" w="med" len="med"/>
                    </a:lnT>
                    <a:lnB w="9525" cap="flat" cmpd="sng" algn="ctr">
                      <a:solidFill>
                        <a:srgbClr val="E3E0EE"/>
                      </a:solidFill>
                      <a:prstDash val="solid"/>
                      <a:round/>
                      <a:headEnd type="none" w="med" len="med"/>
                      <a:tailEnd type="none" w="med" len="med"/>
                    </a:lnB>
                    <a:solidFill>
                      <a:schemeClr val="bg1"/>
                    </a:solidFill>
                  </a:tcPr>
                </a:tc>
              </a:tr>
            </a:tbl>
          </a:graphicData>
        </a:graphic>
      </p:graphicFrame>
      <p:sp>
        <p:nvSpPr>
          <p:cNvPr id="5" name="Text 1"/>
          <p:cNvSpPr txBox="1"/>
          <p:nvPr/>
        </p:nvSpPr>
        <p:spPr>
          <a:xfrm>
            <a:off x="457200" y="4160520"/>
            <a:ext cx="8229600" cy="365760"/>
          </a:xfrm>
          <a:prstGeom prst="rect">
            <a:avLst/>
          </a:prstGeom>
          <a:noFill/>
          <a:ln/>
        </p:spPr>
        <p:txBody>
          <a:bodyPr wrap="square" lIns="0" tIns="0" rIns="0" bIns="0" rtlCol="0" anchor="t"/>
          <a:lstStyle/>
          <a:p>
            <a:pPr indent="0" marL="0">
              <a:buNone/>
            </a:pPr>
            <a:r>
              <a:rPr lang="en-US" sz="1800" b="1" dirty="0">
                <a:solidFill>
                  <a:schemeClr val="accent2"/>
                </a:solidFill>
                <a:latin typeface="Calibri" pitchFamily="34" charset="0"/>
                <a:ea typeface="Calibri" pitchFamily="34" charset="-122"/>
                <a:cs typeface="Calibri" pitchFamily="34" charset="-120"/>
              </a:rPr>
              <a:t>Each rung adds grounding or control. Only the last adds both.</a:t>
            </a:r>
            <a:endParaRPr lang="en-US" sz="18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888888"/>
                </a:solidFill>
                <a:latin typeface="Calibri"/>
                <a:ea typeface="Calibri"/>
                <a:cs typeface="Calibri"/>
              </a:defRPr>
            </a:lvl1pPr>
          </a:lstStyle>
          <a:p>
            <a:pPr algn="l"/>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000" b="1" dirty="0">
                <a:solidFill>
                  <a:schemeClr val="tx2"/>
                </a:solidFill>
                <a:latin typeface="Arial" pitchFamily="34" charset="0"/>
                <a:ea typeface="Arial" pitchFamily="34" charset="-122"/>
                <a:cs typeface="Arial" pitchFamily="34" charset="-120"/>
              </a:rPr>
              <a:t>Grounding and control</a:t>
            </a:r>
            <a:endParaRPr lang="en-US" sz="3000" dirty="0"/>
          </a:p>
        </p:txBody>
      </p:sp>
      <p:sp>
        <p:nvSpPr>
          <p:cNvPr id="4" name="card"/>
          <p:cNvSpPr/>
          <p:nvPr/>
        </p:nvSpPr>
        <p:spPr>
          <a:xfrm>
            <a:off x="1188720" y="1097280"/>
            <a:ext cx="6949440" cy="3200400"/>
          </a:xfrm>
          <a:prstGeom prst="roundRect">
            <a:avLst>
              <a:gd name="adj" fmla="val 2857"/>
            </a:avLst>
          </a:prstGeom>
          <a:solidFill>
            <a:schemeClr val="bg1"/>
          </a:solidFill>
          <a:ln w="9525">
            <a:solidFill>
              <a:srgbClr val="E3E0EE"/>
            </a:solidFill>
            <a:prstDash val="solid"/>
          </a:ln>
        </p:spPr>
      </p:sp>
      <p:sp>
        <p:nvSpPr>
          <p:cNvPr id="5" name="Shape 2"/>
          <p:cNvSpPr/>
          <p:nvPr/>
        </p:nvSpPr>
        <p:spPr>
          <a:xfrm>
            <a:off x="4663440" y="1097280"/>
            <a:ext cx="0" cy="3200400"/>
          </a:xfrm>
          <a:prstGeom prst="line">
            <a:avLst/>
          </a:prstGeom>
          <a:noFill/>
          <a:ln w="12700">
            <a:solidFill>
              <a:srgbClr val="D5D1E4"/>
            </a:solidFill>
            <a:prstDash val="dash"/>
          </a:ln>
        </p:spPr>
      </p:sp>
      <p:sp>
        <p:nvSpPr>
          <p:cNvPr id="6" name="Shape 3"/>
          <p:cNvSpPr/>
          <p:nvPr/>
        </p:nvSpPr>
        <p:spPr>
          <a:xfrm>
            <a:off x="1188720" y="2697480"/>
            <a:ext cx="6949440" cy="0"/>
          </a:xfrm>
          <a:prstGeom prst="line">
            <a:avLst/>
          </a:prstGeom>
          <a:noFill/>
          <a:ln w="12700">
            <a:solidFill>
              <a:srgbClr val="D5D1E4"/>
            </a:solidFill>
            <a:prstDash val="dash"/>
          </a:ln>
        </p:spPr>
      </p:sp>
      <p:sp>
        <p:nvSpPr>
          <p:cNvPr id="7" name="Text 4"/>
          <p:cNvSpPr txBox="1"/>
          <p:nvPr/>
        </p:nvSpPr>
        <p:spPr>
          <a:xfrm>
            <a:off x="182880" y="1097280"/>
            <a:ext cx="960120" cy="457200"/>
          </a:xfrm>
          <a:prstGeom prst="rect">
            <a:avLst/>
          </a:prstGeom>
          <a:noFill/>
          <a:ln/>
        </p:spPr>
        <p:txBody>
          <a:bodyPr wrap="square" lIns="0" tIns="0" rIns="0" bIns="0" rtlCol="0" anchor="t"/>
          <a:lstStyle/>
          <a:p>
            <a:pPr algn="r" indent="0" marL="0">
              <a:buNone/>
            </a:pPr>
            <a:r>
              <a:rPr lang="en-US" sz="1200" dirty="0">
                <a:solidFill>
                  <a:srgbClr val="6B6B6B"/>
                </a:solidFill>
                <a:latin typeface="Calibri" pitchFamily="34" charset="0"/>
                <a:ea typeface="Calibri" pitchFamily="34" charset="-122"/>
                <a:cs typeface="Calibri" pitchFamily="34" charset="-120"/>
              </a:rPr>
              <a:t>More grounded</a:t>
            </a:r>
            <a:endParaRPr lang="en-US" sz="1200" dirty="0"/>
          </a:p>
        </p:txBody>
      </p:sp>
      <p:sp>
        <p:nvSpPr>
          <p:cNvPr id="8" name="Text 5"/>
          <p:cNvSpPr txBox="1"/>
          <p:nvPr/>
        </p:nvSpPr>
        <p:spPr>
          <a:xfrm>
            <a:off x="365760" y="4023360"/>
            <a:ext cx="777240" cy="274320"/>
          </a:xfrm>
          <a:prstGeom prst="rect">
            <a:avLst/>
          </a:prstGeom>
          <a:noFill/>
          <a:ln/>
        </p:spPr>
        <p:txBody>
          <a:bodyPr wrap="square" lIns="0" tIns="0" rIns="0" bIns="0" rtlCol="0" anchor="t"/>
          <a:lstStyle/>
          <a:p>
            <a:pPr algn="r" indent="0" marL="0">
              <a:buNone/>
            </a:pPr>
            <a:r>
              <a:rPr lang="en-US" sz="1200" dirty="0">
                <a:solidFill>
                  <a:srgbClr val="6B6B6B"/>
                </a:solidFill>
                <a:latin typeface="Calibri" pitchFamily="34" charset="0"/>
                <a:ea typeface="Calibri" pitchFamily="34" charset="-122"/>
                <a:cs typeface="Calibri" pitchFamily="34" charset="-120"/>
              </a:rPr>
              <a:t>Blind</a:t>
            </a:r>
            <a:endParaRPr lang="en-US" sz="1200" dirty="0"/>
          </a:p>
        </p:txBody>
      </p:sp>
      <p:sp>
        <p:nvSpPr>
          <p:cNvPr id="9" name="Text 6"/>
          <p:cNvSpPr txBox="1"/>
          <p:nvPr/>
        </p:nvSpPr>
        <p:spPr>
          <a:xfrm>
            <a:off x="1188720" y="4343400"/>
            <a:ext cx="1371600" cy="274320"/>
          </a:xfrm>
          <a:prstGeom prst="rect">
            <a:avLst/>
          </a:prstGeom>
          <a:noFill/>
          <a:ln/>
        </p:spPr>
        <p:txBody>
          <a:bodyPr wrap="square" lIns="0" tIns="0" rIns="0" bIns="0" rtlCol="0" anchor="t"/>
          <a:lstStyle/>
          <a:p>
            <a:pPr indent="0" marL="0">
              <a:buNone/>
            </a:pPr>
            <a:r>
              <a:rPr lang="en-US" sz="1200" dirty="0">
                <a:solidFill>
                  <a:srgbClr val="6B6B6B"/>
                </a:solidFill>
                <a:latin typeface="Calibri" pitchFamily="34" charset="0"/>
                <a:ea typeface="Calibri" pitchFamily="34" charset="-122"/>
                <a:cs typeface="Calibri" pitchFamily="34" charset="-120"/>
              </a:rPr>
              <a:t>Advisory</a:t>
            </a:r>
            <a:endParaRPr lang="en-US" sz="1200" dirty="0"/>
          </a:p>
        </p:txBody>
      </p:sp>
      <p:sp>
        <p:nvSpPr>
          <p:cNvPr id="10" name="Text 7"/>
          <p:cNvSpPr txBox="1"/>
          <p:nvPr/>
        </p:nvSpPr>
        <p:spPr>
          <a:xfrm>
            <a:off x="6766560" y="4343400"/>
            <a:ext cx="1371600" cy="274320"/>
          </a:xfrm>
          <a:prstGeom prst="rect">
            <a:avLst/>
          </a:prstGeom>
          <a:noFill/>
          <a:ln/>
        </p:spPr>
        <p:txBody>
          <a:bodyPr wrap="square" lIns="0" tIns="0" rIns="0" bIns="0" rtlCol="0" anchor="t"/>
          <a:lstStyle/>
          <a:p>
            <a:pPr algn="r" indent="0" marL="0">
              <a:buNone/>
            </a:pPr>
            <a:r>
              <a:rPr lang="en-US" sz="1200" dirty="0">
                <a:solidFill>
                  <a:srgbClr val="6B6B6B"/>
                </a:solidFill>
                <a:latin typeface="Calibri" pitchFamily="34" charset="0"/>
                <a:ea typeface="Calibri" pitchFamily="34" charset="-122"/>
                <a:cs typeface="Calibri" pitchFamily="34" charset="-120"/>
              </a:rPr>
              <a:t>Blocking</a:t>
            </a:r>
            <a:endParaRPr lang="en-US" sz="1200" dirty="0"/>
          </a:p>
        </p:txBody>
      </p:sp>
      <p:sp>
        <p:nvSpPr>
          <p:cNvPr id="11" name="dot"/>
          <p:cNvSpPr/>
          <p:nvPr/>
        </p:nvSpPr>
        <p:spPr>
          <a:xfrm>
            <a:off x="2103120" y="3703320"/>
            <a:ext cx="365760" cy="365760"/>
          </a:xfrm>
          <a:prstGeom prst="ellipse">
            <a:avLst/>
          </a:prstGeom>
          <a:solidFill>
            <a:schemeClr val="accent2"/>
          </a:solidFill>
          <a:ln w="12700">
            <a:solidFill>
              <a:schemeClr val="accent2"/>
            </a:solidFill>
            <a:prstDash val="solid"/>
          </a:ln>
        </p:spPr>
      </p:sp>
      <p:sp>
        <p:nvSpPr>
          <p:cNvPr id="12" name="Text 9"/>
          <p:cNvSpPr txBox="1"/>
          <p:nvPr/>
        </p:nvSpPr>
        <p:spPr>
          <a:xfrm>
            <a:off x="2103120" y="3703320"/>
            <a:ext cx="365760" cy="365760"/>
          </a:xfrm>
          <a:prstGeom prst="rect">
            <a:avLst/>
          </a:prstGeom>
          <a:noFill/>
          <a:ln/>
        </p:spPr>
        <p:txBody>
          <a:bodyPr wrap="square" lIns="0" tIns="0" rIns="0" bIns="0" rtlCol="0" anchor="ctr"/>
          <a:lstStyle/>
          <a:p>
            <a:pPr algn="ctr" indent="0" marL="0">
              <a:buNone/>
            </a:pPr>
            <a:r>
              <a:rPr lang="en-US" sz="1100" b="1" dirty="0">
                <a:solidFill>
                  <a:schemeClr val="bg1"/>
                </a:solidFill>
                <a:latin typeface="Arial" pitchFamily="34" charset="0"/>
                <a:ea typeface="Arial" pitchFamily="34" charset="-122"/>
                <a:cs typeface="Arial" pitchFamily="34" charset="-120"/>
              </a:rPr>
              <a:t>1</a:t>
            </a:r>
            <a:endParaRPr lang="en-US" sz="1100" dirty="0"/>
          </a:p>
        </p:txBody>
      </p:sp>
      <p:sp>
        <p:nvSpPr>
          <p:cNvPr id="13" name="Text 10"/>
          <p:cNvSpPr txBox="1"/>
          <p:nvPr/>
        </p:nvSpPr>
        <p:spPr>
          <a:xfrm>
            <a:off x="2560320" y="3703320"/>
            <a:ext cx="2011680" cy="365760"/>
          </a:xfrm>
          <a:prstGeom prst="rect">
            <a:avLst/>
          </a:prstGeom>
          <a:noFill/>
          <a:ln/>
        </p:spPr>
        <p:txBody>
          <a:bodyPr wrap="square" lIns="0" tIns="0" rIns="0" bIns="0" rtlCol="0" anchor="ctr"/>
          <a:lstStyle/>
          <a:p>
            <a:pPr indent="0" marL="0">
              <a:buNone/>
            </a:pPr>
            <a:r>
              <a:rPr lang="en-US" sz="1500" b="1" dirty="0">
                <a:solidFill>
                  <a:schemeClr val="tx2"/>
                </a:solidFill>
                <a:latin typeface="Calibri" pitchFamily="34" charset="0"/>
                <a:ea typeface="Calibri" pitchFamily="34" charset="-122"/>
                <a:cs typeface="Calibri" pitchFamily="34" charset="-120"/>
              </a:rPr>
              <a:t>Chat</a:t>
            </a:r>
            <a:endParaRPr lang="en-US" sz="1500" dirty="0"/>
          </a:p>
        </p:txBody>
      </p:sp>
      <p:sp>
        <p:nvSpPr>
          <p:cNvPr id="14" name="dot"/>
          <p:cNvSpPr/>
          <p:nvPr/>
        </p:nvSpPr>
        <p:spPr>
          <a:xfrm>
            <a:off x="3108960" y="2926080"/>
            <a:ext cx="365760" cy="365760"/>
          </a:xfrm>
          <a:prstGeom prst="ellipse">
            <a:avLst/>
          </a:prstGeom>
          <a:solidFill>
            <a:schemeClr val="accent2"/>
          </a:solidFill>
          <a:ln w="12700">
            <a:solidFill>
              <a:schemeClr val="accent2"/>
            </a:solidFill>
            <a:prstDash val="solid"/>
          </a:ln>
        </p:spPr>
      </p:sp>
      <p:sp>
        <p:nvSpPr>
          <p:cNvPr id="15" name="Text 12"/>
          <p:cNvSpPr txBox="1"/>
          <p:nvPr/>
        </p:nvSpPr>
        <p:spPr>
          <a:xfrm>
            <a:off x="3108960" y="2926080"/>
            <a:ext cx="365760" cy="365760"/>
          </a:xfrm>
          <a:prstGeom prst="rect">
            <a:avLst/>
          </a:prstGeom>
          <a:noFill/>
          <a:ln/>
        </p:spPr>
        <p:txBody>
          <a:bodyPr wrap="square" lIns="0" tIns="0" rIns="0" bIns="0" rtlCol="0" anchor="ctr"/>
          <a:lstStyle/>
          <a:p>
            <a:pPr algn="ctr" indent="0" marL="0">
              <a:buNone/>
            </a:pPr>
            <a:r>
              <a:rPr lang="en-US" sz="1100" b="1" dirty="0">
                <a:solidFill>
                  <a:schemeClr val="bg1"/>
                </a:solidFill>
                <a:latin typeface="Arial" pitchFamily="34" charset="0"/>
                <a:ea typeface="Arial" pitchFamily="34" charset="-122"/>
                <a:cs typeface="Arial" pitchFamily="34" charset="-120"/>
              </a:rPr>
              <a:t>2</a:t>
            </a:r>
            <a:endParaRPr lang="en-US" sz="1100" dirty="0"/>
          </a:p>
        </p:txBody>
      </p:sp>
      <p:sp>
        <p:nvSpPr>
          <p:cNvPr id="16" name="Text 13"/>
          <p:cNvSpPr txBox="1"/>
          <p:nvPr/>
        </p:nvSpPr>
        <p:spPr>
          <a:xfrm>
            <a:off x="3566160" y="2926080"/>
            <a:ext cx="2011680" cy="365760"/>
          </a:xfrm>
          <a:prstGeom prst="rect">
            <a:avLst/>
          </a:prstGeom>
          <a:noFill/>
          <a:ln/>
        </p:spPr>
        <p:txBody>
          <a:bodyPr wrap="square" lIns="0" tIns="0" rIns="0" bIns="0" rtlCol="0" anchor="ctr"/>
          <a:lstStyle/>
          <a:p>
            <a:pPr indent="0" marL="0">
              <a:buNone/>
            </a:pPr>
            <a:r>
              <a:rPr lang="en-US" sz="1500" b="1" dirty="0">
                <a:solidFill>
                  <a:schemeClr val="tx2"/>
                </a:solidFill>
                <a:latin typeface="Calibri" pitchFamily="34" charset="0"/>
                <a:ea typeface="Calibri" pitchFamily="34" charset="-122"/>
                <a:cs typeface="Calibri" pitchFamily="34" charset="-120"/>
              </a:rPr>
              <a:t>Fabric skills</a:t>
            </a:r>
            <a:endParaRPr lang="en-US" sz="1500" dirty="0"/>
          </a:p>
        </p:txBody>
      </p:sp>
      <p:sp>
        <p:nvSpPr>
          <p:cNvPr id="17" name="dot"/>
          <p:cNvSpPr/>
          <p:nvPr/>
        </p:nvSpPr>
        <p:spPr>
          <a:xfrm>
            <a:off x="2926080" y="1965960"/>
            <a:ext cx="365760" cy="365760"/>
          </a:xfrm>
          <a:prstGeom prst="ellipse">
            <a:avLst/>
          </a:prstGeom>
          <a:solidFill>
            <a:schemeClr val="accent2"/>
          </a:solidFill>
          <a:ln w="12700">
            <a:solidFill>
              <a:schemeClr val="accent2"/>
            </a:solidFill>
            <a:prstDash val="solid"/>
          </a:ln>
        </p:spPr>
      </p:sp>
      <p:sp>
        <p:nvSpPr>
          <p:cNvPr id="18" name="Text 15"/>
          <p:cNvSpPr txBox="1"/>
          <p:nvPr/>
        </p:nvSpPr>
        <p:spPr>
          <a:xfrm>
            <a:off x="2926080" y="1965960"/>
            <a:ext cx="365760" cy="365760"/>
          </a:xfrm>
          <a:prstGeom prst="rect">
            <a:avLst/>
          </a:prstGeom>
          <a:noFill/>
          <a:ln/>
        </p:spPr>
        <p:txBody>
          <a:bodyPr wrap="square" lIns="0" tIns="0" rIns="0" bIns="0" rtlCol="0" anchor="ctr"/>
          <a:lstStyle/>
          <a:p>
            <a:pPr algn="ctr" indent="0" marL="0">
              <a:buNone/>
            </a:pPr>
            <a:r>
              <a:rPr lang="en-US" sz="1100" b="1" dirty="0">
                <a:solidFill>
                  <a:schemeClr val="bg1"/>
                </a:solidFill>
                <a:latin typeface="Arial" pitchFamily="34" charset="0"/>
                <a:ea typeface="Arial" pitchFamily="34" charset="-122"/>
                <a:cs typeface="Arial" pitchFamily="34" charset="-120"/>
              </a:rPr>
              <a:t>3</a:t>
            </a:r>
            <a:endParaRPr lang="en-US" sz="1100" dirty="0"/>
          </a:p>
        </p:txBody>
      </p:sp>
      <p:sp>
        <p:nvSpPr>
          <p:cNvPr id="19" name="Text 16"/>
          <p:cNvSpPr txBox="1"/>
          <p:nvPr/>
        </p:nvSpPr>
        <p:spPr>
          <a:xfrm>
            <a:off x="3383280" y="1965960"/>
            <a:ext cx="2011680" cy="365760"/>
          </a:xfrm>
          <a:prstGeom prst="rect">
            <a:avLst/>
          </a:prstGeom>
          <a:noFill/>
          <a:ln/>
        </p:spPr>
        <p:txBody>
          <a:bodyPr wrap="square" lIns="0" tIns="0" rIns="0" bIns="0" rtlCol="0" anchor="ctr"/>
          <a:lstStyle/>
          <a:p>
            <a:pPr indent="0" marL="0">
              <a:buNone/>
            </a:pPr>
            <a:r>
              <a:rPr lang="en-US" sz="1500" b="1" dirty="0">
                <a:solidFill>
                  <a:schemeClr val="tx2"/>
                </a:solidFill>
                <a:latin typeface="Calibri" pitchFamily="34" charset="0"/>
                <a:ea typeface="Calibri" pitchFamily="34" charset="-122"/>
                <a:cs typeface="Calibri" pitchFamily="34" charset="-120"/>
              </a:rPr>
              <a:t>MCP</a:t>
            </a:r>
            <a:endParaRPr lang="en-US" sz="1500" dirty="0"/>
          </a:p>
        </p:txBody>
      </p:sp>
      <p:sp>
        <p:nvSpPr>
          <p:cNvPr id="20" name="dot"/>
          <p:cNvSpPr/>
          <p:nvPr/>
        </p:nvSpPr>
        <p:spPr>
          <a:xfrm>
            <a:off x="6035040" y="1920240"/>
            <a:ext cx="365760" cy="365760"/>
          </a:xfrm>
          <a:prstGeom prst="ellipse">
            <a:avLst/>
          </a:prstGeom>
          <a:solidFill>
            <a:schemeClr val="accent1"/>
          </a:solidFill>
          <a:ln w="12700">
            <a:solidFill>
              <a:schemeClr val="accent1"/>
            </a:solidFill>
            <a:prstDash val="solid"/>
          </a:ln>
        </p:spPr>
      </p:sp>
      <p:sp>
        <p:nvSpPr>
          <p:cNvPr id="21" name="Text 18"/>
          <p:cNvSpPr txBox="1"/>
          <p:nvPr/>
        </p:nvSpPr>
        <p:spPr>
          <a:xfrm>
            <a:off x="6035040" y="1920240"/>
            <a:ext cx="365760" cy="365760"/>
          </a:xfrm>
          <a:prstGeom prst="rect">
            <a:avLst/>
          </a:prstGeom>
          <a:noFill/>
          <a:ln/>
        </p:spPr>
        <p:txBody>
          <a:bodyPr wrap="square" lIns="0" tIns="0" rIns="0" bIns="0" rtlCol="0" anchor="ctr"/>
          <a:lstStyle/>
          <a:p>
            <a:pPr algn="ctr" indent="0" marL="0">
              <a:buNone/>
            </a:pPr>
            <a:r>
              <a:rPr lang="en-US" sz="1100" b="1" dirty="0">
                <a:solidFill>
                  <a:schemeClr val="tx2"/>
                </a:solidFill>
                <a:latin typeface="Arial" pitchFamily="34" charset="0"/>
                <a:ea typeface="Arial" pitchFamily="34" charset="-122"/>
                <a:cs typeface="Arial" pitchFamily="34" charset="-120"/>
              </a:rPr>
              <a:t>4</a:t>
            </a:r>
            <a:endParaRPr lang="en-US" sz="1100" dirty="0"/>
          </a:p>
        </p:txBody>
      </p:sp>
      <p:sp>
        <p:nvSpPr>
          <p:cNvPr id="22" name="Text 19"/>
          <p:cNvSpPr txBox="1"/>
          <p:nvPr/>
        </p:nvSpPr>
        <p:spPr>
          <a:xfrm>
            <a:off x="6492240" y="1920240"/>
            <a:ext cx="2011680" cy="365760"/>
          </a:xfrm>
          <a:prstGeom prst="rect">
            <a:avLst/>
          </a:prstGeom>
          <a:noFill/>
          <a:ln/>
        </p:spPr>
        <p:txBody>
          <a:bodyPr wrap="square" lIns="0" tIns="0" rIns="0" bIns="0" rtlCol="0" anchor="ctr"/>
          <a:lstStyle/>
          <a:p>
            <a:pPr indent="0" marL="0">
              <a:buNone/>
            </a:pPr>
            <a:r>
              <a:rPr lang="en-US" sz="1500" b="1" dirty="0">
                <a:solidFill>
                  <a:schemeClr val="tx2"/>
                </a:solidFill>
                <a:latin typeface="Calibri" pitchFamily="34" charset="0"/>
                <a:ea typeface="Calibri" pitchFamily="34" charset="-122"/>
                <a:cs typeface="Calibri" pitchFamily="34" charset="-120"/>
              </a:rPr>
              <a:t>Skills + your own</a:t>
            </a:r>
            <a:endParaRPr lang="en-US" sz="15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888888"/>
                </a:solidFill>
                <a:latin typeface="Calibri"/>
                <a:ea typeface="Calibri"/>
                <a:cs typeface="Calibri"/>
              </a:defRPr>
            </a:lvl1pPr>
          </a:lstStyle>
          <a:p>
            <a:pPr algn="l"/>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000" b="1" dirty="0">
                <a:solidFill>
                  <a:schemeClr val="tx2"/>
                </a:solidFill>
                <a:latin typeface="Arial" pitchFamily="34" charset="0"/>
                <a:ea typeface="Arial" pitchFamily="34" charset="-122"/>
                <a:cs typeface="Arial" pitchFamily="34" charset="-120"/>
              </a:rPr>
              <a:t>The mistake every check passed</a:t>
            </a:r>
            <a:endParaRPr lang="en-US" sz="3000" dirty="0"/>
          </a:p>
        </p:txBody>
      </p:sp>
      <p:sp>
        <p:nvSpPr>
          <p:cNvPr id="4" name="card"/>
          <p:cNvSpPr/>
          <p:nvPr/>
        </p:nvSpPr>
        <p:spPr>
          <a:xfrm>
            <a:off x="457200" y="1234440"/>
            <a:ext cx="3931920" cy="685800"/>
          </a:xfrm>
          <a:prstGeom prst="roundRect">
            <a:avLst>
              <a:gd name="adj" fmla="val 13333"/>
            </a:avLst>
          </a:prstGeom>
          <a:solidFill>
            <a:schemeClr val="bg1"/>
          </a:solidFill>
          <a:ln w="9525">
            <a:solidFill>
              <a:srgbClr val="E3E0EE"/>
            </a:solidFill>
            <a:prstDash val="solid"/>
          </a:ln>
        </p:spPr>
      </p:sp>
      <p:sp>
        <p:nvSpPr>
          <p:cNvPr id="5" name="dot"/>
          <p:cNvSpPr/>
          <p:nvPr/>
        </p:nvSpPr>
        <p:spPr>
          <a:xfrm>
            <a:off x="640080" y="1389888"/>
            <a:ext cx="365760" cy="365760"/>
          </a:xfrm>
          <a:prstGeom prst="ellipse">
            <a:avLst/>
          </a:prstGeom>
          <a:solidFill>
            <a:schemeClr val="accent4"/>
          </a:solidFill>
          <a:ln w="12700">
            <a:solidFill>
              <a:schemeClr val="accent4"/>
            </a:solidFill>
            <a:prstDash val="solid"/>
          </a:ln>
        </p:spPr>
      </p:sp>
      <p:sp>
        <p:nvSpPr>
          <p:cNvPr id="6" name="Text 3"/>
          <p:cNvSpPr txBox="1"/>
          <p:nvPr/>
        </p:nvSpPr>
        <p:spPr>
          <a:xfrm>
            <a:off x="640080" y="1389888"/>
            <a:ext cx="365760" cy="365760"/>
          </a:xfrm>
          <a:prstGeom prst="rect">
            <a:avLst/>
          </a:prstGeom>
          <a:noFill/>
          <a:ln/>
        </p:spPr>
        <p:txBody>
          <a:bodyPr wrap="square" lIns="0" tIns="0" rIns="0" bIns="0" rtlCol="0" anchor="ctr"/>
          <a:lstStyle/>
          <a:p>
            <a:pPr algn="ctr" indent="0" marL="0">
              <a:buNone/>
            </a:pPr>
            <a:r>
              <a:rPr lang="en-US" sz="1100" b="1" dirty="0">
                <a:solidFill>
                  <a:schemeClr val="bg1"/>
                </a:solidFill>
                <a:latin typeface="Arial" pitchFamily="34" charset="0"/>
                <a:ea typeface="Arial" pitchFamily="34" charset="-122"/>
                <a:cs typeface="Arial" pitchFamily="34" charset="-120"/>
              </a:rPr>
              <a:t>✓</a:t>
            </a:r>
            <a:endParaRPr lang="en-US" sz="1100" dirty="0"/>
          </a:p>
        </p:txBody>
      </p:sp>
      <p:sp>
        <p:nvSpPr>
          <p:cNvPr id="7" name="Text 4"/>
          <p:cNvSpPr txBox="1"/>
          <p:nvPr/>
        </p:nvSpPr>
        <p:spPr>
          <a:xfrm>
            <a:off x="1188720" y="1234440"/>
            <a:ext cx="3108960" cy="685800"/>
          </a:xfrm>
          <a:prstGeom prst="rect">
            <a:avLst/>
          </a:prstGeom>
          <a:noFill/>
          <a:ln/>
        </p:spPr>
        <p:txBody>
          <a:bodyPr wrap="square" lIns="0" tIns="0" rIns="0" bIns="0" rtlCol="0" anchor="ctr"/>
          <a:lstStyle/>
          <a:p>
            <a:pPr indent="0" marL="0">
              <a:buNone/>
            </a:pPr>
            <a:r>
              <a:rPr lang="en-US" sz="1700" b="1" dirty="0">
                <a:solidFill>
                  <a:schemeClr val="tx2"/>
                </a:solidFill>
                <a:latin typeface="Arial" pitchFamily="34" charset="0"/>
                <a:ea typeface="Arial" pitchFamily="34" charset="-122"/>
                <a:cs typeface="Arial" pitchFamily="34" charset="-120"/>
              </a:rPr>
              <a:t>Gates passed</a:t>
            </a:r>
            <a:endParaRPr lang="en-US" sz="1700" dirty="0"/>
          </a:p>
        </p:txBody>
      </p:sp>
      <p:sp>
        <p:nvSpPr>
          <p:cNvPr id="8" name="card"/>
          <p:cNvSpPr/>
          <p:nvPr/>
        </p:nvSpPr>
        <p:spPr>
          <a:xfrm>
            <a:off x="457200" y="2057400"/>
            <a:ext cx="3931920" cy="685800"/>
          </a:xfrm>
          <a:prstGeom prst="roundRect">
            <a:avLst>
              <a:gd name="adj" fmla="val 13333"/>
            </a:avLst>
          </a:prstGeom>
          <a:solidFill>
            <a:schemeClr val="bg1"/>
          </a:solidFill>
          <a:ln w="9525">
            <a:solidFill>
              <a:srgbClr val="E3E0EE"/>
            </a:solidFill>
            <a:prstDash val="solid"/>
          </a:ln>
        </p:spPr>
      </p:sp>
      <p:sp>
        <p:nvSpPr>
          <p:cNvPr id="9" name="dot"/>
          <p:cNvSpPr/>
          <p:nvPr/>
        </p:nvSpPr>
        <p:spPr>
          <a:xfrm>
            <a:off x="640080" y="2212848"/>
            <a:ext cx="365760" cy="365760"/>
          </a:xfrm>
          <a:prstGeom prst="ellipse">
            <a:avLst/>
          </a:prstGeom>
          <a:solidFill>
            <a:schemeClr val="accent4"/>
          </a:solidFill>
          <a:ln w="12700">
            <a:solidFill>
              <a:schemeClr val="accent4"/>
            </a:solidFill>
            <a:prstDash val="solid"/>
          </a:ln>
        </p:spPr>
      </p:sp>
      <p:sp>
        <p:nvSpPr>
          <p:cNvPr id="10" name="Text 7"/>
          <p:cNvSpPr txBox="1"/>
          <p:nvPr/>
        </p:nvSpPr>
        <p:spPr>
          <a:xfrm>
            <a:off x="640080" y="2212848"/>
            <a:ext cx="365760" cy="365760"/>
          </a:xfrm>
          <a:prstGeom prst="rect">
            <a:avLst/>
          </a:prstGeom>
          <a:noFill/>
          <a:ln/>
        </p:spPr>
        <p:txBody>
          <a:bodyPr wrap="square" lIns="0" tIns="0" rIns="0" bIns="0" rtlCol="0" anchor="ctr"/>
          <a:lstStyle/>
          <a:p>
            <a:pPr algn="ctr" indent="0" marL="0">
              <a:buNone/>
            </a:pPr>
            <a:r>
              <a:rPr lang="en-US" sz="1100" b="1" dirty="0">
                <a:solidFill>
                  <a:schemeClr val="bg1"/>
                </a:solidFill>
                <a:latin typeface="Arial" pitchFamily="34" charset="0"/>
                <a:ea typeface="Arial" pitchFamily="34" charset="-122"/>
                <a:cs typeface="Arial" pitchFamily="34" charset="-120"/>
              </a:rPr>
              <a:t>✓</a:t>
            </a:r>
            <a:endParaRPr lang="en-US" sz="1100" dirty="0"/>
          </a:p>
        </p:txBody>
      </p:sp>
      <p:sp>
        <p:nvSpPr>
          <p:cNvPr id="11" name="Text 8"/>
          <p:cNvSpPr txBox="1"/>
          <p:nvPr/>
        </p:nvSpPr>
        <p:spPr>
          <a:xfrm>
            <a:off x="1188720" y="2057400"/>
            <a:ext cx="3108960" cy="685800"/>
          </a:xfrm>
          <a:prstGeom prst="rect">
            <a:avLst/>
          </a:prstGeom>
          <a:noFill/>
          <a:ln/>
        </p:spPr>
        <p:txBody>
          <a:bodyPr wrap="square" lIns="0" tIns="0" rIns="0" bIns="0" rtlCol="0" anchor="ctr"/>
          <a:lstStyle/>
          <a:p>
            <a:pPr indent="0" marL="0">
              <a:buNone/>
            </a:pPr>
            <a:r>
              <a:rPr lang="en-US" sz="1700" b="1" dirty="0">
                <a:solidFill>
                  <a:schemeClr val="tx2"/>
                </a:solidFill>
                <a:latin typeface="Arial" pitchFamily="34" charset="0"/>
                <a:ea typeface="Arial" pitchFamily="34" charset="-122"/>
                <a:cs typeface="Arial" pitchFamily="34" charset="-120"/>
              </a:rPr>
              <a:t>DAX passed</a:t>
            </a:r>
            <a:endParaRPr lang="en-US" sz="1700" dirty="0"/>
          </a:p>
        </p:txBody>
      </p:sp>
      <p:sp>
        <p:nvSpPr>
          <p:cNvPr id="12" name="card"/>
          <p:cNvSpPr/>
          <p:nvPr/>
        </p:nvSpPr>
        <p:spPr>
          <a:xfrm>
            <a:off x="457200" y="2880360"/>
            <a:ext cx="3931920" cy="685800"/>
          </a:xfrm>
          <a:prstGeom prst="roundRect">
            <a:avLst>
              <a:gd name="adj" fmla="val 13333"/>
            </a:avLst>
          </a:prstGeom>
          <a:solidFill>
            <a:schemeClr val="bg1"/>
          </a:solidFill>
          <a:ln w="9525">
            <a:solidFill>
              <a:srgbClr val="E3E0EE"/>
            </a:solidFill>
            <a:prstDash val="solid"/>
          </a:ln>
        </p:spPr>
      </p:sp>
      <p:sp>
        <p:nvSpPr>
          <p:cNvPr id="13" name="dot"/>
          <p:cNvSpPr/>
          <p:nvPr/>
        </p:nvSpPr>
        <p:spPr>
          <a:xfrm>
            <a:off x="640080" y="3035808"/>
            <a:ext cx="365760" cy="365760"/>
          </a:xfrm>
          <a:prstGeom prst="ellipse">
            <a:avLst/>
          </a:prstGeom>
          <a:solidFill>
            <a:schemeClr val="accent4"/>
          </a:solidFill>
          <a:ln w="12700">
            <a:solidFill>
              <a:schemeClr val="accent4"/>
            </a:solidFill>
            <a:prstDash val="solid"/>
          </a:ln>
        </p:spPr>
      </p:sp>
      <p:sp>
        <p:nvSpPr>
          <p:cNvPr id="14" name="Text 11"/>
          <p:cNvSpPr txBox="1"/>
          <p:nvPr/>
        </p:nvSpPr>
        <p:spPr>
          <a:xfrm>
            <a:off x="640080" y="3035808"/>
            <a:ext cx="365760" cy="365760"/>
          </a:xfrm>
          <a:prstGeom prst="rect">
            <a:avLst/>
          </a:prstGeom>
          <a:noFill/>
          <a:ln/>
        </p:spPr>
        <p:txBody>
          <a:bodyPr wrap="square" lIns="0" tIns="0" rIns="0" bIns="0" rtlCol="0" anchor="ctr"/>
          <a:lstStyle/>
          <a:p>
            <a:pPr algn="ctr" indent="0" marL="0">
              <a:buNone/>
            </a:pPr>
            <a:r>
              <a:rPr lang="en-US" sz="1100" b="1" dirty="0">
                <a:solidFill>
                  <a:schemeClr val="bg1"/>
                </a:solidFill>
                <a:latin typeface="Arial" pitchFamily="34" charset="0"/>
                <a:ea typeface="Arial" pitchFamily="34" charset="-122"/>
                <a:cs typeface="Arial" pitchFamily="34" charset="-120"/>
              </a:rPr>
              <a:t>✓</a:t>
            </a:r>
            <a:endParaRPr lang="en-US" sz="1100" dirty="0"/>
          </a:p>
        </p:txBody>
      </p:sp>
      <p:sp>
        <p:nvSpPr>
          <p:cNvPr id="15" name="Text 12"/>
          <p:cNvSpPr txBox="1"/>
          <p:nvPr/>
        </p:nvSpPr>
        <p:spPr>
          <a:xfrm>
            <a:off x="1188720" y="2880360"/>
            <a:ext cx="3108960" cy="685800"/>
          </a:xfrm>
          <a:prstGeom prst="rect">
            <a:avLst/>
          </a:prstGeom>
          <a:noFill/>
          <a:ln/>
        </p:spPr>
        <p:txBody>
          <a:bodyPr wrap="square" lIns="0" tIns="0" rIns="0" bIns="0" rtlCol="0" anchor="ctr"/>
          <a:lstStyle/>
          <a:p>
            <a:pPr indent="0" marL="0">
              <a:buNone/>
            </a:pPr>
            <a:r>
              <a:rPr lang="en-US" sz="1700" b="1" dirty="0">
                <a:solidFill>
                  <a:schemeClr val="tx2"/>
                </a:solidFill>
                <a:latin typeface="Arial" pitchFamily="34" charset="0"/>
                <a:ea typeface="Arial" pitchFamily="34" charset="-122"/>
                <a:cs typeface="Arial" pitchFamily="34" charset="-120"/>
              </a:rPr>
              <a:t>Render matched the mockup</a:t>
            </a:r>
            <a:endParaRPr lang="en-US" sz="1700" dirty="0"/>
          </a:p>
        </p:txBody>
      </p:sp>
      <p:sp>
        <p:nvSpPr>
          <p:cNvPr id="16" name="card"/>
          <p:cNvSpPr/>
          <p:nvPr/>
        </p:nvSpPr>
        <p:spPr>
          <a:xfrm>
            <a:off x="4754880" y="1234440"/>
            <a:ext cx="3931920" cy="2331720"/>
          </a:xfrm>
          <a:prstGeom prst="roundRect">
            <a:avLst>
              <a:gd name="adj" fmla="val 3922"/>
            </a:avLst>
          </a:prstGeom>
          <a:solidFill>
            <a:schemeClr val="tx2"/>
          </a:solidFill>
          <a:ln w="9525">
            <a:solidFill>
              <a:srgbClr val="1A1530"/>
            </a:solidFill>
            <a:prstDash val="solid"/>
          </a:ln>
          <a:effectLst>
            <a:outerShdw sx="100000" sy="100000" kx="0" ky="0" algn="bl" rotWithShape="0" blurRad="76200" dist="25400" dir="5400000">
              <a:srgbClr val="1A1530">
                <a:alpha val="10000"/>
              </a:srgbClr>
            </a:outerShdw>
          </a:effectLst>
        </p:spPr>
      </p:sp>
      <p:sp>
        <p:nvSpPr>
          <p:cNvPr id="17" name="Text 14"/>
          <p:cNvSpPr txBox="1"/>
          <p:nvPr/>
        </p:nvSpPr>
        <p:spPr>
          <a:xfrm>
            <a:off x="5029200" y="1463040"/>
            <a:ext cx="3383280" cy="914400"/>
          </a:xfrm>
          <a:prstGeom prst="rect">
            <a:avLst/>
          </a:prstGeom>
          <a:noFill/>
          <a:ln/>
        </p:spPr>
        <p:txBody>
          <a:bodyPr wrap="square" lIns="0" tIns="0" rIns="0" bIns="0" rtlCol="0" anchor="t"/>
          <a:lstStyle/>
          <a:p>
            <a:pPr indent="0" marL="0">
              <a:buNone/>
            </a:pPr>
            <a:r>
              <a:rPr lang="en-US" sz="2600" b="1" dirty="0">
                <a:solidFill>
                  <a:schemeClr val="bg1"/>
                </a:solidFill>
                <a:latin typeface="Arial" pitchFamily="34" charset="0"/>
                <a:ea typeface="Arial" pitchFamily="34" charset="-122"/>
                <a:cs typeface="Arial" pitchFamily="34" charset="-120"/>
              </a:rPr>
              <a:t>The slicer drove nothing.</a:t>
            </a:r>
            <a:endParaRPr lang="en-US" sz="2600" dirty="0"/>
          </a:p>
        </p:txBody>
      </p:sp>
      <p:sp>
        <p:nvSpPr>
          <p:cNvPr id="18" name="Text 15"/>
          <p:cNvSpPr txBox="1"/>
          <p:nvPr/>
        </p:nvSpPr>
        <p:spPr>
          <a:xfrm>
            <a:off x="5029200" y="2423160"/>
            <a:ext cx="3383280" cy="914400"/>
          </a:xfrm>
          <a:prstGeom prst="rect">
            <a:avLst/>
          </a:prstGeom>
          <a:noFill/>
          <a:ln/>
        </p:spPr>
        <p:txBody>
          <a:bodyPr wrap="square" lIns="0" tIns="0" rIns="0" bIns="0" rtlCol="0" anchor="t"/>
          <a:lstStyle/>
          <a:p>
            <a:pPr indent="0" marL="0">
              <a:buNone/>
            </a:pPr>
            <a:r>
              <a:rPr lang="en-US" sz="1600" dirty="0">
                <a:solidFill>
                  <a:srgbClr val="F0EEF8"/>
                </a:solidFill>
                <a:latin typeface="Calibri" pitchFamily="34" charset="0"/>
                <a:ea typeface="Calibri" pitchFamily="34" charset="-122"/>
                <a:cs typeface="Calibri" pitchFamily="34" charset="-120"/>
              </a:rPr>
              <a:t>Found by a person clicking it and noticing the chart did not move.</a:t>
            </a:r>
            <a:endParaRPr lang="en-US" sz="1600" dirty="0"/>
          </a:p>
        </p:txBody>
      </p:sp>
      <p:sp>
        <p:nvSpPr>
          <p:cNvPr id="19" name="Text 16"/>
          <p:cNvSpPr txBox="1"/>
          <p:nvPr/>
        </p:nvSpPr>
        <p:spPr>
          <a:xfrm>
            <a:off x="457200" y="3794760"/>
            <a:ext cx="8229600" cy="640080"/>
          </a:xfrm>
          <a:prstGeom prst="rect">
            <a:avLst/>
          </a:prstGeom>
          <a:noFill/>
          <a:ln/>
        </p:spPr>
        <p:txBody>
          <a:bodyPr wrap="square" lIns="0" tIns="0" rIns="0" bIns="0" rtlCol="0" anchor="t"/>
          <a:lstStyle/>
          <a:p>
            <a:pPr indent="0" marL="0">
              <a:buNone/>
            </a:pPr>
            <a:r>
              <a:rPr lang="en-US" sz="1800" b="1" dirty="0">
                <a:solidFill>
                  <a:schemeClr val="accent2"/>
                </a:solidFill>
                <a:latin typeface="Calibri" pitchFamily="34" charset="0"/>
                <a:ea typeface="Calibri" pitchFamily="34" charset="-122"/>
                <a:cs typeface="Calibri" pitchFamily="34" charset="-120"/>
              </a:rPr>
              <a:t>Automated checks catch what they were written to catch. The interaction layer is still yours.</a:t>
            </a:r>
            <a:endParaRPr lang="en-US" sz="18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888888"/>
                </a:solidFill>
                <a:latin typeface="Calibri"/>
                <a:ea typeface="Calibri"/>
                <a:cs typeface="Calibri"/>
              </a:defRPr>
            </a:lvl1pPr>
          </a:lstStyle>
          <a:p>
            <a:pPr algn="l"/>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000" b="1" dirty="0">
                <a:solidFill>
                  <a:schemeClr val="tx2"/>
                </a:solidFill>
                <a:latin typeface="Arial" pitchFamily="34" charset="0"/>
                <a:ea typeface="Arial" pitchFamily="34" charset="-122"/>
                <a:cs typeface="Arial" pitchFamily="34" charset="-120"/>
              </a:rPr>
              <a:t>What to check before you trust it</a:t>
            </a:r>
            <a:endParaRPr lang="en-US" sz="3000" dirty="0"/>
          </a:p>
        </p:txBody>
      </p:sp>
      <p:sp>
        <p:nvSpPr>
          <p:cNvPr id="4" name="card"/>
          <p:cNvSpPr/>
          <p:nvPr/>
        </p:nvSpPr>
        <p:spPr>
          <a:xfrm>
            <a:off x="457200" y="1188720"/>
            <a:ext cx="4023360" cy="1417320"/>
          </a:xfrm>
          <a:prstGeom prst="roundRect">
            <a:avLst>
              <a:gd name="adj" fmla="val 6452"/>
            </a:avLst>
          </a:prstGeom>
          <a:solidFill>
            <a:schemeClr val="bg1"/>
          </a:solidFill>
          <a:ln w="9525">
            <a:solidFill>
              <a:srgbClr val="E3E0EE"/>
            </a:solidFill>
            <a:prstDash val="solid"/>
          </a:ln>
          <a:effectLst>
            <a:outerShdw sx="100000" sy="100000" kx="0" ky="0" algn="bl" rotWithShape="0" blurRad="76200" dist="25400" dir="5400000">
              <a:srgbClr val="1A1530">
                <a:alpha val="10000"/>
              </a:srgbClr>
            </a:outerShdw>
          </a:effectLst>
        </p:spPr>
      </p:sp>
      <p:sp>
        <p:nvSpPr>
          <p:cNvPr id="5" name="dot"/>
          <p:cNvSpPr/>
          <p:nvPr/>
        </p:nvSpPr>
        <p:spPr>
          <a:xfrm>
            <a:off x="685800" y="1417320"/>
            <a:ext cx="411480" cy="411480"/>
          </a:xfrm>
          <a:prstGeom prst="ellipse">
            <a:avLst/>
          </a:prstGeom>
          <a:solidFill>
            <a:schemeClr val="accent1"/>
          </a:solidFill>
          <a:ln w="12700">
            <a:solidFill>
              <a:schemeClr val="accent1"/>
            </a:solidFill>
            <a:prstDash val="solid"/>
          </a:ln>
        </p:spPr>
      </p:sp>
      <p:sp>
        <p:nvSpPr>
          <p:cNvPr id="6" name="Text 3"/>
          <p:cNvSpPr txBox="1"/>
          <p:nvPr/>
        </p:nvSpPr>
        <p:spPr>
          <a:xfrm>
            <a:off x="685800" y="1417320"/>
            <a:ext cx="411480" cy="411480"/>
          </a:xfrm>
          <a:prstGeom prst="rect">
            <a:avLst/>
          </a:prstGeom>
          <a:noFill/>
          <a:ln/>
        </p:spPr>
        <p:txBody>
          <a:bodyPr wrap="square" lIns="0" tIns="0" rIns="0" bIns="0" rtlCol="0" anchor="ctr"/>
          <a:lstStyle/>
          <a:p>
            <a:pPr algn="ctr" indent="0" marL="0">
              <a:buNone/>
            </a:pPr>
            <a:r>
              <a:rPr lang="en-US" sz="1300" b="1" dirty="0">
                <a:solidFill>
                  <a:schemeClr val="tx2"/>
                </a:solidFill>
                <a:latin typeface="Arial" pitchFamily="34" charset="0"/>
                <a:ea typeface="Arial" pitchFamily="34" charset="-122"/>
                <a:cs typeface="Arial" pitchFamily="34" charset="-120"/>
              </a:rPr>
              <a:t>1</a:t>
            </a:r>
            <a:endParaRPr lang="en-US" sz="1300" dirty="0"/>
          </a:p>
        </p:txBody>
      </p:sp>
      <p:sp>
        <p:nvSpPr>
          <p:cNvPr id="7" name="Text 4"/>
          <p:cNvSpPr txBox="1"/>
          <p:nvPr/>
        </p:nvSpPr>
        <p:spPr>
          <a:xfrm>
            <a:off x="1280160" y="1389888"/>
            <a:ext cx="3017520" cy="457200"/>
          </a:xfrm>
          <a:prstGeom prst="rect">
            <a:avLst/>
          </a:prstGeom>
          <a:noFill/>
          <a:ln/>
        </p:spPr>
        <p:txBody>
          <a:bodyPr wrap="square" lIns="0" tIns="0" rIns="0" bIns="0" rtlCol="0" anchor="ctr"/>
          <a:lstStyle/>
          <a:p>
            <a:pPr indent="0" marL="0">
              <a:buNone/>
            </a:pPr>
            <a:r>
              <a:rPr lang="en-US" sz="1700" b="1" dirty="0">
                <a:solidFill>
                  <a:schemeClr val="tx2"/>
                </a:solidFill>
                <a:latin typeface="Arial" pitchFamily="34" charset="0"/>
                <a:ea typeface="Arial" pitchFamily="34" charset="-122"/>
                <a:cs typeface="Arial" pitchFamily="34" charset="-120"/>
              </a:rPr>
              <a:t>Measures resolve live</a:t>
            </a:r>
            <a:endParaRPr lang="en-US" sz="1700" dirty="0"/>
          </a:p>
        </p:txBody>
      </p:sp>
      <p:sp>
        <p:nvSpPr>
          <p:cNvPr id="8" name="Text 5"/>
          <p:cNvSpPr txBox="1"/>
          <p:nvPr/>
        </p:nvSpPr>
        <p:spPr>
          <a:xfrm>
            <a:off x="1280160" y="1920240"/>
            <a:ext cx="3017520" cy="59436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Every one, against the real model</a:t>
            </a:r>
            <a:endParaRPr lang="en-US" sz="1500" dirty="0"/>
          </a:p>
        </p:txBody>
      </p:sp>
      <p:sp>
        <p:nvSpPr>
          <p:cNvPr id="9" name="card"/>
          <p:cNvSpPr/>
          <p:nvPr/>
        </p:nvSpPr>
        <p:spPr>
          <a:xfrm>
            <a:off x="4663440" y="1188720"/>
            <a:ext cx="4023360" cy="1417320"/>
          </a:xfrm>
          <a:prstGeom prst="roundRect">
            <a:avLst>
              <a:gd name="adj" fmla="val 6452"/>
            </a:avLst>
          </a:prstGeom>
          <a:solidFill>
            <a:schemeClr val="bg1"/>
          </a:solidFill>
          <a:ln w="9525">
            <a:solidFill>
              <a:srgbClr val="E3E0EE"/>
            </a:solidFill>
            <a:prstDash val="solid"/>
          </a:ln>
          <a:effectLst>
            <a:outerShdw sx="100000" sy="100000" kx="0" ky="0" algn="bl" rotWithShape="0" blurRad="76200" dist="25400" dir="5400000">
              <a:srgbClr val="1A1530">
                <a:alpha val="10000"/>
              </a:srgbClr>
            </a:outerShdw>
          </a:effectLst>
        </p:spPr>
      </p:sp>
      <p:sp>
        <p:nvSpPr>
          <p:cNvPr id="10" name="dot"/>
          <p:cNvSpPr/>
          <p:nvPr/>
        </p:nvSpPr>
        <p:spPr>
          <a:xfrm>
            <a:off x="4892040" y="1417320"/>
            <a:ext cx="411480" cy="411480"/>
          </a:xfrm>
          <a:prstGeom prst="ellipse">
            <a:avLst/>
          </a:prstGeom>
          <a:solidFill>
            <a:schemeClr val="accent1"/>
          </a:solidFill>
          <a:ln w="12700">
            <a:solidFill>
              <a:schemeClr val="accent1"/>
            </a:solidFill>
            <a:prstDash val="solid"/>
          </a:ln>
        </p:spPr>
      </p:sp>
      <p:sp>
        <p:nvSpPr>
          <p:cNvPr id="11" name="Text 8"/>
          <p:cNvSpPr txBox="1"/>
          <p:nvPr/>
        </p:nvSpPr>
        <p:spPr>
          <a:xfrm>
            <a:off x="4892040" y="1417320"/>
            <a:ext cx="411480" cy="411480"/>
          </a:xfrm>
          <a:prstGeom prst="rect">
            <a:avLst/>
          </a:prstGeom>
          <a:noFill/>
          <a:ln/>
        </p:spPr>
        <p:txBody>
          <a:bodyPr wrap="square" lIns="0" tIns="0" rIns="0" bIns="0" rtlCol="0" anchor="ctr"/>
          <a:lstStyle/>
          <a:p>
            <a:pPr algn="ctr" indent="0" marL="0">
              <a:buNone/>
            </a:pPr>
            <a:r>
              <a:rPr lang="en-US" sz="1300" b="1" dirty="0">
                <a:solidFill>
                  <a:schemeClr val="tx2"/>
                </a:solidFill>
                <a:latin typeface="Arial" pitchFamily="34" charset="0"/>
                <a:ea typeface="Arial" pitchFamily="34" charset="-122"/>
                <a:cs typeface="Arial" pitchFamily="34" charset="-120"/>
              </a:rPr>
              <a:t>2</a:t>
            </a:r>
            <a:endParaRPr lang="en-US" sz="1300" dirty="0"/>
          </a:p>
        </p:txBody>
      </p:sp>
      <p:sp>
        <p:nvSpPr>
          <p:cNvPr id="12" name="Text 9"/>
          <p:cNvSpPr txBox="1"/>
          <p:nvPr/>
        </p:nvSpPr>
        <p:spPr>
          <a:xfrm>
            <a:off x="5486400" y="1389888"/>
            <a:ext cx="3017520" cy="457200"/>
          </a:xfrm>
          <a:prstGeom prst="rect">
            <a:avLst/>
          </a:prstGeom>
          <a:noFill/>
          <a:ln/>
        </p:spPr>
        <p:txBody>
          <a:bodyPr wrap="square" lIns="0" tIns="0" rIns="0" bIns="0" rtlCol="0" anchor="ctr"/>
          <a:lstStyle/>
          <a:p>
            <a:pPr indent="0" marL="0">
              <a:buNone/>
            </a:pPr>
            <a:r>
              <a:rPr lang="en-US" sz="1700" b="1" dirty="0">
                <a:solidFill>
                  <a:schemeClr val="tx2"/>
                </a:solidFill>
                <a:latin typeface="Arial" pitchFamily="34" charset="0"/>
                <a:ea typeface="Arial" pitchFamily="34" charset="-122"/>
                <a:cs typeface="Arial" pitchFamily="34" charset="-120"/>
              </a:rPr>
              <a:t>The model has what was asked</a:t>
            </a:r>
            <a:endParaRPr lang="en-US" sz="1700" dirty="0"/>
          </a:p>
        </p:txBody>
      </p:sp>
      <p:sp>
        <p:nvSpPr>
          <p:cNvPr id="13" name="Text 10"/>
          <p:cNvSpPr txBox="1"/>
          <p:nvPr/>
        </p:nvSpPr>
        <p:spPr>
          <a:xfrm>
            <a:off x="5486400" y="1920240"/>
            <a:ext cx="3017520" cy="59436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Compare to the request, not to memory</a:t>
            </a:r>
            <a:endParaRPr lang="en-US" sz="1500" dirty="0"/>
          </a:p>
        </p:txBody>
      </p:sp>
      <p:sp>
        <p:nvSpPr>
          <p:cNvPr id="14" name="card"/>
          <p:cNvSpPr/>
          <p:nvPr/>
        </p:nvSpPr>
        <p:spPr>
          <a:xfrm>
            <a:off x="457200" y="2743200"/>
            <a:ext cx="4023360" cy="1417320"/>
          </a:xfrm>
          <a:prstGeom prst="roundRect">
            <a:avLst>
              <a:gd name="adj" fmla="val 6452"/>
            </a:avLst>
          </a:prstGeom>
          <a:solidFill>
            <a:schemeClr val="bg1"/>
          </a:solidFill>
          <a:ln w="9525">
            <a:solidFill>
              <a:srgbClr val="E3E0EE"/>
            </a:solidFill>
            <a:prstDash val="solid"/>
          </a:ln>
          <a:effectLst>
            <a:outerShdw sx="100000" sy="100000" kx="0" ky="0" algn="bl" rotWithShape="0" blurRad="76200" dist="25400" dir="5400000">
              <a:srgbClr val="1A1530">
                <a:alpha val="10000"/>
              </a:srgbClr>
            </a:outerShdw>
          </a:effectLst>
        </p:spPr>
      </p:sp>
      <p:sp>
        <p:nvSpPr>
          <p:cNvPr id="15" name="dot"/>
          <p:cNvSpPr/>
          <p:nvPr/>
        </p:nvSpPr>
        <p:spPr>
          <a:xfrm>
            <a:off x="685800" y="2971800"/>
            <a:ext cx="411480" cy="411480"/>
          </a:xfrm>
          <a:prstGeom prst="ellipse">
            <a:avLst/>
          </a:prstGeom>
          <a:solidFill>
            <a:schemeClr val="accent1"/>
          </a:solidFill>
          <a:ln w="12700">
            <a:solidFill>
              <a:schemeClr val="accent1"/>
            </a:solidFill>
            <a:prstDash val="solid"/>
          </a:ln>
        </p:spPr>
      </p:sp>
      <p:sp>
        <p:nvSpPr>
          <p:cNvPr id="16" name="Text 13"/>
          <p:cNvSpPr txBox="1"/>
          <p:nvPr/>
        </p:nvSpPr>
        <p:spPr>
          <a:xfrm>
            <a:off x="685800" y="2971800"/>
            <a:ext cx="411480" cy="411480"/>
          </a:xfrm>
          <a:prstGeom prst="rect">
            <a:avLst/>
          </a:prstGeom>
          <a:noFill/>
          <a:ln/>
        </p:spPr>
        <p:txBody>
          <a:bodyPr wrap="square" lIns="0" tIns="0" rIns="0" bIns="0" rtlCol="0" anchor="ctr"/>
          <a:lstStyle/>
          <a:p>
            <a:pPr algn="ctr" indent="0" marL="0">
              <a:buNone/>
            </a:pPr>
            <a:r>
              <a:rPr lang="en-US" sz="1300" b="1" dirty="0">
                <a:solidFill>
                  <a:schemeClr val="tx2"/>
                </a:solidFill>
                <a:latin typeface="Arial" pitchFamily="34" charset="0"/>
                <a:ea typeface="Arial" pitchFamily="34" charset="-122"/>
                <a:cs typeface="Arial" pitchFamily="34" charset="-120"/>
              </a:rPr>
              <a:t>3</a:t>
            </a:r>
            <a:endParaRPr lang="en-US" sz="1300" dirty="0"/>
          </a:p>
        </p:txBody>
      </p:sp>
      <p:sp>
        <p:nvSpPr>
          <p:cNvPr id="17" name="Text 14"/>
          <p:cNvSpPr txBox="1"/>
          <p:nvPr/>
        </p:nvSpPr>
        <p:spPr>
          <a:xfrm>
            <a:off x="1280160" y="2944368"/>
            <a:ext cx="3017520" cy="457200"/>
          </a:xfrm>
          <a:prstGeom prst="rect">
            <a:avLst/>
          </a:prstGeom>
          <a:noFill/>
          <a:ln/>
        </p:spPr>
        <p:txBody>
          <a:bodyPr wrap="square" lIns="0" tIns="0" rIns="0" bIns="0" rtlCol="0" anchor="ctr"/>
          <a:lstStyle/>
          <a:p>
            <a:pPr indent="0" marL="0">
              <a:buNone/>
            </a:pPr>
            <a:r>
              <a:rPr lang="en-US" sz="1700" b="1" dirty="0">
                <a:solidFill>
                  <a:schemeClr val="tx2"/>
                </a:solidFill>
                <a:latin typeface="Arial" pitchFamily="34" charset="0"/>
                <a:ea typeface="Arial" pitchFamily="34" charset="-122"/>
                <a:cs typeface="Arial" pitchFamily="34" charset="-120"/>
              </a:rPr>
              <a:t>It survives a refresh</a:t>
            </a:r>
            <a:endParaRPr lang="en-US" sz="1700" dirty="0"/>
          </a:p>
        </p:txBody>
      </p:sp>
      <p:sp>
        <p:nvSpPr>
          <p:cNvPr id="18" name="Text 15"/>
          <p:cNvSpPr txBox="1"/>
          <p:nvPr/>
        </p:nvSpPr>
        <p:spPr>
          <a:xfrm>
            <a:off x="1280160" y="3474720"/>
            <a:ext cx="3017520" cy="59436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Colours, sorts and filters on new data</a:t>
            </a:r>
            <a:endParaRPr lang="en-US" sz="1500" dirty="0"/>
          </a:p>
        </p:txBody>
      </p:sp>
      <p:sp>
        <p:nvSpPr>
          <p:cNvPr id="19" name="card"/>
          <p:cNvSpPr/>
          <p:nvPr/>
        </p:nvSpPr>
        <p:spPr>
          <a:xfrm>
            <a:off x="4663440" y="2743200"/>
            <a:ext cx="4023360" cy="1417320"/>
          </a:xfrm>
          <a:prstGeom prst="roundRect">
            <a:avLst>
              <a:gd name="adj" fmla="val 6452"/>
            </a:avLst>
          </a:prstGeom>
          <a:solidFill>
            <a:schemeClr val="bg1"/>
          </a:solidFill>
          <a:ln w="9525">
            <a:solidFill>
              <a:srgbClr val="E3E0EE"/>
            </a:solidFill>
            <a:prstDash val="solid"/>
          </a:ln>
          <a:effectLst>
            <a:outerShdw sx="100000" sy="100000" kx="0" ky="0" algn="bl" rotWithShape="0" blurRad="76200" dist="25400" dir="5400000">
              <a:srgbClr val="1A1530">
                <a:alpha val="10000"/>
              </a:srgbClr>
            </a:outerShdw>
          </a:effectLst>
        </p:spPr>
      </p:sp>
      <p:sp>
        <p:nvSpPr>
          <p:cNvPr id="20" name="dot"/>
          <p:cNvSpPr/>
          <p:nvPr/>
        </p:nvSpPr>
        <p:spPr>
          <a:xfrm>
            <a:off x="4892040" y="2971800"/>
            <a:ext cx="411480" cy="411480"/>
          </a:xfrm>
          <a:prstGeom prst="ellipse">
            <a:avLst/>
          </a:prstGeom>
          <a:solidFill>
            <a:schemeClr val="accent5"/>
          </a:solidFill>
          <a:ln w="12700">
            <a:solidFill>
              <a:schemeClr val="accent5"/>
            </a:solidFill>
            <a:prstDash val="solid"/>
          </a:ln>
        </p:spPr>
      </p:sp>
      <p:sp>
        <p:nvSpPr>
          <p:cNvPr id="21" name="Text 18"/>
          <p:cNvSpPr txBox="1"/>
          <p:nvPr/>
        </p:nvSpPr>
        <p:spPr>
          <a:xfrm>
            <a:off x="4892040" y="2971800"/>
            <a:ext cx="411480" cy="411480"/>
          </a:xfrm>
          <a:prstGeom prst="rect">
            <a:avLst/>
          </a:prstGeom>
          <a:noFill/>
          <a:ln/>
        </p:spPr>
        <p:txBody>
          <a:bodyPr wrap="square" lIns="0" tIns="0" rIns="0" bIns="0" rtlCol="0" anchor="ctr"/>
          <a:lstStyle/>
          <a:p>
            <a:pPr algn="ctr" indent="0" marL="0">
              <a:buNone/>
            </a:pPr>
            <a:r>
              <a:rPr lang="en-US" sz="1300" b="1" dirty="0">
                <a:solidFill>
                  <a:schemeClr val="bg1"/>
                </a:solidFill>
                <a:latin typeface="Arial" pitchFamily="34" charset="0"/>
                <a:ea typeface="Arial" pitchFamily="34" charset="-122"/>
                <a:cs typeface="Arial" pitchFamily="34" charset="-120"/>
              </a:rPr>
              <a:t>4</a:t>
            </a:r>
            <a:endParaRPr lang="en-US" sz="1300" dirty="0"/>
          </a:p>
        </p:txBody>
      </p:sp>
      <p:sp>
        <p:nvSpPr>
          <p:cNvPr id="22" name="Text 19"/>
          <p:cNvSpPr txBox="1"/>
          <p:nvPr/>
        </p:nvSpPr>
        <p:spPr>
          <a:xfrm>
            <a:off x="5486400" y="2944368"/>
            <a:ext cx="3017520" cy="457200"/>
          </a:xfrm>
          <a:prstGeom prst="rect">
            <a:avLst/>
          </a:prstGeom>
          <a:noFill/>
          <a:ln/>
        </p:spPr>
        <p:txBody>
          <a:bodyPr wrap="square" lIns="0" tIns="0" rIns="0" bIns="0" rtlCol="0" anchor="ctr"/>
          <a:lstStyle/>
          <a:p>
            <a:pPr indent="0" marL="0">
              <a:buNone/>
            </a:pPr>
            <a:r>
              <a:rPr lang="en-US" sz="1700" b="1" dirty="0">
                <a:solidFill>
                  <a:schemeClr val="tx2"/>
                </a:solidFill>
                <a:latin typeface="Arial" pitchFamily="34" charset="0"/>
                <a:ea typeface="Arial" pitchFamily="34" charset="-122"/>
                <a:cs typeface="Arial" pitchFamily="34" charset="-120"/>
              </a:rPr>
              <a:t>It works when driven</a:t>
            </a:r>
            <a:endParaRPr lang="en-US" sz="1700" dirty="0"/>
          </a:p>
        </p:txBody>
      </p:sp>
      <p:sp>
        <p:nvSpPr>
          <p:cNvPr id="23" name="Text 20"/>
          <p:cNvSpPr txBox="1"/>
          <p:nvPr/>
        </p:nvSpPr>
        <p:spPr>
          <a:xfrm>
            <a:off x="5486400" y="3474720"/>
            <a:ext cx="3017520" cy="59436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Click the slicer. Hover the tooltip.</a:t>
            </a:r>
            <a:endParaRPr lang="en-US" sz="15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888888"/>
                </a:solidFill>
                <a:latin typeface="Calibri"/>
                <a:ea typeface="Calibri"/>
                <a:cs typeface="Calibri"/>
              </a:defRPr>
            </a:lvl1pPr>
          </a:lstStyle>
          <a:p>
            <a:pPr algn="l"/>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000" b="1" dirty="0">
                <a:solidFill>
                  <a:schemeClr val="tx2"/>
                </a:solidFill>
                <a:latin typeface="Arial" pitchFamily="34" charset="0"/>
                <a:ea typeface="Arial" pitchFamily="34" charset="-122"/>
                <a:cs typeface="Arial" pitchFamily="34" charset="-120"/>
              </a:rPr>
              <a:t>Where you stay in the loop</a:t>
            </a:r>
            <a:endParaRPr lang="en-US" sz="3000" dirty="0"/>
          </a:p>
        </p:txBody>
      </p:sp>
      <p:sp>
        <p:nvSpPr>
          <p:cNvPr id="4" name="card"/>
          <p:cNvSpPr/>
          <p:nvPr/>
        </p:nvSpPr>
        <p:spPr>
          <a:xfrm>
            <a:off x="457200" y="1280160"/>
            <a:ext cx="2651760" cy="2468880"/>
          </a:xfrm>
          <a:prstGeom prst="roundRect">
            <a:avLst>
              <a:gd name="adj" fmla="val 3704"/>
            </a:avLst>
          </a:prstGeom>
          <a:solidFill>
            <a:schemeClr val="bg1"/>
          </a:solidFill>
          <a:ln w="9525">
            <a:solidFill>
              <a:srgbClr val="E3E0EE"/>
            </a:solidFill>
            <a:prstDash val="solid"/>
          </a:ln>
          <a:effectLst>
            <a:outerShdw sx="100000" sy="100000" kx="0" ky="0" algn="bl" rotWithShape="0" blurRad="76200" dist="25400" dir="5400000">
              <a:srgbClr val="1A1530">
                <a:alpha val="10000"/>
              </a:srgbClr>
            </a:outerShdw>
          </a:effectLst>
        </p:spPr>
      </p:sp>
      <p:sp>
        <p:nvSpPr>
          <p:cNvPr id="5" name="dot"/>
          <p:cNvSpPr/>
          <p:nvPr/>
        </p:nvSpPr>
        <p:spPr>
          <a:xfrm>
            <a:off x="685800" y="1508760"/>
            <a:ext cx="457200" cy="457200"/>
          </a:xfrm>
          <a:prstGeom prst="ellipse">
            <a:avLst/>
          </a:prstGeom>
          <a:solidFill>
            <a:schemeClr val="accent2"/>
          </a:solidFill>
          <a:ln w="12700">
            <a:solidFill>
              <a:schemeClr val="accent2"/>
            </a:solidFill>
            <a:prstDash val="solid"/>
          </a:ln>
        </p:spPr>
      </p:sp>
      <p:sp>
        <p:nvSpPr>
          <p:cNvPr id="6" name="Text 3"/>
          <p:cNvSpPr txBox="1"/>
          <p:nvPr/>
        </p:nvSpPr>
        <p:spPr>
          <a:xfrm>
            <a:off x="685800" y="150876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latin typeface="Arial" pitchFamily="34" charset="0"/>
                <a:ea typeface="Arial" pitchFamily="34" charset="-122"/>
                <a:cs typeface="Arial" pitchFamily="34" charset="-120"/>
              </a:rPr>
              <a:t>1</a:t>
            </a:r>
            <a:endParaRPr lang="en-US" sz="1400" dirty="0"/>
          </a:p>
        </p:txBody>
      </p:sp>
      <p:sp>
        <p:nvSpPr>
          <p:cNvPr id="7" name="Text 4"/>
          <p:cNvSpPr txBox="1"/>
          <p:nvPr/>
        </p:nvSpPr>
        <p:spPr>
          <a:xfrm>
            <a:off x="685800" y="2148840"/>
            <a:ext cx="2194560" cy="640080"/>
          </a:xfrm>
          <a:prstGeom prst="rect">
            <a:avLst/>
          </a:prstGeom>
          <a:noFill/>
          <a:ln/>
        </p:spPr>
        <p:txBody>
          <a:bodyPr wrap="square" lIns="0" tIns="0" rIns="0" bIns="0" rtlCol="0" anchor="t"/>
          <a:lstStyle/>
          <a:p>
            <a:pPr indent="0" marL="0">
              <a:buNone/>
            </a:pPr>
            <a:r>
              <a:rPr lang="en-US" sz="1800" b="1" dirty="0">
                <a:solidFill>
                  <a:schemeClr val="tx2"/>
                </a:solidFill>
                <a:latin typeface="Arial" pitchFamily="34" charset="0"/>
                <a:ea typeface="Arial" pitchFamily="34" charset="-122"/>
                <a:cs typeface="Arial" pitchFamily="34" charset="-120"/>
              </a:rPr>
              <a:t>Approve the design</a:t>
            </a:r>
            <a:endParaRPr lang="en-US" sz="1800" dirty="0"/>
          </a:p>
        </p:txBody>
      </p:sp>
      <p:sp>
        <p:nvSpPr>
          <p:cNvPr id="8" name="Text 5"/>
          <p:cNvSpPr txBox="1"/>
          <p:nvPr/>
        </p:nvSpPr>
        <p:spPr>
          <a:xfrm>
            <a:off x="685800" y="2834640"/>
            <a:ext cx="2194560" cy="82296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Sign the mockup before anything is built.</a:t>
            </a:r>
            <a:endParaRPr lang="en-US" sz="1500" dirty="0"/>
          </a:p>
        </p:txBody>
      </p:sp>
      <p:sp>
        <p:nvSpPr>
          <p:cNvPr id="9" name="card"/>
          <p:cNvSpPr/>
          <p:nvPr/>
        </p:nvSpPr>
        <p:spPr>
          <a:xfrm>
            <a:off x="3246120" y="1280160"/>
            <a:ext cx="2651760" cy="2468880"/>
          </a:xfrm>
          <a:prstGeom prst="roundRect">
            <a:avLst>
              <a:gd name="adj" fmla="val 3704"/>
            </a:avLst>
          </a:prstGeom>
          <a:solidFill>
            <a:schemeClr val="bg1"/>
          </a:solidFill>
          <a:ln w="9525">
            <a:solidFill>
              <a:srgbClr val="E3E0EE"/>
            </a:solidFill>
            <a:prstDash val="solid"/>
          </a:ln>
          <a:effectLst>
            <a:outerShdw sx="100000" sy="100000" kx="0" ky="0" algn="bl" rotWithShape="0" blurRad="76200" dist="25400" dir="5400000">
              <a:srgbClr val="1A1530">
                <a:alpha val="10000"/>
              </a:srgbClr>
            </a:outerShdw>
          </a:effectLst>
        </p:spPr>
      </p:sp>
      <p:sp>
        <p:nvSpPr>
          <p:cNvPr id="10" name="dot"/>
          <p:cNvSpPr/>
          <p:nvPr/>
        </p:nvSpPr>
        <p:spPr>
          <a:xfrm>
            <a:off x="3474720" y="1508760"/>
            <a:ext cx="457200" cy="457200"/>
          </a:xfrm>
          <a:prstGeom prst="ellipse">
            <a:avLst/>
          </a:prstGeom>
          <a:solidFill>
            <a:schemeClr val="accent2"/>
          </a:solidFill>
          <a:ln w="12700">
            <a:solidFill>
              <a:schemeClr val="accent2"/>
            </a:solidFill>
            <a:prstDash val="solid"/>
          </a:ln>
        </p:spPr>
      </p:sp>
      <p:sp>
        <p:nvSpPr>
          <p:cNvPr id="11" name="Text 8"/>
          <p:cNvSpPr txBox="1"/>
          <p:nvPr/>
        </p:nvSpPr>
        <p:spPr>
          <a:xfrm>
            <a:off x="3474720" y="150876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latin typeface="Arial" pitchFamily="34" charset="0"/>
                <a:ea typeface="Arial" pitchFamily="34" charset="-122"/>
                <a:cs typeface="Arial" pitchFamily="34" charset="-120"/>
              </a:rPr>
              <a:t>2</a:t>
            </a:r>
            <a:endParaRPr lang="en-US" sz="1400" dirty="0"/>
          </a:p>
        </p:txBody>
      </p:sp>
      <p:sp>
        <p:nvSpPr>
          <p:cNvPr id="12" name="Text 9"/>
          <p:cNvSpPr txBox="1"/>
          <p:nvPr/>
        </p:nvSpPr>
        <p:spPr>
          <a:xfrm>
            <a:off x="3474720" y="2148840"/>
            <a:ext cx="2194560" cy="640080"/>
          </a:xfrm>
          <a:prstGeom prst="rect">
            <a:avLst/>
          </a:prstGeom>
          <a:noFill/>
          <a:ln/>
        </p:spPr>
        <p:txBody>
          <a:bodyPr wrap="square" lIns="0" tIns="0" rIns="0" bIns="0" rtlCol="0" anchor="t"/>
          <a:lstStyle/>
          <a:p>
            <a:pPr indent="0" marL="0">
              <a:buNone/>
            </a:pPr>
            <a:r>
              <a:rPr lang="en-US" sz="1800" b="1" dirty="0">
                <a:solidFill>
                  <a:schemeClr val="tx2"/>
                </a:solidFill>
                <a:latin typeface="Arial" pitchFamily="34" charset="0"/>
                <a:ea typeface="Arial" pitchFamily="34" charset="-122"/>
                <a:cs typeface="Arial" pitchFamily="34" charset="-120"/>
              </a:rPr>
              <a:t>Approve model changes</a:t>
            </a:r>
            <a:endParaRPr lang="en-US" sz="1800" dirty="0"/>
          </a:p>
        </p:txBody>
      </p:sp>
      <p:sp>
        <p:nvSpPr>
          <p:cNvPr id="13" name="Text 10"/>
          <p:cNvSpPr txBox="1"/>
          <p:nvPr/>
        </p:nvSpPr>
        <p:spPr>
          <a:xfrm>
            <a:off x="3474720" y="2834640"/>
            <a:ext cx="2194560" cy="82296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The agent proposes joins and measures. You decide.</a:t>
            </a:r>
            <a:endParaRPr lang="en-US" sz="1500" dirty="0"/>
          </a:p>
        </p:txBody>
      </p:sp>
      <p:sp>
        <p:nvSpPr>
          <p:cNvPr id="14" name="card"/>
          <p:cNvSpPr/>
          <p:nvPr/>
        </p:nvSpPr>
        <p:spPr>
          <a:xfrm>
            <a:off x="6035040" y="1280160"/>
            <a:ext cx="2651760" cy="2468880"/>
          </a:xfrm>
          <a:prstGeom prst="roundRect">
            <a:avLst>
              <a:gd name="adj" fmla="val 3704"/>
            </a:avLst>
          </a:prstGeom>
          <a:solidFill>
            <a:schemeClr val="bg1"/>
          </a:solidFill>
          <a:ln w="9525">
            <a:solidFill>
              <a:srgbClr val="E3E0EE"/>
            </a:solidFill>
            <a:prstDash val="solid"/>
          </a:ln>
          <a:effectLst>
            <a:outerShdw sx="100000" sy="100000" kx="0" ky="0" algn="bl" rotWithShape="0" blurRad="76200" dist="25400" dir="5400000">
              <a:srgbClr val="1A1530">
                <a:alpha val="10000"/>
              </a:srgbClr>
            </a:outerShdw>
          </a:effectLst>
        </p:spPr>
      </p:sp>
      <p:sp>
        <p:nvSpPr>
          <p:cNvPr id="15" name="dot"/>
          <p:cNvSpPr/>
          <p:nvPr/>
        </p:nvSpPr>
        <p:spPr>
          <a:xfrm>
            <a:off x="6263640" y="1508760"/>
            <a:ext cx="457200" cy="457200"/>
          </a:xfrm>
          <a:prstGeom prst="ellipse">
            <a:avLst/>
          </a:prstGeom>
          <a:solidFill>
            <a:schemeClr val="accent2"/>
          </a:solidFill>
          <a:ln w="12700">
            <a:solidFill>
              <a:schemeClr val="accent2"/>
            </a:solidFill>
            <a:prstDash val="solid"/>
          </a:ln>
        </p:spPr>
      </p:sp>
      <p:sp>
        <p:nvSpPr>
          <p:cNvPr id="16" name="Text 13"/>
          <p:cNvSpPr txBox="1"/>
          <p:nvPr/>
        </p:nvSpPr>
        <p:spPr>
          <a:xfrm>
            <a:off x="6263640" y="150876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latin typeface="Arial" pitchFamily="34" charset="0"/>
                <a:ea typeface="Arial" pitchFamily="34" charset="-122"/>
                <a:cs typeface="Arial" pitchFamily="34" charset="-120"/>
              </a:rPr>
              <a:t>3</a:t>
            </a:r>
            <a:endParaRPr lang="en-US" sz="1400" dirty="0"/>
          </a:p>
        </p:txBody>
      </p:sp>
      <p:sp>
        <p:nvSpPr>
          <p:cNvPr id="17" name="Text 14"/>
          <p:cNvSpPr txBox="1"/>
          <p:nvPr/>
        </p:nvSpPr>
        <p:spPr>
          <a:xfrm>
            <a:off x="6263640" y="2148840"/>
            <a:ext cx="2194560" cy="640080"/>
          </a:xfrm>
          <a:prstGeom prst="rect">
            <a:avLst/>
          </a:prstGeom>
          <a:noFill/>
          <a:ln/>
        </p:spPr>
        <p:txBody>
          <a:bodyPr wrap="square" lIns="0" tIns="0" rIns="0" bIns="0" rtlCol="0" anchor="t"/>
          <a:lstStyle/>
          <a:p>
            <a:pPr indent="0" marL="0">
              <a:buNone/>
            </a:pPr>
            <a:r>
              <a:rPr lang="en-US" sz="1800" b="1" dirty="0">
                <a:solidFill>
                  <a:schemeClr val="tx2"/>
                </a:solidFill>
                <a:latin typeface="Arial" pitchFamily="34" charset="0"/>
                <a:ea typeface="Arial" pitchFamily="34" charset="-122"/>
                <a:cs typeface="Arial" pitchFamily="34" charset="-120"/>
              </a:rPr>
              <a:t>Drive it in the Service</a:t>
            </a:r>
            <a:endParaRPr lang="en-US" sz="1800" dirty="0"/>
          </a:p>
        </p:txBody>
      </p:sp>
      <p:sp>
        <p:nvSpPr>
          <p:cNvPr id="18" name="Text 15"/>
          <p:cNvSpPr txBox="1"/>
          <p:nvPr/>
        </p:nvSpPr>
        <p:spPr>
          <a:xfrm>
            <a:off x="6263640" y="2834640"/>
            <a:ext cx="2194560" cy="82296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Interaction testing is still a human job.</a:t>
            </a:r>
            <a:endParaRPr lang="en-US" sz="1500" dirty="0"/>
          </a:p>
        </p:txBody>
      </p:sp>
      <p:sp>
        <p:nvSpPr>
          <p:cNvPr id="19" name="Text 16"/>
          <p:cNvSpPr txBox="1"/>
          <p:nvPr/>
        </p:nvSpPr>
        <p:spPr>
          <a:xfrm>
            <a:off x="457200" y="3931920"/>
            <a:ext cx="8229600" cy="457200"/>
          </a:xfrm>
          <a:prstGeom prst="rect">
            <a:avLst/>
          </a:prstGeom>
          <a:noFill/>
          <a:ln/>
        </p:spPr>
        <p:txBody>
          <a:bodyPr wrap="square" lIns="0" tIns="0" rIns="0" bIns="0" rtlCol="0" anchor="t"/>
          <a:lstStyle/>
          <a:p>
            <a:pPr indent="0" marL="0">
              <a:buNone/>
            </a:pPr>
            <a:r>
              <a:rPr lang="en-US" sz="1800" b="1" dirty="0">
                <a:solidFill>
                  <a:schemeClr val="accent2"/>
                </a:solidFill>
                <a:latin typeface="Calibri" pitchFamily="34" charset="0"/>
                <a:ea typeface="Calibri" pitchFamily="34" charset="-122"/>
                <a:cs typeface="Calibri" pitchFamily="34" charset="-120"/>
              </a:rPr>
              <a:t>A tool that says it shipped with caveats beats one that says it is done.</a:t>
            </a:r>
            <a:endParaRPr lang="en-US" sz="18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888888"/>
                </a:solidFill>
                <a:latin typeface="Calibri"/>
                <a:ea typeface="Calibri"/>
                <a:cs typeface="Calibri"/>
              </a:defRPr>
            </a:lvl1pPr>
          </a:lstStyle>
          <a:p>
            <a:pPr algn="l"/>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txBox="1"/>
          <p:nvPr/>
        </p:nvSpPr>
        <p:spPr>
          <a:xfrm>
            <a:off x="548640" y="822960"/>
            <a:ext cx="7680960" cy="548640"/>
          </a:xfrm>
          <a:prstGeom prst="rect">
            <a:avLst/>
          </a:prstGeom>
          <a:noFill/>
          <a:ln/>
        </p:spPr>
        <p:txBody>
          <a:bodyPr wrap="square" lIns="0" tIns="0" rIns="0" bIns="0" rtlCol="0" anchor="t"/>
          <a:lstStyle/>
          <a:p>
            <a:pPr indent="0" marL="0">
              <a:buNone/>
            </a:pPr>
            <a:r>
              <a:rPr lang="en-US" sz="2000" b="1" dirty="0">
                <a:solidFill>
                  <a:schemeClr val="accent1"/>
                </a:solidFill>
                <a:latin typeface="Arial" pitchFamily="34" charset="0"/>
                <a:ea typeface="Arial" pitchFamily="34" charset="-122"/>
                <a:cs typeface="Arial" pitchFamily="34" charset="-120"/>
              </a:rPr>
              <a:t>Take one thing home</a:t>
            </a:r>
            <a:endParaRPr lang="en-US" sz="2000" dirty="0"/>
          </a:p>
        </p:txBody>
      </p:sp>
      <p:sp>
        <p:nvSpPr>
          <p:cNvPr id="3" name="Text 1"/>
          <p:cNvSpPr txBox="1"/>
          <p:nvPr/>
        </p:nvSpPr>
        <p:spPr>
          <a:xfrm>
            <a:off x="548640" y="1463040"/>
            <a:ext cx="7498080" cy="1554480"/>
          </a:xfrm>
          <a:prstGeom prst="rect">
            <a:avLst/>
          </a:prstGeom>
          <a:noFill/>
          <a:ln/>
        </p:spPr>
        <p:txBody>
          <a:bodyPr wrap="square" lIns="0" tIns="0" rIns="0" bIns="0" rtlCol="0" anchor="t"/>
          <a:lstStyle/>
          <a:p>
            <a:pPr indent="0" marL="0">
              <a:buNone/>
            </a:pPr>
            <a:r>
              <a:rPr lang="en-US" sz="3600" b="1" dirty="0">
                <a:solidFill>
                  <a:schemeClr val="bg1"/>
                </a:solidFill>
                <a:latin typeface="Arial" pitchFamily="34" charset="0"/>
                <a:ea typeface="Arial" pitchFamily="34" charset="-122"/>
                <a:cs typeface="Arial" pitchFamily="34" charset="-120"/>
              </a:rPr>
              <a:t>Write down what “good” means for one report. Turn it into one check that fails.</a:t>
            </a:r>
            <a:endParaRPr lang="en-US" sz="3600" dirty="0"/>
          </a:p>
        </p:txBody>
      </p:sp>
      <p:sp>
        <p:nvSpPr>
          <p:cNvPr id="4" name="Text 2"/>
          <p:cNvSpPr txBox="1"/>
          <p:nvPr/>
        </p:nvSpPr>
        <p:spPr>
          <a:xfrm>
            <a:off x="548640" y="3200400"/>
            <a:ext cx="6949440" cy="822960"/>
          </a:xfrm>
          <a:prstGeom prst="rect">
            <a:avLst/>
          </a:prstGeom>
          <a:noFill/>
          <a:ln/>
        </p:spPr>
        <p:txBody>
          <a:bodyPr wrap="square" lIns="0" tIns="0" rIns="0" bIns="0" rtlCol="0" anchor="t"/>
          <a:lstStyle/>
          <a:p>
            <a:pPr indent="0" marL="0">
              <a:buNone/>
            </a:pPr>
            <a:r>
              <a:rPr lang="en-US" sz="1800" dirty="0">
                <a:solidFill>
                  <a:srgbClr val="F0EEF8"/>
                </a:solidFill>
                <a:latin typeface="Calibri" pitchFamily="34" charset="0"/>
                <a:ea typeface="Calibri" pitchFamily="34" charset="-122"/>
                <a:cs typeface="Calibri" pitchFamily="34" charset="-120"/>
              </a:rPr>
              <a:t>Run it over whatever your agent produced. It works with Microsoft's skills as well as it works with mine.</a:t>
            </a:r>
            <a:endParaRPr lang="en-US" sz="1800" dirty="0"/>
          </a:p>
        </p:txBody>
      </p:sp>
      <p:sp>
        <p:nvSpPr>
          <p:cNvPr id="5" name="Text 3"/>
          <p:cNvSpPr txBox="1"/>
          <p:nvPr/>
        </p:nvSpPr>
        <p:spPr>
          <a:xfrm>
            <a:off x="548640" y="4297680"/>
            <a:ext cx="2743200" cy="320040"/>
          </a:xfrm>
          <a:prstGeom prst="rect">
            <a:avLst/>
          </a:prstGeom>
          <a:noFill/>
          <a:ln/>
        </p:spPr>
        <p:txBody>
          <a:bodyPr wrap="square" lIns="0" tIns="0" rIns="0" bIns="0" rtlCol="0" anchor="t"/>
          <a:lstStyle/>
          <a:p>
            <a:pPr indent="0" marL="0">
              <a:buNone/>
            </a:pPr>
            <a:r>
              <a:rPr lang="en-US" sz="1600" b="1" dirty="0">
                <a:solidFill>
                  <a:schemeClr val="accent1"/>
                </a:solidFill>
                <a:latin typeface="Calibri" pitchFamily="34" charset="0"/>
                <a:ea typeface="Calibri" pitchFamily="34" charset="-122"/>
                <a:cs typeface="Calibri" pitchFamily="34" charset="-120"/>
              </a:rPr>
              <a:t>Questions</a:t>
            </a:r>
            <a:endParaRPr lang="en-US" sz="1600" dirty="0"/>
          </a:p>
        </p:txBody>
      </p:sp>
    </p:spTree>
  </p:cSld>
  <p:clrMapOvr>
    <a:masterClrMapping/>
  </p:clrMapOvr>
</p:sld>
</file>

<file path=ppt/theme/theme1.xml><?xml version="1.0" encoding="utf-8"?>
<a:theme xmlns:a="http://schemas.openxmlformats.org/drawingml/2006/main" name="Data Nova">
  <a:themeElements>
    <a:clrScheme name="Data Nova">
      <a:dk1>
        <a:srgbClr val="4A4A4A"/>
      </a:dk1>
      <a:lt1>
        <a:srgbClr val="FFFFFF"/>
      </a:lt1>
      <a:dk2>
        <a:srgbClr val="1A1530"/>
      </a:dk2>
      <a:lt2>
        <a:srgbClr val="F2F2F2"/>
      </a:lt2>
      <a:accent1>
        <a:srgbClr val="20B8A8"/>
      </a:accent1>
      <a:accent2>
        <a:srgbClr val="5C4E8A"/>
      </a:accent2>
      <a:accent3>
        <a:srgbClr val="F7B731"/>
      </a:accent3>
      <a:accent4>
        <a:srgbClr val="2ECC71"/>
      </a:accent4>
      <a:accent5>
        <a:srgbClr val="E74C3C"/>
      </a:accent5>
      <a:accent6>
        <a:srgbClr val="C9BFBA"/>
      </a:accent6>
      <a:hlink>
        <a:srgbClr val="20B8A8"/>
      </a:hlink>
      <a:folHlink>
        <a:srgbClr val="5C4E8A"/>
      </a:folHlink>
    </a:clrScheme>
    <a:fontScheme name="Data Nova">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Data Nova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Agentic BI Development</dc:title>
  <dc:subject>PptxGenJS Presentation</dc:subject>
  <dc:creator>Prathy Kamasani</dc:creator>
  <cp:lastModifiedBy>Prathy Kamasani</cp:lastModifiedBy>
  <cp:revision>1</cp:revision>
  <dcterms:created xsi:type="dcterms:W3CDTF">2026-10-08T06:50:04Z</dcterms:created>
  <dcterms:modified xsi:type="dcterms:W3CDTF">2026-10-08T06:50:04Z</dcterms:modified>
</cp:coreProperties>
</file>